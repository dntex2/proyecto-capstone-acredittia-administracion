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aleway Bold" charset="1" panose="00000000000000000000"/>
      <p:regular r:id="rId21"/>
    </p:embeddedFont>
    <p:embeddedFont>
      <p:font typeface="Raleway" charset="1" panose="00000000000000000000"/>
      <p:regular r:id="rId22"/>
    </p:embeddedFont>
    <p:embeddedFont>
      <p:font typeface="Open Sans" charset="1" panose="020B0606030504020204"/>
      <p:regular r:id="rId23"/>
    </p:embeddedFont>
    <p:embeddedFont>
      <p:font typeface="League Spartan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49164" cy="10287000"/>
          </a:xfrm>
          <a:custGeom>
            <a:avLst/>
            <a:gdLst/>
            <a:ahLst/>
            <a:cxnLst/>
            <a:rect r="r" b="b" t="t" l="l"/>
            <a:pathLst>
              <a:path h="10287000" w="18349164">
                <a:moveTo>
                  <a:pt x="0" y="0"/>
                </a:moveTo>
                <a:lnTo>
                  <a:pt x="18349164" y="0"/>
                </a:lnTo>
                <a:lnTo>
                  <a:pt x="183491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87335" y="2800269"/>
            <a:ext cx="11713329" cy="223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09"/>
              </a:lnSpc>
            </a:pPr>
            <a:r>
              <a:rPr lang="en-US" b="true" sz="1564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ACREDITTIA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3673" y="2072697"/>
            <a:ext cx="3680655" cy="74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6"/>
              </a:lnSpc>
            </a:pPr>
            <a:r>
              <a:rPr lang="en-US" sz="5214" spc="22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Propuesta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999" y="8094345"/>
            <a:ext cx="3396778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Integrantes: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4999" y="8385810"/>
            <a:ext cx="3396778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David Martinez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Jean Arriagada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Oscar Bustamante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46692" y="9229725"/>
            <a:ext cx="2172601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Seccion: 300D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3324" y="4979591"/>
            <a:ext cx="4581353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Administracion del Negocio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0" r="0" b="-52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222" y="-33253"/>
            <a:ext cx="18368222" cy="10410657"/>
            <a:chOff x="0" y="0"/>
            <a:chExt cx="5026941" cy="28491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26941" cy="2849147"/>
            </a:xfrm>
            <a:custGeom>
              <a:avLst/>
              <a:gdLst/>
              <a:ahLst/>
              <a:cxnLst/>
              <a:rect r="r" b="b" t="t" l="l"/>
              <a:pathLst>
                <a:path h="2849147" w="5026941">
                  <a:moveTo>
                    <a:pt x="0" y="0"/>
                  </a:moveTo>
                  <a:lnTo>
                    <a:pt x="5026941" y="0"/>
                  </a:lnTo>
                  <a:lnTo>
                    <a:pt x="5026941" y="2849147"/>
                  </a:lnTo>
                  <a:lnTo>
                    <a:pt x="0" y="2849147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26000"/>
                  </a:srgbClr>
                </a:gs>
                <a:gs pos="100000">
                  <a:srgbClr val="CC6DB3">
                    <a:alpha val="26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26941" cy="2896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416535" y="1122861"/>
            <a:ext cx="94549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83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INDICE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03069" y="3375365"/>
            <a:ext cx="6026932" cy="4178298"/>
            <a:chOff x="0" y="0"/>
            <a:chExt cx="8035909" cy="557106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9525"/>
              <a:ext cx="2604682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00" y="1533525"/>
              <a:ext cx="2604682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4303" y="3057525"/>
              <a:ext cx="2604682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4303" y="4581525"/>
              <a:ext cx="2604682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037666" y="174625"/>
              <a:ext cx="4900185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Contexto y Problematica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037666" y="1764239"/>
              <a:ext cx="499824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Descripcion del Proyecto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116569" y="3339039"/>
              <a:ext cx="458966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Perfil de Egreso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116569" y="4596339"/>
              <a:ext cx="4589664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Intereses profesionales + Factivilidad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20943" y="3388064"/>
            <a:ext cx="7301045" cy="4152900"/>
            <a:chOff x="0" y="0"/>
            <a:chExt cx="9734727" cy="553720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9525"/>
              <a:ext cx="1910415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05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533525"/>
              <a:ext cx="1910415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06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3057525"/>
              <a:ext cx="1910415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07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8903" y="4581525"/>
              <a:ext cx="1910415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759"/>
                </a:lnSpc>
              </a:pPr>
              <a:r>
                <a:rPr lang="en-US" sz="4800" spc="36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08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316815" y="187776"/>
              <a:ext cx="731633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Objetivos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316815" y="1764239"/>
              <a:ext cx="731633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Metodologia y Roles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316815" y="3110890"/>
              <a:ext cx="7316334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Plan de Trabajo y Carta Gantt + Evidencias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418393" y="4850790"/>
              <a:ext cx="731633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b="tru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Cierre / Conclusion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815" y="-153584"/>
            <a:ext cx="18428064" cy="10503996"/>
          </a:xfrm>
          <a:custGeom>
            <a:avLst/>
            <a:gdLst/>
            <a:ahLst/>
            <a:cxnLst/>
            <a:rect r="r" b="b" t="t" l="l"/>
            <a:pathLst>
              <a:path h="10503996" w="18428064">
                <a:moveTo>
                  <a:pt x="0" y="0"/>
                </a:moveTo>
                <a:lnTo>
                  <a:pt x="18428064" y="0"/>
                </a:lnTo>
                <a:lnTo>
                  <a:pt x="18428064" y="10503996"/>
                </a:lnTo>
                <a:lnTo>
                  <a:pt x="0" y="10503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-517" r="0" b="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05280" y="4143876"/>
            <a:ext cx="4596064" cy="455737"/>
            <a:chOff x="0" y="0"/>
            <a:chExt cx="6128086" cy="60765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1030311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280657" y="28953"/>
              <a:ext cx="48474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57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SITUACION ACTUAL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35745" y="4542463"/>
            <a:ext cx="13743707" cy="388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</a:p>
          <a:p>
            <a:pPr algn="l">
              <a:lnSpc>
                <a:spcPts val="2818"/>
              </a:lnSpc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Acredittia trabaja c</a:t>
            </a: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 empresas contratistas que deben cumplir distintos requisitos para poder participar en faenas. Actualmente, parte de este proceso se realiza de forma manual, dificultando la gestión y el control de la información.</a:t>
            </a:r>
          </a:p>
          <a:p>
            <a:pPr algn="l">
              <a:lnSpc>
                <a:spcPts val="2818"/>
              </a:lnSpc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Por ello, se busca mejorar la administración de:</a:t>
            </a:r>
          </a:p>
          <a:p>
            <a:pPr algn="l" marL="434591" indent="-217295" lvl="1">
              <a:lnSpc>
                <a:spcPts val="2818"/>
              </a:lnSpc>
              <a:buFont typeface="Arial"/>
              <a:buChar char="•"/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Registro y aprobación de empresas.</a:t>
            </a:r>
          </a:p>
          <a:p>
            <a:pPr algn="l" marL="434591" indent="-217295" lvl="1">
              <a:lnSpc>
                <a:spcPts val="2818"/>
              </a:lnSpc>
              <a:buFont typeface="Arial"/>
              <a:buChar char="•"/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Documentación y requisitos.</a:t>
            </a:r>
          </a:p>
          <a:p>
            <a:pPr algn="l" marL="434591" indent="-217295" lvl="1">
              <a:lnSpc>
                <a:spcPts val="2818"/>
              </a:lnSpc>
              <a:buFont typeface="Arial"/>
              <a:buChar char="•"/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Suscripciones.</a:t>
            </a:r>
          </a:p>
          <a:p>
            <a:pPr algn="l" marL="434591" indent="-217295" lvl="1">
              <a:lnSpc>
                <a:spcPts val="2818"/>
              </a:lnSpc>
              <a:buFont typeface="Arial"/>
              <a:buChar char="•"/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Pagos y facturación.</a:t>
            </a:r>
          </a:p>
          <a:p>
            <a:pPr algn="l" marL="434591" indent="-217295" lvl="1">
              <a:lnSpc>
                <a:spcPts val="2818"/>
              </a:lnSpc>
              <a:spcBef>
                <a:spcPct val="0"/>
              </a:spcBef>
              <a:buFont typeface="Arial"/>
              <a:buChar char="•"/>
            </a:pPr>
            <a:r>
              <a:rPr lang="en-US" sz="201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Información general de las empresas.</a:t>
            </a:r>
          </a:p>
          <a:p>
            <a:pPr algn="l">
              <a:lnSpc>
                <a:spcPts val="2818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180491" y="1145597"/>
            <a:ext cx="11927017" cy="170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1"/>
              </a:lnSpc>
            </a:pPr>
            <a:r>
              <a:rPr lang="en-US" sz="639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Contexto y Problematica en </a:t>
            </a:r>
            <a:r>
              <a:rPr lang="en-US" b="true" sz="63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Acredittia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448"/>
            <a:ext cx="18288000" cy="10424160"/>
          </a:xfrm>
          <a:custGeom>
            <a:avLst/>
            <a:gdLst/>
            <a:ahLst/>
            <a:cxnLst/>
            <a:rect r="r" b="b" t="t" l="l"/>
            <a:pathLst>
              <a:path h="10424160" w="18288000">
                <a:moveTo>
                  <a:pt x="0" y="0"/>
                </a:moveTo>
                <a:lnTo>
                  <a:pt x="18288000" y="0"/>
                </a:lnTo>
                <a:lnTo>
                  <a:pt x="18288000" y="10424160"/>
                </a:lnTo>
                <a:lnTo>
                  <a:pt x="0" y="10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6548" y="4143725"/>
            <a:ext cx="6657993" cy="1508233"/>
            <a:chOff x="0" y="0"/>
            <a:chExt cx="8877323" cy="201097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66088" y="709454"/>
              <a:ext cx="4981573" cy="1301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8"/>
                </a:lnSpc>
                <a:spcBef>
                  <a:spcPct val="0"/>
                </a:spcBef>
              </a:pPr>
              <a:r>
                <a:rPr lang="en-US" sz="1412" spc="3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Modelo ORM en SQLAlchemy sobre el esquema relacional ya definido por el proyecto principal Acredittia, con migraciones en Alembic.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66088" y="28953"/>
              <a:ext cx="73112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57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MODELO DE DATOS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6548" y="6154920"/>
            <a:ext cx="6657993" cy="1260583"/>
            <a:chOff x="0" y="0"/>
            <a:chExt cx="8877323" cy="168077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66088" y="709454"/>
              <a:ext cx="4981573" cy="971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8"/>
                </a:lnSpc>
                <a:spcBef>
                  <a:spcPct val="0"/>
                </a:spcBef>
              </a:pPr>
              <a:r>
                <a:rPr lang="en-US" sz="1412" spc="3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Aprobacion y rechazo de solicitudes, catalogos globales, metricas de cumplimiento e impersonacion auditada.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66088" y="28953"/>
              <a:ext cx="73112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57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MODULO DE ADMINISTRACION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54" y="7918465"/>
            <a:ext cx="6657993" cy="1260583"/>
            <a:chOff x="0" y="0"/>
            <a:chExt cx="8877323" cy="1680778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57150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566088" y="709454"/>
              <a:ext cx="4981573" cy="971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8"/>
                </a:lnSpc>
                <a:spcBef>
                  <a:spcPct val="0"/>
                </a:spcBef>
              </a:pPr>
              <a:r>
                <a:rPr lang="en-US" sz="1412" spc="3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Ciclo trial, activa, morosa y cancelada, facturacion en UF y webhook de conciliacion de pagos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566088" y="28953"/>
              <a:ext cx="73112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57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SUSCRIPCIONES Y PAGOS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059150" y="6324808"/>
            <a:ext cx="3321766" cy="4114800"/>
          </a:xfrm>
          <a:custGeom>
            <a:avLst/>
            <a:gdLst/>
            <a:ahLst/>
            <a:cxnLst/>
            <a:rect r="r" b="b" t="t" l="l"/>
            <a:pathLst>
              <a:path h="4114800" w="3321766">
                <a:moveTo>
                  <a:pt x="0" y="0"/>
                </a:moveTo>
                <a:lnTo>
                  <a:pt x="3321766" y="0"/>
                </a:lnTo>
                <a:lnTo>
                  <a:pt x="33217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009920" y="1098721"/>
            <a:ext cx="10268161" cy="219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825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Descripcion del </a:t>
            </a:r>
            <a:r>
              <a:rPr lang="en-US" b="true" sz="825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88958" y="4406930"/>
            <a:ext cx="7262150" cy="141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3"/>
              </a:lnSpc>
            </a:pPr>
            <a:r>
              <a:rPr lang="en-US" sz="2002" spc="4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Construir la capa de administracion del negocio de Acredittia: un backoffice que reemplaza procesos manuales por un flujo automatizado de aprobacion de empresas, gestion de catalogos y cobro por suscripciones.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4" y="-3765"/>
            <a:ext cx="18281386" cy="10420390"/>
          </a:xfrm>
          <a:custGeom>
            <a:avLst/>
            <a:gdLst/>
            <a:ahLst/>
            <a:cxnLst/>
            <a:rect r="r" b="b" t="t" l="l"/>
            <a:pathLst>
              <a:path h="10420390" w="18281386">
                <a:moveTo>
                  <a:pt x="0" y="0"/>
                </a:moveTo>
                <a:lnTo>
                  <a:pt x="18281386" y="0"/>
                </a:lnTo>
                <a:lnTo>
                  <a:pt x="18281386" y="10420391"/>
                </a:lnTo>
                <a:lnTo>
                  <a:pt x="0" y="10420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384922" y="2450204"/>
            <a:ext cx="3418349" cy="6515587"/>
            <a:chOff x="0" y="0"/>
            <a:chExt cx="4557798" cy="868744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468249" y="4258754"/>
              <a:ext cx="4089549" cy="4428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2"/>
                </a:lnSpc>
              </a:pPr>
              <a:r>
                <a:rPr lang="en-US" sz="1887" spc="4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Decidir el flujo de aprobacion de empresas, el manejo de estados de pago  el orden de construccion de los modulos segun su dependencia. Coordinar el trabajo del equipo y la integracion entre modulos.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751822" y="0"/>
              <a:ext cx="3054154" cy="2204544"/>
            </a:xfrm>
            <a:custGeom>
              <a:avLst/>
              <a:gdLst/>
              <a:ahLst/>
              <a:cxnLst/>
              <a:rect r="r" b="b" t="t" l="l"/>
              <a:pathLst>
                <a:path h="2204544" w="3054154">
                  <a:moveTo>
                    <a:pt x="0" y="0"/>
                  </a:moveTo>
                  <a:lnTo>
                    <a:pt x="3054154" y="0"/>
                  </a:lnTo>
                  <a:lnTo>
                    <a:pt x="3054154" y="2204544"/>
                  </a:lnTo>
                  <a:lnTo>
                    <a:pt x="0" y="2204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2553694"/>
              <a:ext cx="4557798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48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Gestion de Proyectos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96859" y="3192166"/>
              <a:ext cx="3164079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spc="3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Fortaleza de Jean Y Oscar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444535" y="2390804"/>
            <a:ext cx="1750117" cy="1715115"/>
          </a:xfrm>
          <a:custGeom>
            <a:avLst/>
            <a:gdLst/>
            <a:ahLst/>
            <a:cxnLst/>
            <a:rect r="r" b="b" t="t" l="l"/>
            <a:pathLst>
              <a:path h="1715115" w="1750117">
                <a:moveTo>
                  <a:pt x="0" y="0"/>
                </a:moveTo>
                <a:lnTo>
                  <a:pt x="1750117" y="0"/>
                </a:lnTo>
                <a:lnTo>
                  <a:pt x="1750117" y="1715115"/>
                </a:lnTo>
                <a:lnTo>
                  <a:pt x="0" y="1715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370671" y="2399738"/>
            <a:ext cx="1646465" cy="1706181"/>
          </a:xfrm>
          <a:custGeom>
            <a:avLst/>
            <a:gdLst/>
            <a:ahLst/>
            <a:cxnLst/>
            <a:rect r="r" b="b" t="t" l="l"/>
            <a:pathLst>
              <a:path h="1706181" w="1646465">
                <a:moveTo>
                  <a:pt x="0" y="0"/>
                </a:moveTo>
                <a:lnTo>
                  <a:pt x="1646465" y="0"/>
                </a:lnTo>
                <a:lnTo>
                  <a:pt x="1646465" y="1706181"/>
                </a:lnTo>
                <a:lnTo>
                  <a:pt x="0" y="17061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660322" y="5746664"/>
            <a:ext cx="3067162" cy="300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4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Implementar los endpoints de administracion y suscripciones en FastAPI, la maquina de estados, la impersonacion auditada y las pruebas de funcionalidad sobre la arquitectura existente.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84729" y="4353569"/>
            <a:ext cx="341834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4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Desarrollo de Software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07373" y="4834804"/>
            <a:ext cx="2373060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3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Refuerzo para David, Fortaleza para Jean y Oscar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15568" y="1344635"/>
            <a:ext cx="12056864" cy="85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1"/>
              </a:lnSpc>
            </a:pPr>
            <a:r>
              <a:rPr lang="en-US" b="true" sz="635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Vinculo con el Perfil de Egreso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86012" y="5356139"/>
            <a:ext cx="3067162" cy="300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887" spc="4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Construir el modelo ORM, en SQLAlchemy sobre el esquema relacional definido: empresas, catálogos, suscripciones, facturas y actividad. Relaciones, tipado de estados y migraciones con Alembic.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34826" y="4353569"/>
            <a:ext cx="341834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48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57470" y="4834804"/>
            <a:ext cx="237306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3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Fortaleza de David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890955" y="2171701"/>
            <a:ext cx="14857277" cy="7072593"/>
            <a:chOff x="0" y="0"/>
            <a:chExt cx="3913028" cy="18627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13028" cy="1862741"/>
            </a:xfrm>
            <a:custGeom>
              <a:avLst/>
              <a:gdLst/>
              <a:ahLst/>
              <a:cxnLst/>
              <a:rect r="r" b="b" t="t" l="l"/>
              <a:pathLst>
                <a:path h="1862741" w="3913028">
                  <a:moveTo>
                    <a:pt x="0" y="0"/>
                  </a:moveTo>
                  <a:lnTo>
                    <a:pt x="3913028" y="0"/>
                  </a:lnTo>
                  <a:lnTo>
                    <a:pt x="3913028" y="1862741"/>
                  </a:lnTo>
                  <a:lnTo>
                    <a:pt x="0" y="1862741"/>
                  </a:lnTo>
                  <a:close/>
                </a:path>
              </a:pathLst>
            </a:custGeom>
            <a:solidFill>
              <a:srgbClr val="EFEEE9">
                <a:alpha val="16863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913028" cy="1862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8580"/>
            <a:ext cx="18227643" cy="10389756"/>
          </a:xfrm>
          <a:custGeom>
            <a:avLst/>
            <a:gdLst/>
            <a:ahLst/>
            <a:cxnLst/>
            <a:rect r="r" b="b" t="t" l="l"/>
            <a:pathLst>
              <a:path h="10389756" w="18227643">
                <a:moveTo>
                  <a:pt x="0" y="0"/>
                </a:moveTo>
                <a:lnTo>
                  <a:pt x="18227643" y="0"/>
                </a:lnTo>
                <a:lnTo>
                  <a:pt x="18227643" y="10389756"/>
                </a:lnTo>
                <a:lnTo>
                  <a:pt x="0" y="10389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7" r="0" b="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5766" y="1804986"/>
            <a:ext cx="15346776" cy="7453314"/>
            <a:chOff x="0" y="0"/>
            <a:chExt cx="4041949" cy="19630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1949" cy="1963013"/>
            </a:xfrm>
            <a:custGeom>
              <a:avLst/>
              <a:gdLst/>
              <a:ahLst/>
              <a:cxnLst/>
              <a:rect r="r" b="b" t="t" l="l"/>
              <a:pathLst>
                <a:path h="1963013" w="4041949">
                  <a:moveTo>
                    <a:pt x="0" y="0"/>
                  </a:moveTo>
                  <a:lnTo>
                    <a:pt x="4041949" y="0"/>
                  </a:lnTo>
                  <a:lnTo>
                    <a:pt x="4041949" y="1963013"/>
                  </a:lnTo>
                  <a:lnTo>
                    <a:pt x="0" y="1963013"/>
                  </a:lnTo>
                  <a:close/>
                </a:path>
              </a:pathLst>
            </a:custGeom>
            <a:solidFill>
              <a:srgbClr val="EFEEE9">
                <a:alpha val="1686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041949" cy="1963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22491" y="3893660"/>
            <a:ext cx="1283411" cy="19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  <a:spcBef>
                <a:spcPct val="0"/>
              </a:spcBef>
            </a:pPr>
            <a:r>
              <a:rPr lang="en-US" sz="1112" spc="2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Modelo de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15825" y="4300690"/>
            <a:ext cx="3736180" cy="98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Interes en analisis y gestion de datos, bases de datos y mineria de datos, con ciberseguridad como area complementarea.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42365" y="3591711"/>
            <a:ext cx="1203294" cy="73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  <a:spcBef>
                <a:spcPct val="0"/>
              </a:spcBef>
            </a:pPr>
            <a:r>
              <a:rPr lang="en-US" b="true" sz="4337" spc="9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15825" y="3658386"/>
            <a:ext cx="364837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5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DAVID MARTINEZ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15825" y="5374013"/>
            <a:ext cx="3736180" cy="73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Fortaleza: Modelo de Datos.</a:t>
            </a:r>
          </a:p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Debilidad: Desarrollo de Software, FastAPI es la oportunidad de refuerzo.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15825" y="7168452"/>
            <a:ext cx="3736180" cy="98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Experiencia previa en gestion de proyectos y desarrollo backend(Django) y movil (Ionic), con un sistema en produccion durante su practica.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2365" y="6459472"/>
            <a:ext cx="1203294" cy="73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  <a:spcBef>
                <a:spcPct val="0"/>
              </a:spcBef>
            </a:pPr>
            <a:r>
              <a:rPr lang="en-US" b="true" sz="4337" spc="9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JA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15825" y="6526147"/>
            <a:ext cx="548342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5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JEAN ARRIAGADA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15825" y="8241775"/>
            <a:ext cx="3736180" cy="73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Aplica gestion de requerimientos y ciclo de vida, profundiza en FastAPI y arquitectura.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5855" y="3974226"/>
            <a:ext cx="1868090" cy="19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  <a:spcBef>
                <a:spcPct val="0"/>
              </a:spcBef>
            </a:pPr>
            <a:r>
              <a:rPr lang="en-US" sz="1112" spc="2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Suscripciones y pagos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17485" y="4416182"/>
            <a:ext cx="3736180" cy="98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Experiencia en arquitecturas de datos escalables (BigQuery, Cloud Storage, Dataflow), desarrollo full stack y metodologias agiles.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44024" y="3707203"/>
            <a:ext cx="1203294" cy="73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  <a:spcBef>
                <a:spcPct val="0"/>
              </a:spcBef>
            </a:pPr>
            <a:r>
              <a:rPr lang="en-US" b="true" sz="4337" spc="9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17485" y="3773878"/>
            <a:ext cx="364837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5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OSCAR BUSTAMANTE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17485" y="5489505"/>
            <a:ext cx="3736180" cy="73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Conecta con su interes en ssitemas de datos escalables y pruebas de calidad (OWASP ZAP, Selenium).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22550" y="2460033"/>
            <a:ext cx="114429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0"/>
              </a:lnSpc>
            </a:pPr>
            <a:r>
              <a:rPr lang="en-US" sz="5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Relaciones con Interes Profesionales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22491" y="6713745"/>
            <a:ext cx="1813701" cy="19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  <a:spcBef>
                <a:spcPct val="0"/>
              </a:spcBef>
            </a:pPr>
            <a:r>
              <a:rPr lang="en-US" sz="1112" spc="2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Modulo de Administracion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05902" y="8489425"/>
            <a:ext cx="8835124" cy="48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sz="1412" spc="3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Tiempo disponible: David trabaja 4x4 (media jornada del mes libre); Jean y Oscar, jornada casi completa. David asume apoyo transversal en los tres frentes para compensar la asimetria.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460" y="0"/>
            <a:ext cx="18532231" cy="10563372"/>
          </a:xfrm>
          <a:custGeom>
            <a:avLst/>
            <a:gdLst/>
            <a:ahLst/>
            <a:cxnLst/>
            <a:rect r="r" b="b" t="t" l="l"/>
            <a:pathLst>
              <a:path h="10563372" w="18532231">
                <a:moveTo>
                  <a:pt x="0" y="0"/>
                </a:moveTo>
                <a:lnTo>
                  <a:pt x="18532231" y="0"/>
                </a:lnTo>
                <a:lnTo>
                  <a:pt x="18532231" y="10563372"/>
                </a:lnTo>
                <a:lnTo>
                  <a:pt x="0" y="1056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0" t="-517" r="0" b="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0612" y="3151107"/>
            <a:ext cx="15346776" cy="5345751"/>
            <a:chOff x="0" y="0"/>
            <a:chExt cx="4041949" cy="14079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1949" cy="1407934"/>
            </a:xfrm>
            <a:custGeom>
              <a:avLst/>
              <a:gdLst/>
              <a:ahLst/>
              <a:cxnLst/>
              <a:rect r="r" b="b" t="t" l="l"/>
              <a:pathLst>
                <a:path h="1407934" w="4041949">
                  <a:moveTo>
                    <a:pt x="0" y="0"/>
                  </a:moveTo>
                  <a:lnTo>
                    <a:pt x="4041949" y="0"/>
                  </a:lnTo>
                  <a:lnTo>
                    <a:pt x="4041949" y="1407934"/>
                  </a:lnTo>
                  <a:lnTo>
                    <a:pt x="0" y="1407934"/>
                  </a:lnTo>
                  <a:close/>
                </a:path>
              </a:pathLst>
            </a:custGeom>
            <a:solidFill>
              <a:srgbClr val="C4DCF0">
                <a:alpha val="1686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041949" cy="1407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78384" y="3516233"/>
            <a:ext cx="14931231" cy="4776844"/>
            <a:chOff x="0" y="0"/>
            <a:chExt cx="19908308" cy="63691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3631434" y="0"/>
              <a:ext cx="5988132" cy="1883540"/>
            </a:xfrm>
            <a:custGeom>
              <a:avLst/>
              <a:gdLst/>
              <a:ahLst/>
              <a:cxnLst/>
              <a:rect r="r" b="b" t="t" l="l"/>
              <a:pathLst>
                <a:path h="1883540" w="5988132">
                  <a:moveTo>
                    <a:pt x="0" y="0"/>
                  </a:moveTo>
                  <a:lnTo>
                    <a:pt x="5988132" y="0"/>
                  </a:lnTo>
                  <a:lnTo>
                    <a:pt x="5988132" y="1883540"/>
                  </a:lnTo>
                  <a:lnTo>
                    <a:pt x="0" y="1883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1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22310" y="0"/>
              <a:ext cx="5988132" cy="1883540"/>
            </a:xfrm>
            <a:custGeom>
              <a:avLst/>
              <a:gdLst/>
              <a:ahLst/>
              <a:cxnLst/>
              <a:rect r="r" b="b" t="t" l="l"/>
              <a:pathLst>
                <a:path h="1883540" w="5988132">
                  <a:moveTo>
                    <a:pt x="0" y="0"/>
                  </a:moveTo>
                  <a:lnTo>
                    <a:pt x="5988132" y="0"/>
                  </a:lnTo>
                  <a:lnTo>
                    <a:pt x="5988132" y="1883540"/>
                  </a:lnTo>
                  <a:lnTo>
                    <a:pt x="0" y="1883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876872" y="0"/>
              <a:ext cx="5988132" cy="1883540"/>
            </a:xfrm>
            <a:custGeom>
              <a:avLst/>
              <a:gdLst/>
              <a:ahLst/>
              <a:cxnLst/>
              <a:rect r="r" b="b" t="t" l="l"/>
              <a:pathLst>
                <a:path h="1883540" w="5988132">
                  <a:moveTo>
                    <a:pt x="0" y="0"/>
                  </a:moveTo>
                  <a:lnTo>
                    <a:pt x="5988132" y="0"/>
                  </a:lnTo>
                  <a:lnTo>
                    <a:pt x="5988132" y="1883540"/>
                  </a:lnTo>
                  <a:lnTo>
                    <a:pt x="0" y="1883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3831912" y="2326829"/>
              <a:ext cx="6076397" cy="4042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1246" indent="-190623" lvl="1">
                <a:lnSpc>
                  <a:spcPts val="2472"/>
                </a:lnSpc>
                <a:buFont typeface="Arial"/>
                <a:buChar char="•"/>
              </a:pPr>
              <a:r>
                <a:rPr lang="en-US" sz="1765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Credenciales sandbox de la pasarela no disponible a tiempo - Gateway mockeado que simula las respuestas del webhook.</a:t>
              </a:r>
            </a:p>
            <a:p>
              <a:pPr algn="l" marL="381246" indent="-190623" lvl="1">
                <a:lnSpc>
                  <a:spcPts val="2472"/>
                </a:lnSpc>
                <a:buFont typeface="Arial"/>
                <a:buChar char="•"/>
              </a:pPr>
              <a:r>
                <a:rPr lang="en-US" sz="1765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Carga laboral de Jean y Oscar retrasa sus modulos - Apoyo permanente de David en ambos frentes.</a:t>
              </a:r>
            </a:p>
            <a:p>
              <a:pPr algn="l" marL="381246" indent="-190623" lvl="1">
                <a:lnSpc>
                  <a:spcPts val="2472"/>
                </a:lnSpc>
                <a:buFont typeface="Arial"/>
                <a:buChar char="•"/>
              </a:pPr>
              <a:r>
                <a:rPr lang="en-US" sz="1765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Dependencia inicial del modelo de datos - Se construye primero: reuniones periodicas de seguimiento.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74500" y="2326829"/>
              <a:ext cx="6054748" cy="2823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7943" indent="-188971" lvl="1">
                <a:lnSpc>
                  <a:spcPts val="2450"/>
                </a:lnSpc>
                <a:buFont typeface="Arial"/>
                <a:buChar char="•"/>
              </a:pPr>
              <a:r>
                <a:rPr lang="en-US" sz="1750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Python 3.12 Fast API y Pytantic v2.</a:t>
              </a:r>
            </a:p>
            <a:p>
              <a:pPr algn="l" marL="377943" indent="-188971" lvl="1">
                <a:lnSpc>
                  <a:spcPts val="2450"/>
                </a:lnSpc>
                <a:buFont typeface="Arial"/>
                <a:buChar char="•"/>
              </a:pPr>
              <a:r>
                <a:rPr lang="en-US" sz="1750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PostgreSQL 16 - SQLAlchemy 2.x async - Alembic.</a:t>
              </a:r>
            </a:p>
            <a:p>
              <a:pPr algn="l" marL="377943" indent="-188971" lvl="1">
                <a:lnSpc>
                  <a:spcPts val="2450"/>
                </a:lnSpc>
                <a:buFont typeface="Arial"/>
                <a:buChar char="•"/>
              </a:pPr>
              <a:r>
                <a:rPr lang="en-US" sz="1750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Celery / Redis.</a:t>
              </a:r>
            </a:p>
            <a:p>
              <a:pPr algn="l" marL="377943" indent="-188971" lvl="1">
                <a:lnSpc>
                  <a:spcPts val="2450"/>
                </a:lnSpc>
                <a:buFont typeface="Arial"/>
                <a:buChar char="•"/>
              </a:pPr>
              <a:r>
                <a:rPr lang="en-US" sz="1750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Repositorio compartido en GitHub.</a:t>
              </a:r>
            </a:p>
            <a:p>
              <a:pPr algn="l" marL="377943" indent="-188971" lvl="1">
                <a:lnSpc>
                  <a:spcPts val="2450"/>
                </a:lnSpc>
                <a:buFont typeface="Arial"/>
                <a:buChar char="•"/>
              </a:pPr>
              <a:r>
                <a:rPr lang="en-US" sz="1750" spc="38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Credenciales sandbox de pasarela (Transbank o Stripe)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99336"/>
              <a:ext cx="6232752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sz="3499" spc="51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RECURSOS DISPONIBLES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629249" y="137436"/>
              <a:ext cx="6409942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spc="51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FACTORES QUE FACILITAN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3631434" y="137436"/>
              <a:ext cx="6076397" cy="160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spc="51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RIESGOS Y MITIGACION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40846" y="5251830"/>
            <a:ext cx="4595786" cy="24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Alloxcentric actua como mandante y guia al equipo.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Esquema de base de datos ya definido como punto de partida.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Acceso a la documentacion tecnica del cliente.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Modulos independientes: se desarrollan en paralelo.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20313" y="1131173"/>
            <a:ext cx="12740685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Factibilidad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8580"/>
            <a:ext cx="18288000" cy="10424160"/>
          </a:xfrm>
          <a:custGeom>
            <a:avLst/>
            <a:gdLst/>
            <a:ahLst/>
            <a:cxnLst/>
            <a:rect r="r" b="b" t="t" l="l"/>
            <a:pathLst>
              <a:path h="10424160" w="18288000">
                <a:moveTo>
                  <a:pt x="0" y="0"/>
                </a:moveTo>
                <a:lnTo>
                  <a:pt x="18288000" y="0"/>
                </a:lnTo>
                <a:lnTo>
                  <a:pt x="18288000" y="10424160"/>
                </a:lnTo>
                <a:lnTo>
                  <a:pt x="0" y="10424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7" r="0" b="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4911" y="4148585"/>
            <a:ext cx="3072457" cy="3926253"/>
            <a:chOff x="0" y="0"/>
            <a:chExt cx="1284780" cy="1641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4780" cy="1641804"/>
            </a:xfrm>
            <a:custGeom>
              <a:avLst/>
              <a:gdLst/>
              <a:ahLst/>
              <a:cxnLst/>
              <a:rect r="r" b="b" t="t" l="l"/>
              <a:pathLst>
                <a:path h="1641804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641804"/>
                  </a:lnTo>
                  <a:lnTo>
                    <a:pt x="0" y="1641804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4780" cy="1641804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04543" y="4148585"/>
            <a:ext cx="3072457" cy="3926253"/>
            <a:chOff x="0" y="0"/>
            <a:chExt cx="1284780" cy="1641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4780" cy="1641804"/>
            </a:xfrm>
            <a:custGeom>
              <a:avLst/>
              <a:gdLst/>
              <a:ahLst/>
              <a:cxnLst/>
              <a:rect r="r" b="b" t="t" l="l"/>
              <a:pathLst>
                <a:path h="1641804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641804"/>
                  </a:lnTo>
                  <a:lnTo>
                    <a:pt x="0" y="1641804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84780" cy="1641804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34174" y="4148585"/>
            <a:ext cx="3072457" cy="3933407"/>
            <a:chOff x="0" y="0"/>
            <a:chExt cx="1284780" cy="16447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4780" cy="1644796"/>
            </a:xfrm>
            <a:custGeom>
              <a:avLst/>
              <a:gdLst/>
              <a:ahLst/>
              <a:cxnLst/>
              <a:rect r="r" b="b" t="t" l="l"/>
              <a:pathLst>
                <a:path h="1644796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644796"/>
                  </a:lnTo>
                  <a:lnTo>
                    <a:pt x="0" y="1644796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284780" cy="1644796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63806" y="4148585"/>
            <a:ext cx="3072457" cy="3926253"/>
            <a:chOff x="0" y="0"/>
            <a:chExt cx="1284780" cy="16418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4780" cy="1641804"/>
            </a:xfrm>
            <a:custGeom>
              <a:avLst/>
              <a:gdLst/>
              <a:ahLst/>
              <a:cxnLst/>
              <a:rect r="r" b="b" t="t" l="l"/>
              <a:pathLst>
                <a:path h="1641804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641804"/>
                  </a:lnTo>
                  <a:lnTo>
                    <a:pt x="0" y="1641804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84780" cy="1641804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93438" y="4148585"/>
            <a:ext cx="3072457" cy="3926253"/>
            <a:chOff x="0" y="0"/>
            <a:chExt cx="1284780" cy="16418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4780" cy="1641804"/>
            </a:xfrm>
            <a:custGeom>
              <a:avLst/>
              <a:gdLst/>
              <a:ahLst/>
              <a:cxnLst/>
              <a:rect r="r" b="b" t="t" l="l"/>
              <a:pathLst>
                <a:path h="1641804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641804"/>
                  </a:lnTo>
                  <a:lnTo>
                    <a:pt x="0" y="1641804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284780" cy="1641804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4911" y="2717751"/>
            <a:ext cx="16390983" cy="1144710"/>
            <a:chOff x="0" y="0"/>
            <a:chExt cx="6854063" cy="4786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4063" cy="478673"/>
            </a:xfrm>
            <a:custGeom>
              <a:avLst/>
              <a:gdLst/>
              <a:ahLst/>
              <a:cxnLst/>
              <a:rect r="r" b="b" t="t" l="l"/>
              <a:pathLst>
                <a:path h="478673" w="6854063">
                  <a:moveTo>
                    <a:pt x="0" y="0"/>
                  </a:moveTo>
                  <a:lnTo>
                    <a:pt x="6854063" y="0"/>
                  </a:lnTo>
                  <a:lnTo>
                    <a:pt x="6854063" y="478673"/>
                  </a:lnTo>
                  <a:lnTo>
                    <a:pt x="0" y="478673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854063" cy="478673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986100" y="5206464"/>
            <a:ext cx="2346987" cy="67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mplementar el módulo con sus estados: trial, activa, morosa y cancelada.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58145" y="4511296"/>
            <a:ext cx="2809629" cy="3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SUSCRIPC</a:t>
            </a: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IONES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93044" y="1051968"/>
            <a:ext cx="410191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8881" y="4511296"/>
            <a:ext cx="2809629" cy="3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MODELO ORM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6837" y="5206464"/>
            <a:ext cx="2346987" cy="89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mplementar el modelo ORM sobre el esquema de base de datos definido por la empresa.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25148" y="4357633"/>
            <a:ext cx="2809629" cy="69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ENDP</a:t>
            </a: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OINTS /ADMIN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656469" y="5206464"/>
            <a:ext cx="2346987" cy="89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esarrollar los endpoints de aprobación de solicitudes de registro y gestión de catálogos globales.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87776" y="4511296"/>
            <a:ext cx="2809629" cy="3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ONCILIACIÓN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315732" y="5206464"/>
            <a:ext cx="2346987" cy="89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ntegrar un webhook de pagos que actualice facturas y reactive suscripciones morosas.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417408" y="4511296"/>
            <a:ext cx="2809629" cy="3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AUDI</a:t>
            </a:r>
            <a:r>
              <a:rPr lang="en-US" sz="2078" spc="30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TORÍA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645364" y="5206464"/>
            <a:ext cx="2346987" cy="89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277" spc="2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egistrar en la tabla de actividad las impersonaciones y mutaciones administrativas.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5519" y="2925747"/>
            <a:ext cx="15872042" cy="68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1977" spc="4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Desarrollar el modulo de administracion del negocio de Acredittia, integrando la gestion de empresas, catalogos, ciclo de suscripciones y pagos a la plataforma.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357" y="-34176"/>
            <a:ext cx="18167286" cy="10355353"/>
          </a:xfrm>
          <a:custGeom>
            <a:avLst/>
            <a:gdLst/>
            <a:ahLst/>
            <a:cxnLst/>
            <a:rect r="r" b="b" t="t" l="l"/>
            <a:pathLst>
              <a:path h="10355353" w="18167286">
                <a:moveTo>
                  <a:pt x="0" y="0"/>
                </a:moveTo>
                <a:lnTo>
                  <a:pt x="18167286" y="0"/>
                </a:lnTo>
                <a:lnTo>
                  <a:pt x="18167286" y="10355352"/>
                </a:lnTo>
                <a:lnTo>
                  <a:pt x="0" y="1035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-517" r="0" b="51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88538" y="552173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4911" y="1743166"/>
            <a:ext cx="16390983" cy="3621268"/>
            <a:chOff x="0" y="0"/>
            <a:chExt cx="6854063" cy="15142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4063" cy="1514271"/>
            </a:xfrm>
            <a:custGeom>
              <a:avLst/>
              <a:gdLst/>
              <a:ahLst/>
              <a:cxnLst/>
              <a:rect r="r" b="b" t="t" l="l"/>
              <a:pathLst>
                <a:path h="1514271" w="6854063">
                  <a:moveTo>
                    <a:pt x="0" y="0"/>
                  </a:moveTo>
                  <a:lnTo>
                    <a:pt x="6854063" y="0"/>
                  </a:lnTo>
                  <a:lnTo>
                    <a:pt x="6854063" y="1514271"/>
                  </a:lnTo>
                  <a:lnTo>
                    <a:pt x="0" y="1514271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854063" cy="1514271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851930" y="2273946"/>
            <a:ext cx="1159754" cy="1317902"/>
          </a:xfrm>
          <a:custGeom>
            <a:avLst/>
            <a:gdLst/>
            <a:ahLst/>
            <a:cxnLst/>
            <a:rect r="r" b="b" t="t" l="l"/>
            <a:pathLst>
              <a:path h="1317902" w="1159754">
                <a:moveTo>
                  <a:pt x="0" y="0"/>
                </a:moveTo>
                <a:lnTo>
                  <a:pt x="1159754" y="0"/>
                </a:lnTo>
                <a:lnTo>
                  <a:pt x="1159754" y="1317903"/>
                </a:lnTo>
                <a:lnTo>
                  <a:pt x="0" y="1317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884387" y="2273946"/>
            <a:ext cx="1542162" cy="1317902"/>
          </a:xfrm>
          <a:custGeom>
            <a:avLst/>
            <a:gdLst/>
            <a:ahLst/>
            <a:cxnLst/>
            <a:rect r="r" b="b" t="t" l="l"/>
            <a:pathLst>
              <a:path h="1317902" w="1542162">
                <a:moveTo>
                  <a:pt x="0" y="0"/>
                </a:moveTo>
                <a:lnTo>
                  <a:pt x="1542163" y="0"/>
                </a:lnTo>
                <a:lnTo>
                  <a:pt x="1542163" y="1317903"/>
                </a:lnTo>
                <a:lnTo>
                  <a:pt x="0" y="1317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64" r="0" b="-236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598777" y="2273946"/>
            <a:ext cx="1863609" cy="1266909"/>
          </a:xfrm>
          <a:custGeom>
            <a:avLst/>
            <a:gdLst/>
            <a:ahLst/>
            <a:cxnLst/>
            <a:rect r="r" b="b" t="t" l="l"/>
            <a:pathLst>
              <a:path h="1266909" w="1863609">
                <a:moveTo>
                  <a:pt x="0" y="0"/>
                </a:moveTo>
                <a:lnTo>
                  <a:pt x="1863609" y="0"/>
                </a:lnTo>
                <a:lnTo>
                  <a:pt x="1863609" y="1266909"/>
                </a:lnTo>
                <a:lnTo>
                  <a:pt x="0" y="1266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04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51823" y="2273946"/>
            <a:ext cx="915942" cy="1317902"/>
          </a:xfrm>
          <a:custGeom>
            <a:avLst/>
            <a:gdLst/>
            <a:ahLst/>
            <a:cxnLst/>
            <a:rect r="r" b="b" t="t" l="l"/>
            <a:pathLst>
              <a:path h="1317902" w="915942">
                <a:moveTo>
                  <a:pt x="0" y="0"/>
                </a:moveTo>
                <a:lnTo>
                  <a:pt x="915942" y="0"/>
                </a:lnTo>
                <a:lnTo>
                  <a:pt x="915942" y="1317903"/>
                </a:lnTo>
                <a:lnTo>
                  <a:pt x="0" y="13179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2003284">
            <a:off x="5223246" y="2150102"/>
            <a:ext cx="1397727" cy="1188068"/>
          </a:xfrm>
          <a:custGeom>
            <a:avLst/>
            <a:gdLst/>
            <a:ahLst/>
            <a:cxnLst/>
            <a:rect r="r" b="b" t="t" l="l"/>
            <a:pathLst>
              <a:path h="1188068" w="1397727">
                <a:moveTo>
                  <a:pt x="0" y="0"/>
                </a:moveTo>
                <a:lnTo>
                  <a:pt x="1397727" y="0"/>
                </a:lnTo>
                <a:lnTo>
                  <a:pt x="1397727" y="1188068"/>
                </a:lnTo>
                <a:lnTo>
                  <a:pt x="0" y="118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46365" y="3706894"/>
            <a:ext cx="3667938" cy="3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9"/>
              </a:lnSpc>
              <a:spcBef>
                <a:spcPct val="0"/>
              </a:spcBef>
            </a:pPr>
            <a:r>
              <a:rPr lang="en-US" b="true" sz="1878" spc="27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Desarrollo de endpoints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19708" y="3674238"/>
            <a:ext cx="1397726" cy="3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9"/>
              </a:lnSpc>
              <a:spcBef>
                <a:spcPct val="0"/>
              </a:spcBef>
            </a:pPr>
            <a:r>
              <a:rPr lang="en-US" b="true" sz="1878" spc="27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Pruebas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2003284">
            <a:off x="8603071" y="2410439"/>
            <a:ext cx="1397727" cy="1188068"/>
          </a:xfrm>
          <a:custGeom>
            <a:avLst/>
            <a:gdLst/>
            <a:ahLst/>
            <a:cxnLst/>
            <a:rect r="r" b="b" t="t" l="l"/>
            <a:pathLst>
              <a:path h="1188068" w="1397727">
                <a:moveTo>
                  <a:pt x="0" y="0"/>
                </a:moveTo>
                <a:lnTo>
                  <a:pt x="1397727" y="0"/>
                </a:lnTo>
                <a:lnTo>
                  <a:pt x="1397727" y="1188067"/>
                </a:lnTo>
                <a:lnTo>
                  <a:pt x="0" y="1188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2003284">
            <a:off x="11258946" y="2477338"/>
            <a:ext cx="1397727" cy="1188068"/>
          </a:xfrm>
          <a:custGeom>
            <a:avLst/>
            <a:gdLst/>
            <a:ahLst/>
            <a:cxnLst/>
            <a:rect r="r" b="b" t="t" l="l"/>
            <a:pathLst>
              <a:path h="1188068" w="1397727">
                <a:moveTo>
                  <a:pt x="0" y="0"/>
                </a:moveTo>
                <a:lnTo>
                  <a:pt x="1397726" y="0"/>
                </a:lnTo>
                <a:lnTo>
                  <a:pt x="1397726" y="1188068"/>
                </a:lnTo>
                <a:lnTo>
                  <a:pt x="0" y="11880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177598" y="3706894"/>
            <a:ext cx="2508419" cy="3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9"/>
              </a:lnSpc>
              <a:spcBef>
                <a:spcPct val="0"/>
              </a:spcBef>
            </a:pPr>
            <a:r>
              <a:rPr lang="en-US" b="true" sz="1878" spc="27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47048" y="4068877"/>
            <a:ext cx="2169519" cy="60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Dis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eño del modelo ORM y migraciones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73658" y="516716"/>
            <a:ext cx="12740685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20392" y="1825451"/>
            <a:ext cx="13754852" cy="29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Trabaja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mos con un enfoque ÁGIL E ITERATIVO, desarrollando los módulos en paralelo y en ciclos cortos.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39537" y="4068877"/>
            <a:ext cx="2169519" cy="9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Impl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ementación de los módulos y lógica de negocio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47678" y="3972881"/>
            <a:ext cx="2169519" cy="90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Pru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ebas unitarias, integración y calidad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17852" y="3615214"/>
            <a:ext cx="1806266" cy="33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9"/>
              </a:lnSpc>
              <a:spcBef>
                <a:spcPct val="0"/>
              </a:spcBef>
            </a:pPr>
            <a:r>
              <a:rPr lang="en-US" b="true" sz="1878" spc="276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Integración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45822" y="3913857"/>
            <a:ext cx="2169519" cy="121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Integr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ación de módulos, despliegue y validación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74321" y="5605178"/>
            <a:ext cx="5339358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  <a:spcBef>
                <a:spcPct val="0"/>
              </a:spcBef>
            </a:pPr>
            <a:r>
              <a:rPr lang="en-US" sz="2299" spc="3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ROLES Y RESPONSABILIDADES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789718" y="6388952"/>
            <a:ext cx="3944593" cy="2864800"/>
            <a:chOff x="0" y="0"/>
            <a:chExt cx="5259458" cy="3819734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57150"/>
              <a:ext cx="5259458" cy="513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3730" indent="-246865" lvl="1">
                <a:lnSpc>
                  <a:spcPts val="3201"/>
                </a:lnSpc>
                <a:buFont typeface="Arial"/>
                <a:buChar char="•"/>
              </a:pPr>
              <a:r>
                <a:rPr lang="en-US" sz="2286" spc="33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DAVID MARTINEZ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35623" y="633752"/>
              <a:ext cx="4823835" cy="3185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1"/>
                </a:lnSpc>
              </a:pP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</a:t>
              </a: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odelo de datos</a:t>
              </a:r>
            </a:p>
            <a:p>
              <a:pPr algn="l" marL="334804" indent="-167402" lvl="1">
                <a:lnSpc>
                  <a:spcPts val="2171"/>
                </a:lnSpc>
                <a:buFont typeface="Arial"/>
                <a:buChar char="•"/>
              </a:pP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Diseño del modelo ORM basado en el esquema SQL.</a:t>
              </a:r>
            </a:p>
            <a:p>
              <a:pPr algn="l" marL="334804" indent="-167402" lvl="1">
                <a:lnSpc>
                  <a:spcPts val="2171"/>
                </a:lnSpc>
                <a:buFont typeface="Arial"/>
                <a:buChar char="•"/>
              </a:pP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Implementación con SQLAlchemy.</a:t>
              </a:r>
            </a:p>
            <a:p>
              <a:pPr algn="l" marL="334804" indent="-167402" lvl="1">
                <a:lnSpc>
                  <a:spcPts val="2171"/>
                </a:lnSpc>
                <a:buFont typeface="Arial"/>
                <a:buChar char="•"/>
              </a:pP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Migraciones con Alembic.</a:t>
              </a:r>
            </a:p>
            <a:p>
              <a:pPr algn="l" marL="334804" indent="-167402" lvl="1">
                <a:lnSpc>
                  <a:spcPts val="2171"/>
                </a:lnSpc>
                <a:buFont typeface="Arial"/>
                <a:buChar char="•"/>
              </a:pPr>
              <a:r>
                <a:rPr lang="en-US" sz="1550" spc="34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Asegurar integridad y relaciones.</a:t>
              </a:r>
            </a:p>
            <a:p>
              <a:pPr algn="l">
                <a:lnSpc>
                  <a:spcPts val="2171"/>
                </a:lnSpc>
              </a:pPr>
            </a:p>
            <a:p>
              <a:pPr algn="l">
                <a:lnSpc>
                  <a:spcPts val="2171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664371" y="6331802"/>
            <a:ext cx="3944593" cy="3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730" indent="-246865" lvl="1">
              <a:lnSpc>
                <a:spcPts val="3201"/>
              </a:lnSpc>
              <a:buFont typeface="Arial"/>
              <a:buChar char="•"/>
            </a:pPr>
            <a:r>
              <a:rPr lang="en-US" sz="2286" spc="33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JEAN ARRIAGADA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91088" y="6854741"/>
            <a:ext cx="3617876" cy="239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dulo de administración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Aprobación / rechazo de empresas.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estión de catálogos y requisitos.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ashboard y métricas globales.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Imp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ersonación auditada y registro de actividad.</a:t>
            </a:r>
          </a:p>
          <a:p>
            <a:pPr algn="l">
              <a:lnSpc>
                <a:spcPts val="2171"/>
              </a:lnSpc>
            </a:pPr>
          </a:p>
          <a:p>
            <a:pPr algn="l">
              <a:lnSpc>
                <a:spcPts val="217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1590039" y="6331802"/>
            <a:ext cx="4352509" cy="3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730" indent="-246865" lvl="1">
              <a:lnSpc>
                <a:spcPts val="3201"/>
              </a:lnSpc>
              <a:buFont typeface="Arial"/>
              <a:buChar char="•"/>
            </a:pPr>
            <a:r>
              <a:rPr lang="en-US" sz="2286" spc="33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OSCAR BUSTAMANTE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16756" y="6854741"/>
            <a:ext cx="3617876" cy="213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dulo de suscripciones y pagos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Gestión de planes y suscripciones.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Fac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turación y generación de PDF.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Estados: t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rial, activa, morosa, cancelada.</a:t>
            </a:r>
          </a:p>
          <a:p>
            <a:pPr algn="l" marL="334804" indent="-167402" lvl="1">
              <a:lnSpc>
                <a:spcPts val="2171"/>
              </a:lnSpc>
              <a:buFont typeface="Arial"/>
              <a:buChar char="•"/>
            </a:pP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lang="en-US" sz="1550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ebhook de pagos y conciliación.</a:t>
            </a:r>
          </a:p>
          <a:p>
            <a:pPr algn="l">
              <a:lnSpc>
                <a:spcPts val="2171"/>
              </a:lnSpc>
            </a:pPr>
          </a:p>
          <a:p>
            <a:pPr algn="l">
              <a:lnSpc>
                <a:spcPts val="2171"/>
              </a:lnSpc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1959168" y="5459684"/>
            <a:ext cx="13983380" cy="3662059"/>
            <a:chOff x="0" y="0"/>
            <a:chExt cx="5847298" cy="15313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47298" cy="1531329"/>
            </a:xfrm>
            <a:custGeom>
              <a:avLst/>
              <a:gdLst/>
              <a:ahLst/>
              <a:cxnLst/>
              <a:rect r="r" b="b" t="t" l="l"/>
              <a:pathLst>
                <a:path h="1531329" w="5847298">
                  <a:moveTo>
                    <a:pt x="0" y="0"/>
                  </a:moveTo>
                  <a:lnTo>
                    <a:pt x="5847298" y="0"/>
                  </a:lnTo>
                  <a:lnTo>
                    <a:pt x="5847298" y="1531329"/>
                  </a:lnTo>
                  <a:lnTo>
                    <a:pt x="0" y="1531329"/>
                  </a:lnTo>
                  <a:close/>
                </a:path>
              </a:pathLst>
            </a:custGeom>
            <a:solidFill>
              <a:srgbClr val="EFEEE9">
                <a:alpha val="35686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847298" cy="1531329"/>
            </a:xfrm>
            <a:prstGeom prst="rect">
              <a:avLst/>
            </a:prstGeom>
          </p:spPr>
          <p:txBody>
            <a:bodyPr anchor="ctr" rtlCol="false" tIns="31996" lIns="31996" bIns="31996" rIns="31996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78440"/>
          </a:xfrm>
          <a:custGeom>
            <a:avLst/>
            <a:gdLst/>
            <a:ahLst/>
            <a:cxnLst/>
            <a:rect r="r" b="b" t="t" l="l"/>
            <a:pathLst>
              <a:path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87169" y="2327534"/>
          <a:ext cx="15713663" cy="6504042"/>
        </p:xfrm>
        <a:graphic>
          <a:graphicData uri="http://schemas.openxmlformats.org/drawingml/2006/table">
            <a:tbl>
              <a:tblPr/>
              <a:tblGrid>
                <a:gridCol w="3928416"/>
                <a:gridCol w="3928416"/>
                <a:gridCol w="3928416"/>
                <a:gridCol w="3928416"/>
              </a:tblGrid>
              <a:tr h="8429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Actividad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Descripción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Recursos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Duración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987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Modelo ORM y migraciones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Construir el modelo SQLAlchemy sobre el esquema ya definido y generar las migraciones iniciales con Alembic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Esquema SQL definido, SQLAlchemy 2.x, Alembic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 semanas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  <a:tr h="16858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Endpoints de administración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Implementar /admin: aprobación y rechazo de solicitudes, gestión de catálogos globales y métricas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FastAPI, Pydantic v2, modelo ORM (dependencia de David)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 semanas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  <a:tr h="19876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Impersonación auditada y tabla de actividad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Implementar el header X-Company-Id para impersonación y el registro de auditoría de mutaciones administrativas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FastAPI, modelo ORM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 semana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024329" y="859578"/>
            <a:ext cx="623934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trabajo (1 de 2)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94459" y="1657350"/>
            <a:ext cx="5499081" cy="32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1926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926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odelo de datos y módulo de administración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78440"/>
          </a:xfrm>
          <a:custGeom>
            <a:avLst/>
            <a:gdLst/>
            <a:ahLst/>
            <a:cxnLst/>
            <a:rect r="r" b="b" t="t" l="l"/>
            <a:pathLst>
              <a:path h="10378440" w="1828800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87169" y="2327534"/>
          <a:ext cx="15713663" cy="5951592"/>
        </p:xfrm>
        <a:graphic>
          <a:graphicData uri="http://schemas.openxmlformats.org/drawingml/2006/table">
            <a:tbl>
              <a:tblPr/>
              <a:tblGrid>
                <a:gridCol w="3928416"/>
                <a:gridCol w="3928416"/>
                <a:gridCol w="3928416"/>
                <a:gridCol w="3928416"/>
              </a:tblGrid>
              <a:tr h="85022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Actividad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Descripción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Recursos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74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38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Duración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</a:tr>
              <a:tr h="1700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Endpoints de suscripciones y planes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Implementar /planes y /suscripcion con la máquina de estados: trial, activa, morosa y cancelada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FastAPI, Pydantic v2, modelo ORM (dependencia de David)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 semanas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  <a:tr h="1700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Facturación y webhook de conciliación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Implementar /facturas, la generación periódica de facturas en UF y el webhook /webhooks/pagos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FastAPI, Celery/Redis, credenciales sandbox de pasarela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 semanas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  <a:tr h="17004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Integración y pruebas del sistema completo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Integrar los tres frentes en la rama principal y validar el flujo completo: registro, aprobación, trial, cobro y conciliación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Git, entorno de pruebas compartido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2 semanas</a:t>
                      </a:r>
                      <a:endParaRPr lang="en-US" sz="1100"/>
                    </a:p>
                  </a:txBody>
                  <a:tcPr marL="183639" marR="183639" marT="183639" marB="183639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9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024329" y="859578"/>
            <a:ext cx="623934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trabajo (2 de 2)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54785" y="1659678"/>
            <a:ext cx="4778431" cy="32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1926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Suscripci</a:t>
            </a:r>
            <a:r>
              <a:rPr lang="en-US" sz="1926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ones, pagos e integración final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291"/>
            <a:ext cx="18312614" cy="10312291"/>
          </a:xfrm>
          <a:custGeom>
            <a:avLst/>
            <a:gdLst/>
            <a:ahLst/>
            <a:cxnLst/>
            <a:rect r="r" b="b" t="t" l="l"/>
            <a:pathLst>
              <a:path h="10312291" w="18312614">
                <a:moveTo>
                  <a:pt x="0" y="0"/>
                </a:moveTo>
                <a:lnTo>
                  <a:pt x="18312614" y="0"/>
                </a:lnTo>
                <a:lnTo>
                  <a:pt x="18312614" y="10312291"/>
                </a:lnTo>
                <a:lnTo>
                  <a:pt x="0" y="103122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37477" y="1488997"/>
            <a:ext cx="8731370" cy="7769303"/>
          </a:xfrm>
          <a:custGeom>
            <a:avLst/>
            <a:gdLst/>
            <a:ahLst/>
            <a:cxnLst/>
            <a:rect r="r" b="b" t="t" l="l"/>
            <a:pathLst>
              <a:path h="7769303" w="8731370">
                <a:moveTo>
                  <a:pt x="0" y="0"/>
                </a:moveTo>
                <a:lnTo>
                  <a:pt x="8731371" y="0"/>
                </a:lnTo>
                <a:lnTo>
                  <a:pt x="8731371" y="7769303"/>
                </a:lnTo>
                <a:lnTo>
                  <a:pt x="0" y="7769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51860" y="1450897"/>
            <a:ext cx="4575805" cy="80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506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CARTA GANTT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7702" y="3601079"/>
            <a:ext cx="6184121" cy="165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 modelado ORM (S5–S6) bloquea todo lo demás. Administración y suscripciones avanzan en paralelo desde la S7, y la integración solo puede comenzar cuando ambos frentes están cerrados en la S13.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47702" y="3029970"/>
            <a:ext cx="2578477" cy="3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2"/>
              </a:lnSpc>
              <a:spcBef>
                <a:spcPct val="0"/>
              </a:spcBef>
            </a:pPr>
            <a:r>
              <a:rPr lang="en-US" sz="2378" spc="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RUTA CRITICA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7702" y="5228504"/>
            <a:ext cx="3092060" cy="3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2"/>
              </a:lnSpc>
              <a:spcBef>
                <a:spcPct val="0"/>
              </a:spcBef>
            </a:pPr>
            <a:r>
              <a:rPr lang="en-US" sz="2378" spc="3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HITOS POR FASE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47702" y="5798372"/>
            <a:ext cx="6184121" cy="232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290" indent="-208145" lvl="1">
              <a:lnSpc>
                <a:spcPts val="2699"/>
              </a:lnSpc>
              <a:buFont typeface="Arial"/>
              <a:buChar char="•"/>
            </a:pP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Fas</a:t>
            </a: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 1 (S1–S4): Definición del proyecto y planificación</a:t>
            </a:r>
          </a:p>
          <a:p>
            <a:pPr algn="l" marL="416290" indent="-208145" lvl="1">
              <a:lnSpc>
                <a:spcPts val="2699"/>
              </a:lnSpc>
              <a:buFont typeface="Arial"/>
              <a:buChar char="•"/>
            </a:pP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Fase 2 (S5–S15): Desarrollo de los tres frentes, integración y pruebas</a:t>
            </a:r>
          </a:p>
          <a:p>
            <a:pPr algn="l" marL="416290" indent="-208145" lvl="1">
              <a:lnSpc>
                <a:spcPts val="2699"/>
              </a:lnSpc>
              <a:buFont typeface="Arial"/>
              <a:buChar char="•"/>
            </a:pPr>
            <a:r>
              <a:rPr lang="en-US" sz="1928" spc="4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Fase 3 (S16–S18): Informe final, demo y exposición ante comisión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00122" y="3302931"/>
            <a:ext cx="6501119" cy="5883512"/>
          </a:xfrm>
          <a:custGeom>
            <a:avLst/>
            <a:gdLst/>
            <a:ahLst/>
            <a:cxnLst/>
            <a:rect r="r" b="b" t="t" l="l"/>
            <a:pathLst>
              <a:path h="5883512" w="6501119">
                <a:moveTo>
                  <a:pt x="0" y="0"/>
                </a:moveTo>
                <a:lnTo>
                  <a:pt x="6501118" y="0"/>
                </a:lnTo>
                <a:lnTo>
                  <a:pt x="6501118" y="5883513"/>
                </a:lnTo>
                <a:lnTo>
                  <a:pt x="0" y="588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4574" y="1118626"/>
            <a:ext cx="12028191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b="true" sz="59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Evidencias Comprometidas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8572" y="3255306"/>
            <a:ext cx="9218357" cy="276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2039" indent="-171020" lvl="1">
              <a:lnSpc>
                <a:spcPts val="2217"/>
              </a:lnSpc>
              <a:buFont typeface="Arial"/>
              <a:buChar char="•"/>
            </a:pP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</a:t>
            </a: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odelo de datos y migraciones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Modelo ORM en SQLAlchemy con migraciones Alembic funcionales para empresas, catálogos, suscripciones, facturas y actividad.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 cuenta del objetivo del modelo ORM, base de los demás módulos.</a:t>
            </a:r>
          </a:p>
          <a:p>
            <a:pPr algn="l">
              <a:lnSpc>
                <a:spcPts val="2217"/>
              </a:lnSpc>
            </a:pPr>
          </a:p>
          <a:p>
            <a:pPr algn="l" marL="342039" indent="-171020" lvl="1">
              <a:lnSpc>
                <a:spcPts val="2217"/>
              </a:lnSpc>
              <a:buFont typeface="Arial"/>
              <a:buChar char="•"/>
            </a:pP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Endpoints de administración (parcial)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Endpoints /admin funcionales para aprobación de solicitudes y gestión de al menos un catálogo global.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Evidencia el avance del módulo de administración.</a:t>
            </a:r>
          </a:p>
          <a:p>
            <a:pPr algn="l">
              <a:lnSpc>
                <a:spcPts val="221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08572" y="2635185"/>
            <a:ext cx="20977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5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 AVANCE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8572" y="6120191"/>
            <a:ext cx="209772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5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FINALES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8572" y="6673276"/>
            <a:ext cx="9218357" cy="276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2039" indent="-171020" lvl="1">
              <a:lnSpc>
                <a:spcPts val="2217"/>
              </a:lnSpc>
              <a:buFont typeface="Arial"/>
              <a:buChar char="•"/>
            </a:pP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dpoints de administración completos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Aprobación y rechazo de registros, catálogos globales, métricas de cumplimiento e impersonación auditada.</a:t>
            </a:r>
          </a:p>
          <a:p>
            <a:pPr algn="l" marL="342039" indent="-171020" lvl="1">
              <a:lnSpc>
                <a:spcPts val="2217"/>
              </a:lnSpc>
              <a:buFont typeface="Arial"/>
              <a:buChar char="•"/>
            </a:pP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Módulo de suscripciones y pagos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Endpoints /planes, /suscripcion y /facturas, con la máquina de estados y el webhook de conciliación funcionando.</a:t>
            </a:r>
          </a:p>
          <a:p>
            <a:pPr algn="l" marL="342039" indent="-171020" lvl="1">
              <a:lnSpc>
                <a:spcPts val="2217"/>
              </a:lnSpc>
              <a:buFont typeface="Arial"/>
              <a:buChar char="•"/>
            </a:pPr>
            <a:r>
              <a:rPr lang="en-US" b="true" sz="1584" spc="3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Informe técnico y demostración funcional</a:t>
            </a:r>
          </a:p>
          <a:p>
            <a:pPr algn="l">
              <a:lnSpc>
                <a:spcPts val="2217"/>
              </a:lnSpc>
            </a:pPr>
            <a:r>
              <a:rPr lang="en-US" sz="1584" spc="3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Arquitectura implementada, decisiones de diseño del equipo y demo en vivo del sistema integrado.</a:t>
            </a:r>
          </a:p>
          <a:p>
            <a:pPr algn="l">
              <a:lnSpc>
                <a:spcPts val="2217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52710"/>
          </a:xfrm>
          <a:custGeom>
            <a:avLst/>
            <a:gdLst/>
            <a:ahLst/>
            <a:cxnLst/>
            <a:rect r="r" b="b" t="t" l="l"/>
            <a:pathLst>
              <a:path h="10252710" w="18288000">
                <a:moveTo>
                  <a:pt x="0" y="0"/>
                </a:moveTo>
                <a:lnTo>
                  <a:pt x="18288000" y="0"/>
                </a:lnTo>
                <a:lnTo>
                  <a:pt x="18288000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866" y="3414547"/>
            <a:ext cx="7670134" cy="4672304"/>
          </a:xfrm>
          <a:custGeom>
            <a:avLst/>
            <a:gdLst/>
            <a:ahLst/>
            <a:cxnLst/>
            <a:rect r="r" b="b" t="t" l="l"/>
            <a:pathLst>
              <a:path h="4672304" w="7670134">
                <a:moveTo>
                  <a:pt x="0" y="0"/>
                </a:moveTo>
                <a:lnTo>
                  <a:pt x="7670134" y="0"/>
                </a:lnTo>
                <a:lnTo>
                  <a:pt x="7670134" y="4672305"/>
                </a:lnTo>
                <a:lnTo>
                  <a:pt x="0" y="4672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873" t="0" r="-17873" b="-585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32016" y="1814455"/>
            <a:ext cx="7560299" cy="7443845"/>
            <a:chOff x="0" y="0"/>
            <a:chExt cx="1991190" cy="19605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1190" cy="1960519"/>
            </a:xfrm>
            <a:custGeom>
              <a:avLst/>
              <a:gdLst/>
              <a:ahLst/>
              <a:cxnLst/>
              <a:rect r="r" b="b" t="t" l="l"/>
              <a:pathLst>
                <a:path h="1960519" w="1991190">
                  <a:moveTo>
                    <a:pt x="0" y="0"/>
                  </a:moveTo>
                  <a:lnTo>
                    <a:pt x="1991190" y="0"/>
                  </a:lnTo>
                  <a:lnTo>
                    <a:pt x="1991190" y="1960519"/>
                  </a:lnTo>
                  <a:lnTo>
                    <a:pt x="0" y="1960519"/>
                  </a:lnTo>
                  <a:close/>
                </a:path>
              </a:pathLst>
            </a:custGeom>
            <a:solidFill>
              <a:srgbClr val="EFEEE9">
                <a:alpha val="9098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91190" cy="1960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38574" y="2359010"/>
            <a:ext cx="6747185" cy="1525356"/>
            <a:chOff x="0" y="0"/>
            <a:chExt cx="8996246" cy="203380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564699" y="227825"/>
              <a:ext cx="7431548" cy="619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3"/>
                </a:lnSpc>
              </a:pPr>
              <a:r>
                <a:rPr lang="en-US" sz="2535" spc="55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CONS</a:t>
              </a:r>
              <a:r>
                <a:rPr lang="en-US" sz="2535" spc="55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TRUIR EL MODELO ORM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64699" y="1134828"/>
              <a:ext cx="7359906" cy="8989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S</a:t>
              </a: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obre el esquema de base de datos ya especificado por Acredittia, punto de partida del que dependen los otros dos módulos.</a:t>
              </a:r>
            </a:p>
            <a:p>
              <a:pPr algn="l">
                <a:lnSpc>
                  <a:spcPts val="1818"/>
                </a:lnSpc>
              </a:pP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9625" cy="1279625"/>
            </a:xfrm>
            <a:custGeom>
              <a:avLst/>
              <a:gdLst/>
              <a:ahLst/>
              <a:cxnLst/>
              <a:rect r="r" b="b" t="t" l="l"/>
              <a:pathLst>
                <a:path h="1279625" w="1279625">
                  <a:moveTo>
                    <a:pt x="0" y="0"/>
                  </a:moveTo>
                  <a:lnTo>
                    <a:pt x="1279625" y="0"/>
                  </a:lnTo>
                  <a:lnTo>
                    <a:pt x="1279625" y="1279625"/>
                  </a:lnTo>
                  <a:lnTo>
                    <a:pt x="0" y="127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80" y="317867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84842" y="3833887"/>
            <a:ext cx="7274458" cy="4798732"/>
            <a:chOff x="0" y="0"/>
            <a:chExt cx="9699277" cy="639831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636340" y="237350"/>
              <a:ext cx="7431548" cy="61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4"/>
                </a:lnSpc>
              </a:pP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CO</a:t>
              </a: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ORDINAR CON ALLOXCENTRIC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636340" y="1134828"/>
              <a:ext cx="7359906" cy="594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G</a:t>
              </a: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estionar el acceso a las credenciales sandbox de la pasarela de pago, con gateway mockeado como plan B.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71642" y="0"/>
              <a:ext cx="1279625" cy="1279625"/>
            </a:xfrm>
            <a:custGeom>
              <a:avLst/>
              <a:gdLst/>
              <a:ahLst/>
              <a:cxnLst/>
              <a:rect r="r" b="b" t="t" l="l"/>
              <a:pathLst>
                <a:path h="1279625" w="1279625">
                  <a:moveTo>
                    <a:pt x="0" y="0"/>
                  </a:moveTo>
                  <a:lnTo>
                    <a:pt x="1279624" y="0"/>
                  </a:lnTo>
                  <a:lnTo>
                    <a:pt x="1279624" y="1279625"/>
                  </a:lnTo>
                  <a:lnTo>
                    <a:pt x="0" y="127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91322" y="317867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02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585723" y="2283858"/>
              <a:ext cx="8113554" cy="618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4"/>
                </a:lnSpc>
              </a:pP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AF</a:t>
              </a: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INAR CRITERIOS DE ACEPTACIÓN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85723" y="3181336"/>
              <a:ext cx="7359906" cy="594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D</a:t>
              </a: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efinir junto al docente los criterios de cada endpoint antes de comenzar la implementación.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1024" y="2046507"/>
              <a:ext cx="1279625" cy="1279625"/>
            </a:xfrm>
            <a:custGeom>
              <a:avLst/>
              <a:gdLst/>
              <a:ahLst/>
              <a:cxnLst/>
              <a:rect r="r" b="b" t="t" l="l"/>
              <a:pathLst>
                <a:path h="1279625" w="1279625">
                  <a:moveTo>
                    <a:pt x="0" y="0"/>
                  </a:moveTo>
                  <a:lnTo>
                    <a:pt x="1279625" y="0"/>
                  </a:lnTo>
                  <a:lnTo>
                    <a:pt x="1279625" y="1279625"/>
                  </a:lnTo>
                  <a:lnTo>
                    <a:pt x="0" y="127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40704" y="2364375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03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64699" y="4330365"/>
              <a:ext cx="8045265" cy="1291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4"/>
                </a:lnSpc>
              </a:pP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LLEGAR A F</a:t>
              </a:r>
              <a:r>
                <a:rPr lang="en-US" sz="2600" spc="57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ASE 2 CON AVANCE REAL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64699" y="5804131"/>
              <a:ext cx="7359906" cy="594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Mod</a:t>
              </a:r>
              <a:r>
                <a:rPr lang="en-US" sz="1299" spc="28">
                  <a:solidFill>
                    <a:srgbClr val="1E1E1E"/>
                  </a:solidFill>
                  <a:latin typeface="Raleway"/>
                  <a:ea typeface="Raleway"/>
                  <a:cs typeface="Raleway"/>
                  <a:sym typeface="Raleway"/>
                </a:rPr>
                <a:t>elo de datos migrado y los primeros endpoints de administración en desarrollo.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0" y="4093015"/>
              <a:ext cx="1279625" cy="1279625"/>
            </a:xfrm>
            <a:custGeom>
              <a:avLst/>
              <a:gdLst/>
              <a:ahLst/>
              <a:cxnLst/>
              <a:rect r="r" b="b" t="t" l="l"/>
              <a:pathLst>
                <a:path h="1279625" w="1279625">
                  <a:moveTo>
                    <a:pt x="0" y="0"/>
                  </a:moveTo>
                  <a:lnTo>
                    <a:pt x="1279625" y="0"/>
                  </a:lnTo>
                  <a:lnTo>
                    <a:pt x="1279625" y="1279624"/>
                  </a:lnTo>
                  <a:lnTo>
                    <a:pt x="0" y="1279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19680" y="4410882"/>
              <a:ext cx="1259944" cy="57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2620" spc="385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43831" y="2146808"/>
            <a:ext cx="2575045" cy="84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7"/>
              </a:lnSpc>
            </a:pPr>
            <a:r>
              <a:rPr lang="en-US" sz="539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CIERRE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3831" y="2907904"/>
            <a:ext cx="5150090" cy="38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 spc="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Próximos pasos hacia Fase 2...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09494" y="330565"/>
            <a:ext cx="2927925" cy="719782"/>
          </a:xfrm>
          <a:custGeom>
            <a:avLst/>
            <a:gdLst/>
            <a:ahLst/>
            <a:cxnLst/>
            <a:rect r="r" b="b" t="t" l="l"/>
            <a:pathLst>
              <a:path h="719782" w="2927925">
                <a:moveTo>
                  <a:pt x="0" y="0"/>
                </a:moveTo>
                <a:lnTo>
                  <a:pt x="2927926" y="0"/>
                </a:lnTo>
                <a:lnTo>
                  <a:pt x="2927926" y="719782"/>
                </a:lnTo>
                <a:lnTo>
                  <a:pt x="0" y="71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18420"/>
          </a:xfrm>
          <a:custGeom>
            <a:avLst/>
            <a:gdLst/>
            <a:ahLst/>
            <a:cxnLst/>
            <a:rect r="r" b="b" t="t" l="l"/>
            <a:pathLst>
              <a:path h="10218420" w="18288000">
                <a:moveTo>
                  <a:pt x="0" y="0"/>
                </a:moveTo>
                <a:lnTo>
                  <a:pt x="18288000" y="0"/>
                </a:lnTo>
                <a:lnTo>
                  <a:pt x="18288000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9443" y="1250950"/>
            <a:ext cx="15422937" cy="7730827"/>
            <a:chOff x="0" y="0"/>
            <a:chExt cx="4220887" cy="21157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0887" cy="2115742"/>
            </a:xfrm>
            <a:custGeom>
              <a:avLst/>
              <a:gdLst/>
              <a:ahLst/>
              <a:cxnLst/>
              <a:rect r="r" b="b" t="t" l="l"/>
              <a:pathLst>
                <a:path h="2115742" w="4220887">
                  <a:moveTo>
                    <a:pt x="0" y="0"/>
                  </a:moveTo>
                  <a:lnTo>
                    <a:pt x="4220887" y="0"/>
                  </a:lnTo>
                  <a:lnTo>
                    <a:pt x="4220887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>
                <a:alpha val="1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20887" cy="2163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27448" y="3688121"/>
            <a:ext cx="14833104" cy="285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8"/>
              </a:lnSpc>
            </a:pPr>
            <a:r>
              <a:rPr lang="en-US" b="true" sz="111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MUCHAS</a:t>
            </a:r>
          </a:p>
          <a:p>
            <a:pPr algn="ctr">
              <a:lnSpc>
                <a:spcPts val="10878"/>
              </a:lnSpc>
            </a:pPr>
            <a:r>
              <a:rPr lang="en-US" b="true" sz="111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DAHUHiicRsI</dc:identifier>
  <dcterms:modified xsi:type="dcterms:W3CDTF">2011-08-01T06:04:30Z</dcterms:modified>
  <cp:revision>1</cp:revision>
  <dc:title>Presentación Propuesta Proyecto Brief Moderno Profesional Negro y Blanco</dc:title>
</cp:coreProperties>
</file>