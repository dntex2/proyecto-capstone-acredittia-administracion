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slide+xml" PartName="/ppt/slides/slide14.xml"/>
  <Override ContentType="application/vnd.openxmlformats-officedocument.presentationml.slide+xml" PartName="/ppt/slides/slide15.xml"/>
  <Override ContentType="application/vnd.openxmlformats-officedocument.presentationml.slide+xml" PartName="/ppt/slides/slide16.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Lst>
  <p:sldSz cx="18288000" cy="10287000"/>
  <p:notesSz cx="6858000" cy="9144000"/>
  <p:embeddedFontLst>
    <p:embeddedFont>
      <p:font typeface="Montserrat Bold" charset="1" panose="00000800000000000000"/>
      <p:regular r:id="rId22"/>
    </p:embeddedFont>
    <p:embeddedFont>
      <p:font typeface="Montserrat Light" charset="1" panose="00000400000000000000"/>
      <p:regular r:id="rId23"/>
    </p:embeddedFont>
    <p:embeddedFont>
      <p:font typeface="Montserrat Italics" charset="1" panose="00000500000000000000"/>
      <p:regular r:id="rId24"/>
    </p:embeddedFont>
    <p:embeddedFont>
      <p:font typeface="Montserrat" charset="1" panose="00000500000000000000"/>
      <p:regular r:id="rId25"/>
    </p:embeddedFont>
    <p:embeddedFont>
      <p:font typeface="Montserrat Medium" charset="1" panose="00000600000000000000"/>
      <p:regular r:id="rId26"/>
    </p:embeddedFont>
    <p:embeddedFont>
      <p:font typeface="Calibri (MS) Bold" charset="1" panose="020F0702030404030204"/>
      <p:regular r:id="rId27"/>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slides/slide13.xml" Type="http://schemas.openxmlformats.org/officeDocument/2006/relationships/slide"/><Relationship Id="rId19" Target="slides/slide14.xml" Type="http://schemas.openxmlformats.org/officeDocument/2006/relationships/slide"/><Relationship Id="rId2" Target="presProps.xml" Type="http://schemas.openxmlformats.org/officeDocument/2006/relationships/presProps"/><Relationship Id="rId20" Target="slides/slide15.xml" Type="http://schemas.openxmlformats.org/officeDocument/2006/relationships/slide"/><Relationship Id="rId21" Target="slides/slide16.xml" Type="http://schemas.openxmlformats.org/officeDocument/2006/relationships/slide"/><Relationship Id="rId22" Target="fonts/font22.fntdata" Type="http://schemas.openxmlformats.org/officeDocument/2006/relationships/font"/><Relationship Id="rId23" Target="fonts/font23.fntdata" Type="http://schemas.openxmlformats.org/officeDocument/2006/relationships/font"/><Relationship Id="rId24" Target="fonts/font24.fntdata" Type="http://schemas.openxmlformats.org/officeDocument/2006/relationships/font"/><Relationship Id="rId25" Target="fonts/font25.fntdata" Type="http://schemas.openxmlformats.org/officeDocument/2006/relationships/font"/><Relationship Id="rId26" Target="fonts/font26.fntdata" Type="http://schemas.openxmlformats.org/officeDocument/2006/relationships/font"/><Relationship Id="rId27" Target="fonts/font27.fntdata" Type="http://schemas.openxmlformats.org/officeDocument/2006/relationships/font"/><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pn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jpeg" Type="http://schemas.openxmlformats.org/officeDocument/2006/relationships/image"/><Relationship Id="rId3" Target="../media/image4.png" Type="http://schemas.openxmlformats.org/officeDocument/2006/relationships/image"/><Relationship Id="rId4" Target="../media/image5.jpe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6.jpeg" Type="http://schemas.openxmlformats.org/officeDocument/2006/relationships/image"/><Relationship Id="rId3" Target="../media/image4.png" Type="http://schemas.openxmlformats.org/officeDocument/2006/relationships/image"/><Relationship Id="rId4" Target="../media/image5.jpe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7.jpe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8.jpeg" Type="http://schemas.openxmlformats.org/officeDocument/2006/relationships/image"/><Relationship Id="rId3" Target="../media/image9.png" Type="http://schemas.openxmlformats.org/officeDocument/2006/relationships/image"/><Relationship Id="rId4" Target="../media/image5.jpeg" Type="http://schemas.openxmlformats.org/officeDocument/2006/relationships/image"/><Relationship Id="rId5" Target="../media/image10.pn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1.jpeg" Type="http://schemas.openxmlformats.org/officeDocument/2006/relationships/image"/><Relationship Id="rId3" Target="../media/image5.jpe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7.jpeg" Type="http://schemas.openxmlformats.org/officeDocument/2006/relationships/image"/><Relationship Id="rId3" Target="../media/image5.jpe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2.jpeg" Type="http://schemas.openxmlformats.org/officeDocument/2006/relationships/image"/><Relationship Id="rId3" Target="../media/image5.jpe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3.jpeg" Type="http://schemas.openxmlformats.org/officeDocument/2006/relationships/image"/><Relationship Id="rId3" Target="../media/image14.png" Type="http://schemas.openxmlformats.org/officeDocument/2006/relationships/image"/><Relationship Id="rId4" Target="../media/image15.png" Type="http://schemas.openxmlformats.org/officeDocument/2006/relationships/image"/><Relationship Id="rId5" Target="../media/image16.png" Type="http://schemas.openxmlformats.org/officeDocument/2006/relationships/image"/><Relationship Id="rId6" Target="../media/image17.png" Type="http://schemas.openxmlformats.org/officeDocument/2006/relationships/image"/><Relationship Id="rId7" Target="../media/image5.jpe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8.jpeg" Type="http://schemas.openxmlformats.org/officeDocument/2006/relationships/image"/><Relationship Id="rId3" Target="../media/image19.png" Type="http://schemas.openxmlformats.org/officeDocument/2006/relationships/image"/><Relationship Id="rId4" Target="../media/image17.png" Type="http://schemas.openxmlformats.org/officeDocument/2006/relationships/image"/><Relationship Id="rId5" Target="../media/image5.jpe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2.jpeg" Type="http://schemas.openxmlformats.org/officeDocument/2006/relationships/image"/><Relationship Id="rId3" Target="../media/image20.png" Type="http://schemas.openxmlformats.org/officeDocument/2006/relationships/image"/><Relationship Id="rId4" Target="../media/image17.png" Type="http://schemas.openxmlformats.org/officeDocument/2006/relationships/image"/><Relationship Id="rId5" Target="../media/image5.jpeg" Type="http://schemas.openxmlformats.org/officeDocument/2006/relationships/image"/></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7.jpeg" Type="http://schemas.openxmlformats.org/officeDocument/2006/relationships/image"/><Relationship Id="rId3" Target="../media/image21.png" Type="http://schemas.openxmlformats.org/officeDocument/2006/relationships/image"/><Relationship Id="rId4" Target="../media/image19.png" Type="http://schemas.openxmlformats.org/officeDocument/2006/relationships/image"/></Relationships>
</file>

<file path=ppt/slides/_rels/slide1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3.jpeg" Type="http://schemas.openxmlformats.org/officeDocument/2006/relationships/image"/><Relationship Id="rId3" Target="../media/image22.png" Type="http://schemas.openxmlformats.org/officeDocument/2006/relationships/image"/><Relationship Id="rId4" Target="../media/image5.jpeg" Type="http://schemas.openxmlformats.org/officeDocument/2006/relationships/image"/><Relationship Id="rId5" Target="../media/image23.png" Type="http://schemas.openxmlformats.org/officeDocument/2006/relationships/image"/></Relationships>
</file>

<file path=ppt/slides/_rels/slide1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8.jpeg" Type="http://schemas.openxmlformats.org/officeDocument/2006/relationships/image"/><Relationship Id="rId3" Target="../media/image4.png" Type="http://schemas.openxmlformats.org/officeDocument/2006/relationships/image"/><Relationship Id="rId4" Target="../media/image5.jpeg" Type="http://schemas.openxmlformats.org/officeDocument/2006/relationships/image"/></Relationships>
</file>

<file path=ppt/slides/_rels/slide1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4.jpeg" Type="http://schemas.openxmlformats.org/officeDocument/2006/relationships/image"/><Relationship Id="rId3" Target="../media/image19.png" Type="http://schemas.openxmlformats.org/officeDocument/2006/relationships/image"/></Relationships>
</file>

<file path=ppt/slides/_rels/slide1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3.jpeg" Type="http://schemas.openxmlformats.org/officeDocument/2006/relationships/image"/><Relationship Id="rId3" Target="../media/image5.jpe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24384000" cy="13716000"/>
          </a:xfrm>
        </p:grpSpPr>
        <p:sp>
          <p:nvSpPr>
            <p:cNvPr name="Freeform 3" id="3"/>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lnTo>
                    <a:pt x="0" y="0"/>
                  </a:lnTo>
                  <a:close/>
                </a:path>
              </a:pathLst>
            </a:custGeom>
            <a:blipFill>
              <a:blip r:embed="rId2"/>
              <a:stretch>
                <a:fillRect l="0" t="-666" r="0" b="-666"/>
              </a:stretch>
            </a:blipFill>
          </p:spPr>
        </p:sp>
      </p:grpSp>
      <p:grpSp>
        <p:nvGrpSpPr>
          <p:cNvPr name="Group 4" id="4"/>
          <p:cNvGrpSpPr/>
          <p:nvPr/>
        </p:nvGrpSpPr>
        <p:grpSpPr>
          <a:xfrm rot="0">
            <a:off x="14338449" y="750399"/>
            <a:ext cx="195177" cy="155438"/>
            <a:chOff x="0" y="0"/>
            <a:chExt cx="260236" cy="207251"/>
          </a:xfrm>
        </p:grpSpPr>
        <p:sp>
          <p:nvSpPr>
            <p:cNvPr name="Freeform 5" id="5"/>
            <p:cNvSpPr/>
            <p:nvPr/>
          </p:nvSpPr>
          <p:spPr>
            <a:xfrm flipH="false" flipV="false" rot="0">
              <a:off x="0" y="0"/>
              <a:ext cx="260223" cy="207264"/>
            </a:xfrm>
            <a:custGeom>
              <a:avLst/>
              <a:gdLst/>
              <a:ahLst/>
              <a:cxnLst/>
              <a:rect r="r" b="b" t="t" l="l"/>
              <a:pathLst>
                <a:path h="207264" w="260223">
                  <a:moveTo>
                    <a:pt x="0" y="0"/>
                  </a:moveTo>
                  <a:lnTo>
                    <a:pt x="260223" y="0"/>
                  </a:lnTo>
                  <a:lnTo>
                    <a:pt x="260223" y="207264"/>
                  </a:lnTo>
                  <a:lnTo>
                    <a:pt x="0" y="207264"/>
                  </a:lnTo>
                  <a:lnTo>
                    <a:pt x="0" y="0"/>
                  </a:lnTo>
                  <a:close/>
                </a:path>
              </a:pathLst>
            </a:custGeom>
            <a:solidFill>
              <a:srgbClr val="00C4CC"/>
            </a:solidFill>
          </p:spPr>
        </p:sp>
      </p:grpSp>
      <p:grpSp>
        <p:nvGrpSpPr>
          <p:cNvPr name="Group 6" id="6"/>
          <p:cNvGrpSpPr/>
          <p:nvPr/>
        </p:nvGrpSpPr>
        <p:grpSpPr>
          <a:xfrm rot="0">
            <a:off x="266100" y="295694"/>
            <a:ext cx="2904725" cy="650538"/>
            <a:chOff x="0" y="0"/>
            <a:chExt cx="3872967" cy="867385"/>
          </a:xfrm>
        </p:grpSpPr>
        <p:sp>
          <p:nvSpPr>
            <p:cNvPr name="Freeform 7" id="7"/>
            <p:cNvSpPr/>
            <p:nvPr/>
          </p:nvSpPr>
          <p:spPr>
            <a:xfrm flipH="false" flipV="false" rot="0">
              <a:off x="0" y="0"/>
              <a:ext cx="3872992" cy="867410"/>
            </a:xfrm>
            <a:custGeom>
              <a:avLst/>
              <a:gdLst/>
              <a:ahLst/>
              <a:cxnLst/>
              <a:rect r="r" b="b" t="t" l="l"/>
              <a:pathLst>
                <a:path h="867410" w="3872992">
                  <a:moveTo>
                    <a:pt x="0" y="0"/>
                  </a:moveTo>
                  <a:lnTo>
                    <a:pt x="3872992" y="0"/>
                  </a:lnTo>
                  <a:lnTo>
                    <a:pt x="3872992" y="867410"/>
                  </a:lnTo>
                  <a:lnTo>
                    <a:pt x="0" y="867410"/>
                  </a:lnTo>
                  <a:lnTo>
                    <a:pt x="0" y="0"/>
                  </a:lnTo>
                  <a:close/>
                </a:path>
              </a:pathLst>
            </a:custGeom>
            <a:blipFill>
              <a:blip r:embed="rId3"/>
              <a:stretch>
                <a:fillRect l="0" t="-366" r="0" b="-363"/>
              </a:stretch>
            </a:blipFill>
          </p:spPr>
        </p:sp>
      </p:grpSp>
      <p:sp>
        <p:nvSpPr>
          <p:cNvPr name="TextBox 8" id="8"/>
          <p:cNvSpPr txBox="true"/>
          <p:nvPr/>
        </p:nvSpPr>
        <p:spPr>
          <a:xfrm rot="0">
            <a:off x="2377230" y="2151345"/>
            <a:ext cx="13533539" cy="2248643"/>
          </a:xfrm>
          <a:prstGeom prst="rect">
            <a:avLst/>
          </a:prstGeom>
        </p:spPr>
        <p:txBody>
          <a:bodyPr anchor="t" rtlCol="false" tIns="0" lIns="0" bIns="0" rIns="0">
            <a:spAutoFit/>
          </a:bodyPr>
          <a:lstStyle/>
          <a:p>
            <a:pPr algn="ctr">
              <a:lnSpc>
                <a:spcPts val="18043"/>
              </a:lnSpc>
            </a:pPr>
            <a:r>
              <a:rPr lang="en-US" b="true" sz="15291" spc="489">
                <a:solidFill>
                  <a:srgbClr val="FFFFFF"/>
                </a:solidFill>
                <a:latin typeface="Montserrat Bold"/>
                <a:ea typeface="Montserrat Bold"/>
                <a:cs typeface="Montserrat Bold"/>
                <a:sym typeface="Montserrat Bold"/>
              </a:rPr>
              <a:t>ACREDITTIA</a:t>
            </a:r>
          </a:p>
        </p:txBody>
      </p:sp>
      <p:sp>
        <p:nvSpPr>
          <p:cNvPr name="TextBox 9" id="9"/>
          <p:cNvSpPr txBox="true"/>
          <p:nvPr/>
        </p:nvSpPr>
        <p:spPr>
          <a:xfrm rot="0">
            <a:off x="4830975" y="5017484"/>
            <a:ext cx="8626050" cy="696992"/>
          </a:xfrm>
          <a:prstGeom prst="rect">
            <a:avLst/>
          </a:prstGeom>
        </p:spPr>
        <p:txBody>
          <a:bodyPr anchor="t" rtlCol="false" tIns="0" lIns="0" bIns="0" rIns="0">
            <a:spAutoFit/>
          </a:bodyPr>
          <a:lstStyle/>
          <a:p>
            <a:pPr algn="ctr">
              <a:lnSpc>
                <a:spcPts val="5642"/>
              </a:lnSpc>
            </a:pPr>
            <a:r>
              <a:rPr lang="en-US" sz="4781">
                <a:solidFill>
                  <a:srgbClr val="FFFFFF"/>
                </a:solidFill>
                <a:latin typeface="Montserrat Light"/>
                <a:ea typeface="Montserrat Light"/>
                <a:cs typeface="Montserrat Light"/>
                <a:sym typeface="Montserrat Light"/>
              </a:rPr>
              <a:t>DEL NEGOCIO</a:t>
            </a:r>
          </a:p>
        </p:txBody>
      </p:sp>
      <p:sp>
        <p:nvSpPr>
          <p:cNvPr name="TextBox 10" id="10"/>
          <p:cNvSpPr txBox="true"/>
          <p:nvPr/>
        </p:nvSpPr>
        <p:spPr>
          <a:xfrm rot="0">
            <a:off x="14329953" y="9421339"/>
            <a:ext cx="3705873" cy="377828"/>
          </a:xfrm>
          <a:prstGeom prst="rect">
            <a:avLst/>
          </a:prstGeom>
        </p:spPr>
        <p:txBody>
          <a:bodyPr anchor="t" rtlCol="false" tIns="0" lIns="0" bIns="0" rIns="0">
            <a:spAutoFit/>
          </a:bodyPr>
          <a:lstStyle/>
          <a:p>
            <a:pPr algn="l">
              <a:lnSpc>
                <a:spcPts val="2800"/>
              </a:lnSpc>
            </a:pPr>
            <a:r>
              <a:rPr lang="en-US" sz="2000" i="true">
                <a:solidFill>
                  <a:srgbClr val="FFFFFF"/>
                </a:solidFill>
                <a:latin typeface="Montserrat Italics"/>
                <a:ea typeface="Montserrat Italics"/>
                <a:cs typeface="Montserrat Italics"/>
                <a:sym typeface="Montserrat Italics"/>
              </a:rPr>
              <a:t>Asignatura PTY4614 300D</a:t>
            </a:r>
          </a:p>
        </p:txBody>
      </p:sp>
      <p:sp>
        <p:nvSpPr>
          <p:cNvPr name="TextBox 11" id="11"/>
          <p:cNvSpPr txBox="true"/>
          <p:nvPr/>
        </p:nvSpPr>
        <p:spPr>
          <a:xfrm rot="0">
            <a:off x="4830975" y="4572524"/>
            <a:ext cx="8626050" cy="406860"/>
          </a:xfrm>
          <a:prstGeom prst="rect">
            <a:avLst/>
          </a:prstGeom>
        </p:spPr>
        <p:txBody>
          <a:bodyPr anchor="t" rtlCol="false" tIns="0" lIns="0" bIns="0" rIns="0">
            <a:spAutoFit/>
          </a:bodyPr>
          <a:lstStyle/>
          <a:p>
            <a:pPr algn="ctr">
              <a:lnSpc>
                <a:spcPts val="3164"/>
              </a:lnSpc>
            </a:pPr>
            <a:r>
              <a:rPr lang="en-US" sz="2681" b="true">
                <a:solidFill>
                  <a:srgbClr val="FFFFFF"/>
                </a:solidFill>
                <a:latin typeface="Montserrat Bold"/>
                <a:ea typeface="Montserrat Bold"/>
                <a:cs typeface="Montserrat Bold"/>
                <a:sym typeface="Montserrat Bold"/>
              </a:rPr>
              <a:t>ADMINISTRACIÓN</a:t>
            </a:r>
          </a:p>
        </p:txBody>
      </p:sp>
      <p:grpSp>
        <p:nvGrpSpPr>
          <p:cNvPr name="Group 12" id="12"/>
          <p:cNvGrpSpPr/>
          <p:nvPr/>
        </p:nvGrpSpPr>
        <p:grpSpPr>
          <a:xfrm rot="0">
            <a:off x="320040" y="7178040"/>
            <a:ext cx="7863840" cy="2240280"/>
            <a:chOff x="0" y="0"/>
            <a:chExt cx="10485120" cy="2987040"/>
          </a:xfrm>
        </p:grpSpPr>
        <p:sp>
          <p:nvSpPr>
            <p:cNvPr name="Freeform 13" id="13"/>
            <p:cNvSpPr/>
            <p:nvPr/>
          </p:nvSpPr>
          <p:spPr>
            <a:xfrm flipH="false" flipV="false" rot="0">
              <a:off x="0" y="0"/>
              <a:ext cx="10485120" cy="2987040"/>
            </a:xfrm>
            <a:custGeom>
              <a:avLst/>
              <a:gdLst/>
              <a:ahLst/>
              <a:cxnLst/>
              <a:rect r="r" b="b" t="t" l="l"/>
              <a:pathLst>
                <a:path h="2987040" w="10485120">
                  <a:moveTo>
                    <a:pt x="0" y="358394"/>
                  </a:moveTo>
                  <a:cubicBezTo>
                    <a:pt x="0" y="160528"/>
                    <a:pt x="160528" y="0"/>
                    <a:pt x="358394" y="0"/>
                  </a:cubicBezTo>
                  <a:lnTo>
                    <a:pt x="10126726" y="0"/>
                  </a:lnTo>
                  <a:cubicBezTo>
                    <a:pt x="10324719" y="0"/>
                    <a:pt x="10485120" y="160528"/>
                    <a:pt x="10485120" y="358394"/>
                  </a:cubicBezTo>
                  <a:lnTo>
                    <a:pt x="10485120" y="2628646"/>
                  </a:lnTo>
                  <a:cubicBezTo>
                    <a:pt x="10485120" y="2826639"/>
                    <a:pt x="10324592" y="2987040"/>
                    <a:pt x="10126726" y="2987040"/>
                  </a:cubicBezTo>
                  <a:lnTo>
                    <a:pt x="358394" y="2987040"/>
                  </a:lnTo>
                  <a:cubicBezTo>
                    <a:pt x="160528" y="2987040"/>
                    <a:pt x="0" y="2826512"/>
                    <a:pt x="0" y="2628646"/>
                  </a:cubicBezTo>
                  <a:close/>
                </a:path>
              </a:pathLst>
            </a:custGeom>
            <a:solidFill>
              <a:srgbClr val="15193A">
                <a:alpha val="51765"/>
              </a:srgbClr>
            </a:solidFill>
          </p:spPr>
        </p:sp>
      </p:grpSp>
      <p:sp>
        <p:nvSpPr>
          <p:cNvPr name="TextBox 14" id="14"/>
          <p:cNvSpPr txBox="true"/>
          <p:nvPr/>
        </p:nvSpPr>
        <p:spPr>
          <a:xfrm rot="0">
            <a:off x="594360" y="7286625"/>
            <a:ext cx="7498080" cy="2131695"/>
          </a:xfrm>
          <a:prstGeom prst="rect">
            <a:avLst/>
          </a:prstGeom>
        </p:spPr>
        <p:txBody>
          <a:bodyPr anchor="t" rtlCol="false" tIns="0" lIns="0" bIns="0" rIns="0">
            <a:spAutoFit/>
          </a:bodyPr>
          <a:lstStyle/>
          <a:p>
            <a:pPr algn="l">
              <a:lnSpc>
                <a:spcPts val="2483"/>
              </a:lnSpc>
            </a:pPr>
            <a:r>
              <a:rPr lang="en-US" sz="1800" b="true">
                <a:solidFill>
                  <a:srgbClr val="FFFFFF"/>
                </a:solidFill>
                <a:latin typeface="Montserrat Bold"/>
                <a:ea typeface="Montserrat Bold"/>
                <a:cs typeface="Montserrat Bold"/>
                <a:sym typeface="Montserrat Bold"/>
              </a:rPr>
              <a:t>Integrantes</a:t>
            </a:r>
          </a:p>
          <a:p>
            <a:pPr algn="l">
              <a:lnSpc>
                <a:spcPts val="1932"/>
              </a:lnSpc>
            </a:pPr>
            <a:r>
              <a:rPr lang="en-US" sz="1400" b="true">
                <a:solidFill>
                  <a:srgbClr val="FFFFFF"/>
                </a:solidFill>
                <a:latin typeface="Montserrat Bold"/>
                <a:ea typeface="Montserrat Bold"/>
                <a:cs typeface="Montserrat Bold"/>
                <a:sym typeface="Montserrat Bold"/>
              </a:rPr>
              <a:t>David Martinez</a:t>
            </a:r>
            <a:r>
              <a:rPr lang="en-US" sz="1400">
                <a:solidFill>
                  <a:srgbClr val="FFFFFF"/>
                </a:solidFill>
                <a:latin typeface="Montserrat"/>
                <a:ea typeface="Montserrat"/>
                <a:cs typeface="Montserrat"/>
                <a:sym typeface="Montserrat"/>
              </a:rPr>
              <a:t> · Modelo de datos, integración y despliegue</a:t>
            </a:r>
          </a:p>
          <a:p>
            <a:pPr algn="l">
              <a:lnSpc>
                <a:spcPts val="1932"/>
              </a:lnSpc>
            </a:pPr>
            <a:r>
              <a:rPr lang="en-US" sz="1400" b="true">
                <a:solidFill>
                  <a:srgbClr val="FFFFFF"/>
                </a:solidFill>
                <a:latin typeface="Montserrat Bold"/>
                <a:ea typeface="Montserrat Bold"/>
                <a:cs typeface="Montserrat Bold"/>
                <a:sym typeface="Montserrat Bold"/>
              </a:rPr>
              <a:t>Jean Arriagada</a:t>
            </a:r>
            <a:r>
              <a:rPr lang="en-US" sz="1400">
                <a:solidFill>
                  <a:srgbClr val="FFFFFF"/>
                </a:solidFill>
                <a:latin typeface="Montserrat"/>
                <a:ea typeface="Montserrat"/>
                <a:cs typeface="Montserrat"/>
                <a:sym typeface="Montserrat"/>
              </a:rPr>
              <a:t> · Módulo de administración</a:t>
            </a:r>
          </a:p>
          <a:p>
            <a:pPr algn="l">
              <a:lnSpc>
                <a:spcPts val="1932"/>
              </a:lnSpc>
            </a:pPr>
            <a:r>
              <a:rPr lang="en-US" sz="1400" b="true">
                <a:solidFill>
                  <a:srgbClr val="FFFFFF"/>
                </a:solidFill>
                <a:latin typeface="Montserrat Bold"/>
                <a:ea typeface="Montserrat Bold"/>
                <a:cs typeface="Montserrat Bold"/>
                <a:sym typeface="Montserrat Bold"/>
              </a:rPr>
              <a:t>Oscar Bustamante</a:t>
            </a:r>
            <a:r>
              <a:rPr lang="en-US" sz="1400">
                <a:solidFill>
                  <a:srgbClr val="FFFFFF"/>
                </a:solidFill>
                <a:latin typeface="Montserrat"/>
                <a:ea typeface="Montserrat"/>
                <a:cs typeface="Montserrat"/>
                <a:sym typeface="Montserrat"/>
              </a:rPr>
              <a:t> · Suscripciones y pagos</a:t>
            </a:r>
          </a:p>
          <a:p>
            <a:pPr algn="l">
              <a:lnSpc>
                <a:spcPts val="1932"/>
              </a:lnSpc>
            </a:pPr>
            <a:r>
              <a:rPr lang="en-US" sz="1400" b="true">
                <a:solidFill>
                  <a:srgbClr val="FFFFFF"/>
                </a:solidFill>
                <a:latin typeface="Montserrat Bold"/>
                <a:ea typeface="Montserrat Bold"/>
                <a:cs typeface="Montserrat Bold"/>
                <a:sym typeface="Montserrat Bold"/>
              </a:rPr>
              <a:t>Docente: </a:t>
            </a:r>
            <a:r>
              <a:rPr lang="en-US" sz="1400">
                <a:solidFill>
                  <a:srgbClr val="FFFFFF"/>
                </a:solidFill>
                <a:latin typeface="Montserrat"/>
                <a:ea typeface="Montserrat"/>
                <a:cs typeface="Montserrat"/>
                <a:sym typeface="Montserrat"/>
              </a:rPr>
              <a:t>Claudia Reinoso Hurtado</a:t>
            </a:r>
          </a:p>
          <a:p>
            <a:pPr algn="l">
              <a:lnSpc>
                <a:spcPts val="1932"/>
              </a:lnSpc>
            </a:pPr>
            <a:r>
              <a:rPr lang="en-US" sz="1400" b="true">
                <a:solidFill>
                  <a:srgbClr val="FFFFFF"/>
                </a:solidFill>
                <a:latin typeface="Montserrat Bold"/>
                <a:ea typeface="Montserrat Bold"/>
                <a:cs typeface="Montserrat Bold"/>
                <a:sym typeface="Montserrat Bold"/>
              </a:rPr>
              <a:t>Repositorio: </a:t>
            </a:r>
            <a:r>
              <a:rPr lang="en-US" sz="1400">
                <a:solidFill>
                  <a:srgbClr val="FFFFFF"/>
                </a:solidFill>
                <a:latin typeface="Montserrat"/>
                <a:ea typeface="Montserrat"/>
                <a:cs typeface="Montserrat"/>
                <a:sym typeface="Montserrat"/>
              </a:rPr>
              <a:t>github.com/Dntex2/proyecto-capstone-acredittia-administracion</a:t>
            </a: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24384000" cy="13716000"/>
          </a:xfrm>
        </p:grpSpPr>
        <p:sp>
          <p:nvSpPr>
            <p:cNvPr name="Freeform 3" id="3" descr="fondo9_75.jpg"/>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lnTo>
                    <a:pt x="0" y="0"/>
                  </a:lnTo>
                  <a:close/>
                </a:path>
              </a:pathLst>
            </a:custGeom>
            <a:blipFill>
              <a:blip r:embed="rId2"/>
              <a:stretch>
                <a:fillRect l="0" t="-666" r="0" b="-666"/>
              </a:stretch>
            </a:blipFill>
          </p:spPr>
        </p:sp>
      </p:grpSp>
      <p:sp>
        <p:nvSpPr>
          <p:cNvPr name="TextBox 4" id="4"/>
          <p:cNvSpPr txBox="true"/>
          <p:nvPr/>
        </p:nvSpPr>
        <p:spPr>
          <a:xfrm rot="0">
            <a:off x="914400" y="355473"/>
            <a:ext cx="16459200" cy="760095"/>
          </a:xfrm>
          <a:prstGeom prst="rect">
            <a:avLst/>
          </a:prstGeom>
        </p:spPr>
        <p:txBody>
          <a:bodyPr anchor="t" rtlCol="false" tIns="0" lIns="0" bIns="0" rIns="0">
            <a:spAutoFit/>
          </a:bodyPr>
          <a:lstStyle/>
          <a:p>
            <a:pPr algn="ctr">
              <a:lnSpc>
                <a:spcPts val="3960"/>
              </a:lnSpc>
            </a:pPr>
            <a:r>
              <a:rPr lang="en-US" sz="3000">
                <a:solidFill>
                  <a:srgbClr val="FFFFFF"/>
                </a:solidFill>
                <a:latin typeface="Montserrat Light"/>
                <a:ea typeface="Montserrat Light"/>
                <a:cs typeface="Montserrat Light"/>
                <a:sym typeface="Montserrat Light"/>
              </a:rPr>
              <a:t>RESUMEN DEL PROYECTO</a:t>
            </a:r>
          </a:p>
        </p:txBody>
      </p:sp>
      <p:sp>
        <p:nvSpPr>
          <p:cNvPr name="TextBox 5" id="5"/>
          <p:cNvSpPr txBox="true"/>
          <p:nvPr/>
        </p:nvSpPr>
        <p:spPr>
          <a:xfrm rot="0">
            <a:off x="914400" y="912495"/>
            <a:ext cx="16459200" cy="1144905"/>
          </a:xfrm>
          <a:prstGeom prst="rect">
            <a:avLst/>
          </a:prstGeom>
        </p:spPr>
        <p:txBody>
          <a:bodyPr anchor="t" rtlCol="false" tIns="0" lIns="0" bIns="0" rIns="0">
            <a:spAutoFit/>
          </a:bodyPr>
          <a:lstStyle/>
          <a:p>
            <a:pPr algn="ctr">
              <a:lnSpc>
                <a:spcPts val="6863"/>
              </a:lnSpc>
            </a:pPr>
            <a:r>
              <a:rPr lang="en-US" sz="5199" b="true">
                <a:solidFill>
                  <a:srgbClr val="FFFFFF"/>
                </a:solidFill>
                <a:latin typeface="Montserrat Bold"/>
                <a:ea typeface="Montserrat Bold"/>
                <a:cs typeface="Montserrat Bold"/>
                <a:sym typeface="Montserrat Bold"/>
              </a:rPr>
              <a:t>ABSTRACT</a:t>
            </a:r>
          </a:p>
        </p:txBody>
      </p:sp>
      <p:grpSp>
        <p:nvGrpSpPr>
          <p:cNvPr name="Group 6" id="6"/>
          <p:cNvGrpSpPr/>
          <p:nvPr/>
        </p:nvGrpSpPr>
        <p:grpSpPr>
          <a:xfrm rot="0">
            <a:off x="914400" y="2606040"/>
            <a:ext cx="7955280" cy="7223760"/>
            <a:chOff x="0" y="0"/>
            <a:chExt cx="10607040" cy="9631680"/>
          </a:xfrm>
        </p:grpSpPr>
        <p:sp>
          <p:nvSpPr>
            <p:cNvPr name="Freeform 7" id="7"/>
            <p:cNvSpPr/>
            <p:nvPr/>
          </p:nvSpPr>
          <p:spPr>
            <a:xfrm flipH="false" flipV="false" rot="0">
              <a:off x="0" y="0"/>
              <a:ext cx="10607040" cy="9631680"/>
            </a:xfrm>
            <a:custGeom>
              <a:avLst/>
              <a:gdLst/>
              <a:ahLst/>
              <a:cxnLst/>
              <a:rect r="r" b="b" t="t" l="l"/>
              <a:pathLst>
                <a:path h="9631680" w="10607040">
                  <a:moveTo>
                    <a:pt x="0" y="1155827"/>
                  </a:moveTo>
                  <a:cubicBezTo>
                    <a:pt x="0" y="517525"/>
                    <a:pt x="517525" y="0"/>
                    <a:pt x="1155827" y="0"/>
                  </a:cubicBezTo>
                  <a:lnTo>
                    <a:pt x="9451213" y="0"/>
                  </a:lnTo>
                  <a:cubicBezTo>
                    <a:pt x="10089515" y="0"/>
                    <a:pt x="10607040" y="517525"/>
                    <a:pt x="10607040" y="1155827"/>
                  </a:cubicBezTo>
                  <a:lnTo>
                    <a:pt x="10607040" y="8475853"/>
                  </a:lnTo>
                  <a:cubicBezTo>
                    <a:pt x="10607040" y="9114155"/>
                    <a:pt x="10089515" y="9631680"/>
                    <a:pt x="9451213" y="9631680"/>
                  </a:cubicBezTo>
                  <a:lnTo>
                    <a:pt x="1155827" y="9631680"/>
                  </a:lnTo>
                  <a:cubicBezTo>
                    <a:pt x="517525" y="9631680"/>
                    <a:pt x="0" y="9114155"/>
                    <a:pt x="0" y="8475853"/>
                  </a:cubicBezTo>
                  <a:close/>
                </a:path>
              </a:pathLst>
            </a:custGeom>
            <a:solidFill>
              <a:srgbClr val="15193A"/>
            </a:solidFill>
          </p:spPr>
        </p:sp>
      </p:grpSp>
      <p:grpSp>
        <p:nvGrpSpPr>
          <p:cNvPr name="Group 8" id="8"/>
          <p:cNvGrpSpPr/>
          <p:nvPr/>
        </p:nvGrpSpPr>
        <p:grpSpPr>
          <a:xfrm rot="0">
            <a:off x="1325880" y="2926080"/>
            <a:ext cx="868680" cy="868680"/>
            <a:chOff x="0" y="0"/>
            <a:chExt cx="1158240" cy="1158240"/>
          </a:xfrm>
        </p:grpSpPr>
        <p:sp>
          <p:nvSpPr>
            <p:cNvPr name="Freeform 9" id="9" descr="image6.png"/>
            <p:cNvSpPr/>
            <p:nvPr/>
          </p:nvSpPr>
          <p:spPr>
            <a:xfrm flipH="false" flipV="false" rot="0">
              <a:off x="0" y="0"/>
              <a:ext cx="1158240" cy="1158240"/>
            </a:xfrm>
            <a:custGeom>
              <a:avLst/>
              <a:gdLst/>
              <a:ahLst/>
              <a:cxnLst/>
              <a:rect r="r" b="b" t="t" l="l"/>
              <a:pathLst>
                <a:path h="1158240" w="1158240">
                  <a:moveTo>
                    <a:pt x="0" y="0"/>
                  </a:moveTo>
                  <a:lnTo>
                    <a:pt x="1158240" y="0"/>
                  </a:lnTo>
                  <a:lnTo>
                    <a:pt x="1158240" y="1158240"/>
                  </a:lnTo>
                  <a:lnTo>
                    <a:pt x="0" y="1158240"/>
                  </a:lnTo>
                  <a:lnTo>
                    <a:pt x="0" y="0"/>
                  </a:lnTo>
                  <a:close/>
                </a:path>
              </a:pathLst>
            </a:custGeom>
            <a:blipFill>
              <a:blip r:embed="rId3"/>
              <a:stretch>
                <a:fillRect l="0" t="0" r="0" b="0"/>
              </a:stretch>
            </a:blipFill>
          </p:spPr>
        </p:sp>
      </p:grpSp>
      <p:grpSp>
        <p:nvGrpSpPr>
          <p:cNvPr name="Group 10" id="10"/>
          <p:cNvGrpSpPr/>
          <p:nvPr/>
        </p:nvGrpSpPr>
        <p:grpSpPr>
          <a:xfrm rot="0">
            <a:off x="1325880" y="2926080"/>
            <a:ext cx="868680" cy="868680"/>
            <a:chOff x="0" y="0"/>
            <a:chExt cx="1158240" cy="1158240"/>
          </a:xfrm>
        </p:grpSpPr>
        <p:sp>
          <p:nvSpPr>
            <p:cNvPr name="Freeform 11" id="11"/>
            <p:cNvSpPr/>
            <p:nvPr/>
          </p:nvSpPr>
          <p:spPr>
            <a:xfrm flipH="false" flipV="false" rot="0">
              <a:off x="0" y="0"/>
              <a:ext cx="1158240" cy="1158240"/>
            </a:xfrm>
            <a:custGeom>
              <a:avLst/>
              <a:gdLst/>
              <a:ahLst/>
              <a:cxnLst/>
              <a:rect r="r" b="b" t="t" l="l"/>
              <a:pathLst>
                <a:path h="1158240" w="1158240">
                  <a:moveTo>
                    <a:pt x="0" y="0"/>
                  </a:moveTo>
                  <a:lnTo>
                    <a:pt x="1158240" y="0"/>
                  </a:lnTo>
                  <a:lnTo>
                    <a:pt x="1158240" y="1158240"/>
                  </a:lnTo>
                  <a:lnTo>
                    <a:pt x="0" y="1158240"/>
                  </a:lnTo>
                  <a:close/>
                </a:path>
              </a:pathLst>
            </a:custGeom>
            <a:blipFill>
              <a:blip r:embed="rId4">
                <a:alphaModFix amt="0"/>
              </a:blip>
              <a:stretch>
                <a:fillRect l="-78303" t="0" r="-78303" b="0"/>
              </a:stretch>
            </a:blipFill>
          </p:spPr>
        </p:sp>
        <p:sp>
          <p:nvSpPr>
            <p:cNvPr name="TextBox 12" id="12"/>
            <p:cNvSpPr txBox="true"/>
            <p:nvPr/>
          </p:nvSpPr>
          <p:spPr>
            <a:xfrm>
              <a:off x="0" y="-19050"/>
              <a:ext cx="1158240" cy="1177290"/>
            </a:xfrm>
            <a:prstGeom prst="rect">
              <a:avLst/>
            </a:prstGeom>
          </p:spPr>
          <p:txBody>
            <a:bodyPr anchor="ctr" rtlCol="false" tIns="0" lIns="0" bIns="0" rIns="0"/>
            <a:lstStyle/>
            <a:p>
              <a:pPr algn="ctr">
                <a:lnSpc>
                  <a:spcPts val="2640"/>
                </a:lnSpc>
              </a:pPr>
              <a:r>
                <a:rPr lang="en-US" sz="2000" b="true">
                  <a:solidFill>
                    <a:srgbClr val="FFFFFF"/>
                  </a:solidFill>
                  <a:latin typeface="Montserrat Bold"/>
                  <a:ea typeface="Montserrat Bold"/>
                  <a:cs typeface="Montserrat Bold"/>
                  <a:sym typeface="Montserrat Bold"/>
                </a:rPr>
                <a:t>ES</a:t>
              </a:r>
            </a:p>
          </p:txBody>
        </p:sp>
      </p:grpSp>
      <p:sp>
        <p:nvSpPr>
          <p:cNvPr name="TextBox 13" id="13"/>
          <p:cNvSpPr txBox="true"/>
          <p:nvPr/>
        </p:nvSpPr>
        <p:spPr>
          <a:xfrm rot="0">
            <a:off x="2423160" y="3071622"/>
            <a:ext cx="5486400" cy="567690"/>
          </a:xfrm>
          <a:prstGeom prst="rect">
            <a:avLst/>
          </a:prstGeom>
        </p:spPr>
        <p:txBody>
          <a:bodyPr anchor="t" rtlCol="false" tIns="0" lIns="0" bIns="0" rIns="0">
            <a:spAutoFit/>
          </a:bodyPr>
          <a:lstStyle/>
          <a:p>
            <a:pPr algn="l">
              <a:lnSpc>
                <a:spcPts val="3168"/>
              </a:lnSpc>
            </a:pPr>
            <a:r>
              <a:rPr lang="en-US" sz="2400" b="true">
                <a:solidFill>
                  <a:srgbClr val="FFFFFF"/>
                </a:solidFill>
                <a:latin typeface="Montserrat Medium"/>
                <a:ea typeface="Montserrat Medium"/>
                <a:cs typeface="Montserrat Medium"/>
                <a:sym typeface="Montserrat Medium"/>
              </a:rPr>
              <a:t>Español</a:t>
            </a:r>
          </a:p>
        </p:txBody>
      </p:sp>
      <p:sp>
        <p:nvSpPr>
          <p:cNvPr name="TextBox 14" id="14"/>
          <p:cNvSpPr txBox="true"/>
          <p:nvPr/>
        </p:nvSpPr>
        <p:spPr>
          <a:xfrm rot="0">
            <a:off x="1371600" y="4112895"/>
            <a:ext cx="7040880" cy="5534025"/>
          </a:xfrm>
          <a:prstGeom prst="rect">
            <a:avLst/>
          </a:prstGeom>
        </p:spPr>
        <p:txBody>
          <a:bodyPr anchor="t" rtlCol="false" tIns="0" lIns="0" bIns="0" rIns="0">
            <a:spAutoFit/>
          </a:bodyPr>
          <a:lstStyle/>
          <a:p>
            <a:pPr algn="just">
              <a:lnSpc>
                <a:spcPts val="2635"/>
              </a:lnSpc>
            </a:pPr>
            <a:r>
              <a:rPr lang="en-US" sz="1800">
                <a:solidFill>
                  <a:srgbClr val="FFFFFF"/>
                </a:solidFill>
                <a:latin typeface="Montserrat"/>
                <a:ea typeface="Montserrat"/>
                <a:cs typeface="Montserrat"/>
                <a:sym typeface="Montserrat"/>
              </a:rPr>
              <a:t>Acredittia Administración del Negocio es el backoffice de una plataforma SaaS que acredita a empresas contratistas en faenas mineras. El proyecto desarrolla su backend con FastAPI y PostgreSQL y su frontend con Next.js, sobre la plataforma base entregada por Alloxentric. A la semana 9 se completaron la extensión del modelo de datos, la API de administración, el ciclo de suscripciones con pago simulado y control de morosidad, la consola interna de administración con auditoría de accesos y las pantallas de suscripción del portal. El sistema corre en Docker, aprueba 339 pruebas automatizadas y se publicó como MVP accesible por internet. Quedan pendientes el despliegue en la nube, la pasarela de pago real y la documentación técnica.</a:t>
            </a:r>
          </a:p>
        </p:txBody>
      </p:sp>
      <p:grpSp>
        <p:nvGrpSpPr>
          <p:cNvPr name="Group 15" id="15"/>
          <p:cNvGrpSpPr/>
          <p:nvPr/>
        </p:nvGrpSpPr>
        <p:grpSpPr>
          <a:xfrm rot="0">
            <a:off x="9418320" y="2606040"/>
            <a:ext cx="7955280" cy="7223760"/>
            <a:chOff x="0" y="0"/>
            <a:chExt cx="10607040" cy="9631680"/>
          </a:xfrm>
        </p:grpSpPr>
        <p:sp>
          <p:nvSpPr>
            <p:cNvPr name="Freeform 16" id="16"/>
            <p:cNvSpPr/>
            <p:nvPr/>
          </p:nvSpPr>
          <p:spPr>
            <a:xfrm flipH="false" flipV="false" rot="0">
              <a:off x="0" y="0"/>
              <a:ext cx="10607040" cy="9631680"/>
            </a:xfrm>
            <a:custGeom>
              <a:avLst/>
              <a:gdLst/>
              <a:ahLst/>
              <a:cxnLst/>
              <a:rect r="r" b="b" t="t" l="l"/>
              <a:pathLst>
                <a:path h="9631680" w="10607040">
                  <a:moveTo>
                    <a:pt x="0" y="1155827"/>
                  </a:moveTo>
                  <a:cubicBezTo>
                    <a:pt x="0" y="517525"/>
                    <a:pt x="517525" y="0"/>
                    <a:pt x="1155827" y="0"/>
                  </a:cubicBezTo>
                  <a:lnTo>
                    <a:pt x="9451213" y="0"/>
                  </a:lnTo>
                  <a:cubicBezTo>
                    <a:pt x="10089515" y="0"/>
                    <a:pt x="10607040" y="517525"/>
                    <a:pt x="10607040" y="1155827"/>
                  </a:cubicBezTo>
                  <a:lnTo>
                    <a:pt x="10607040" y="8475853"/>
                  </a:lnTo>
                  <a:cubicBezTo>
                    <a:pt x="10607040" y="9114155"/>
                    <a:pt x="10089515" y="9631680"/>
                    <a:pt x="9451213" y="9631680"/>
                  </a:cubicBezTo>
                  <a:lnTo>
                    <a:pt x="1155827" y="9631680"/>
                  </a:lnTo>
                  <a:cubicBezTo>
                    <a:pt x="517525" y="9631680"/>
                    <a:pt x="0" y="9114155"/>
                    <a:pt x="0" y="8475853"/>
                  </a:cubicBezTo>
                  <a:close/>
                </a:path>
              </a:pathLst>
            </a:custGeom>
            <a:solidFill>
              <a:srgbClr val="15193A"/>
            </a:solidFill>
          </p:spPr>
        </p:sp>
      </p:grpSp>
      <p:grpSp>
        <p:nvGrpSpPr>
          <p:cNvPr name="Group 17" id="17"/>
          <p:cNvGrpSpPr/>
          <p:nvPr/>
        </p:nvGrpSpPr>
        <p:grpSpPr>
          <a:xfrm rot="0">
            <a:off x="9829800" y="2926080"/>
            <a:ext cx="868680" cy="868680"/>
            <a:chOff x="0" y="0"/>
            <a:chExt cx="1158240" cy="1158240"/>
          </a:xfrm>
        </p:grpSpPr>
        <p:sp>
          <p:nvSpPr>
            <p:cNvPr name="Freeform 18" id="18" descr="image6.png"/>
            <p:cNvSpPr/>
            <p:nvPr/>
          </p:nvSpPr>
          <p:spPr>
            <a:xfrm flipH="false" flipV="false" rot="0">
              <a:off x="0" y="0"/>
              <a:ext cx="1158240" cy="1158240"/>
            </a:xfrm>
            <a:custGeom>
              <a:avLst/>
              <a:gdLst/>
              <a:ahLst/>
              <a:cxnLst/>
              <a:rect r="r" b="b" t="t" l="l"/>
              <a:pathLst>
                <a:path h="1158240" w="1158240">
                  <a:moveTo>
                    <a:pt x="0" y="0"/>
                  </a:moveTo>
                  <a:lnTo>
                    <a:pt x="1158240" y="0"/>
                  </a:lnTo>
                  <a:lnTo>
                    <a:pt x="1158240" y="1158240"/>
                  </a:lnTo>
                  <a:lnTo>
                    <a:pt x="0" y="1158240"/>
                  </a:lnTo>
                  <a:lnTo>
                    <a:pt x="0" y="0"/>
                  </a:lnTo>
                  <a:close/>
                </a:path>
              </a:pathLst>
            </a:custGeom>
            <a:blipFill>
              <a:blip r:embed="rId3"/>
              <a:stretch>
                <a:fillRect l="0" t="0" r="0" b="0"/>
              </a:stretch>
            </a:blipFill>
          </p:spPr>
        </p:sp>
      </p:grpSp>
      <p:grpSp>
        <p:nvGrpSpPr>
          <p:cNvPr name="Group 19" id="19"/>
          <p:cNvGrpSpPr/>
          <p:nvPr/>
        </p:nvGrpSpPr>
        <p:grpSpPr>
          <a:xfrm rot="0">
            <a:off x="9829800" y="2926080"/>
            <a:ext cx="868680" cy="868680"/>
            <a:chOff x="0" y="0"/>
            <a:chExt cx="1158240" cy="1158240"/>
          </a:xfrm>
        </p:grpSpPr>
        <p:sp>
          <p:nvSpPr>
            <p:cNvPr name="Freeform 20" id="20"/>
            <p:cNvSpPr/>
            <p:nvPr/>
          </p:nvSpPr>
          <p:spPr>
            <a:xfrm flipH="false" flipV="false" rot="0">
              <a:off x="0" y="0"/>
              <a:ext cx="1158240" cy="1158240"/>
            </a:xfrm>
            <a:custGeom>
              <a:avLst/>
              <a:gdLst/>
              <a:ahLst/>
              <a:cxnLst/>
              <a:rect r="r" b="b" t="t" l="l"/>
              <a:pathLst>
                <a:path h="1158240" w="1158240">
                  <a:moveTo>
                    <a:pt x="0" y="0"/>
                  </a:moveTo>
                  <a:lnTo>
                    <a:pt x="1158240" y="0"/>
                  </a:lnTo>
                  <a:lnTo>
                    <a:pt x="1158240" y="1158240"/>
                  </a:lnTo>
                  <a:lnTo>
                    <a:pt x="0" y="1158240"/>
                  </a:lnTo>
                  <a:close/>
                </a:path>
              </a:pathLst>
            </a:custGeom>
            <a:blipFill>
              <a:blip r:embed="rId4">
                <a:alphaModFix amt="0"/>
              </a:blip>
              <a:stretch>
                <a:fillRect l="-78303" t="0" r="-78303" b="0"/>
              </a:stretch>
            </a:blipFill>
          </p:spPr>
        </p:sp>
        <p:sp>
          <p:nvSpPr>
            <p:cNvPr name="TextBox 21" id="21"/>
            <p:cNvSpPr txBox="true"/>
            <p:nvPr/>
          </p:nvSpPr>
          <p:spPr>
            <a:xfrm>
              <a:off x="0" y="-19050"/>
              <a:ext cx="1158240" cy="1177290"/>
            </a:xfrm>
            <a:prstGeom prst="rect">
              <a:avLst/>
            </a:prstGeom>
          </p:spPr>
          <p:txBody>
            <a:bodyPr anchor="ctr" rtlCol="false" tIns="0" lIns="0" bIns="0" rIns="0"/>
            <a:lstStyle/>
            <a:p>
              <a:pPr algn="ctr">
                <a:lnSpc>
                  <a:spcPts val="2640"/>
                </a:lnSpc>
              </a:pPr>
              <a:r>
                <a:rPr lang="en-US" sz="2000" b="true">
                  <a:solidFill>
                    <a:srgbClr val="FFFFFF"/>
                  </a:solidFill>
                  <a:latin typeface="Montserrat Bold"/>
                  <a:ea typeface="Montserrat Bold"/>
                  <a:cs typeface="Montserrat Bold"/>
                  <a:sym typeface="Montserrat Bold"/>
                </a:rPr>
                <a:t>EN</a:t>
              </a:r>
            </a:p>
          </p:txBody>
        </p:sp>
      </p:grpSp>
      <p:sp>
        <p:nvSpPr>
          <p:cNvPr name="TextBox 22" id="22"/>
          <p:cNvSpPr txBox="true"/>
          <p:nvPr/>
        </p:nvSpPr>
        <p:spPr>
          <a:xfrm rot="0">
            <a:off x="10927080" y="3071622"/>
            <a:ext cx="5486400" cy="567690"/>
          </a:xfrm>
          <a:prstGeom prst="rect">
            <a:avLst/>
          </a:prstGeom>
        </p:spPr>
        <p:txBody>
          <a:bodyPr anchor="t" rtlCol="false" tIns="0" lIns="0" bIns="0" rIns="0">
            <a:spAutoFit/>
          </a:bodyPr>
          <a:lstStyle/>
          <a:p>
            <a:pPr algn="l">
              <a:lnSpc>
                <a:spcPts val="3168"/>
              </a:lnSpc>
            </a:pPr>
            <a:r>
              <a:rPr lang="en-US" sz="2400" b="true">
                <a:solidFill>
                  <a:srgbClr val="FFFFFF"/>
                </a:solidFill>
                <a:latin typeface="Montserrat Medium"/>
                <a:ea typeface="Montserrat Medium"/>
                <a:cs typeface="Montserrat Medium"/>
                <a:sym typeface="Montserrat Medium"/>
              </a:rPr>
              <a:t>English</a:t>
            </a:r>
          </a:p>
        </p:txBody>
      </p:sp>
      <p:sp>
        <p:nvSpPr>
          <p:cNvPr name="TextBox 23" id="23"/>
          <p:cNvSpPr txBox="true"/>
          <p:nvPr/>
        </p:nvSpPr>
        <p:spPr>
          <a:xfrm rot="0">
            <a:off x="9875520" y="4112895"/>
            <a:ext cx="7040880" cy="5534025"/>
          </a:xfrm>
          <a:prstGeom prst="rect">
            <a:avLst/>
          </a:prstGeom>
        </p:spPr>
        <p:txBody>
          <a:bodyPr anchor="t" rtlCol="false" tIns="0" lIns="0" bIns="0" rIns="0">
            <a:spAutoFit/>
          </a:bodyPr>
          <a:lstStyle/>
          <a:p>
            <a:pPr algn="just">
              <a:lnSpc>
                <a:spcPts val="2635"/>
              </a:lnSpc>
            </a:pPr>
            <a:r>
              <a:rPr lang="en-US" sz="1800">
                <a:solidFill>
                  <a:srgbClr val="FFFFFF"/>
                </a:solidFill>
                <a:latin typeface="Montserrat"/>
                <a:ea typeface="Montserrat"/>
                <a:cs typeface="Montserrat"/>
                <a:sym typeface="Montserrat"/>
              </a:rPr>
              <a:t>Acredittia Business Administration is the back office of a SaaS platform that accredits contractor companies at mining sites. The project builds its backend with FastAPI and PostgreSQL and its frontend with Next.js, on top of the base platform provided by Alloxentric. By week 9, the team has completed the data model extension, the administration API, the subscription cycle with simulated payments and overdue-account control, the internal administration console with access auditing, and the subscription screens of the client portal. The system runs on Docker, passes 339 automated tests, and was published online as an MVP. Cloud deployment, a real payment gateway, and the technical documentation remain pending.</a:t>
            </a:r>
          </a:p>
        </p:txBody>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24384000" cy="13716000"/>
          </a:xfrm>
        </p:grpSpPr>
        <p:sp>
          <p:nvSpPr>
            <p:cNvPr name="Freeform 3" id="3" descr="fondo37_62.jpg"/>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lnTo>
                    <a:pt x="0" y="0"/>
                  </a:lnTo>
                  <a:close/>
                </a:path>
              </a:pathLst>
            </a:custGeom>
            <a:blipFill>
              <a:blip r:embed="rId2"/>
              <a:stretch>
                <a:fillRect l="0" t="-666" r="0" b="-666"/>
              </a:stretch>
            </a:blipFill>
          </p:spPr>
        </p:sp>
      </p:grpSp>
      <p:sp>
        <p:nvSpPr>
          <p:cNvPr name="TextBox 4" id="4"/>
          <p:cNvSpPr txBox="true"/>
          <p:nvPr/>
        </p:nvSpPr>
        <p:spPr>
          <a:xfrm rot="0">
            <a:off x="914400" y="355473"/>
            <a:ext cx="16459200" cy="760095"/>
          </a:xfrm>
          <a:prstGeom prst="rect">
            <a:avLst/>
          </a:prstGeom>
        </p:spPr>
        <p:txBody>
          <a:bodyPr anchor="t" rtlCol="false" tIns="0" lIns="0" bIns="0" rIns="0">
            <a:spAutoFit/>
          </a:bodyPr>
          <a:lstStyle/>
          <a:p>
            <a:pPr algn="ctr">
              <a:lnSpc>
                <a:spcPts val="3960"/>
              </a:lnSpc>
            </a:pPr>
            <a:r>
              <a:rPr lang="en-US" sz="3000">
                <a:solidFill>
                  <a:srgbClr val="FFFFFF"/>
                </a:solidFill>
                <a:latin typeface="Montserrat Light"/>
                <a:ea typeface="Montserrat Light"/>
                <a:cs typeface="Montserrat Light"/>
                <a:sym typeface="Montserrat Light"/>
              </a:rPr>
              <a:t>RECORDATORIO</a:t>
            </a:r>
          </a:p>
        </p:txBody>
      </p:sp>
      <p:sp>
        <p:nvSpPr>
          <p:cNvPr name="TextBox 5" id="5"/>
          <p:cNvSpPr txBox="true"/>
          <p:nvPr/>
        </p:nvSpPr>
        <p:spPr>
          <a:xfrm rot="0">
            <a:off x="914400" y="912495"/>
            <a:ext cx="16459200" cy="1144905"/>
          </a:xfrm>
          <a:prstGeom prst="rect">
            <a:avLst/>
          </a:prstGeom>
        </p:spPr>
        <p:txBody>
          <a:bodyPr anchor="t" rtlCol="false" tIns="0" lIns="0" bIns="0" rIns="0">
            <a:spAutoFit/>
          </a:bodyPr>
          <a:lstStyle/>
          <a:p>
            <a:pPr algn="ctr">
              <a:lnSpc>
                <a:spcPts val="6863"/>
              </a:lnSpc>
            </a:pPr>
            <a:r>
              <a:rPr lang="en-US" sz="5199" b="true">
                <a:solidFill>
                  <a:srgbClr val="FFFFFF"/>
                </a:solidFill>
                <a:latin typeface="Montserrat Bold"/>
                <a:ea typeface="Montserrat Bold"/>
                <a:cs typeface="Montserrat Bold"/>
                <a:sym typeface="Montserrat Bold"/>
              </a:rPr>
              <a:t>DEL PROYECTO</a:t>
            </a:r>
          </a:p>
        </p:txBody>
      </p:sp>
      <p:grpSp>
        <p:nvGrpSpPr>
          <p:cNvPr name="Group 6" id="6"/>
          <p:cNvGrpSpPr/>
          <p:nvPr/>
        </p:nvGrpSpPr>
        <p:grpSpPr>
          <a:xfrm rot="0">
            <a:off x="731520" y="2514600"/>
            <a:ext cx="868680" cy="868680"/>
            <a:chOff x="0" y="0"/>
            <a:chExt cx="1158240" cy="1158240"/>
          </a:xfrm>
        </p:grpSpPr>
        <p:sp>
          <p:nvSpPr>
            <p:cNvPr name="Freeform 7" id="7" descr="image6.png"/>
            <p:cNvSpPr/>
            <p:nvPr/>
          </p:nvSpPr>
          <p:spPr>
            <a:xfrm flipH="false" flipV="false" rot="0">
              <a:off x="0" y="0"/>
              <a:ext cx="1158240" cy="1158240"/>
            </a:xfrm>
            <a:custGeom>
              <a:avLst/>
              <a:gdLst/>
              <a:ahLst/>
              <a:cxnLst/>
              <a:rect r="r" b="b" t="t" l="l"/>
              <a:pathLst>
                <a:path h="1158240" w="1158240">
                  <a:moveTo>
                    <a:pt x="0" y="0"/>
                  </a:moveTo>
                  <a:lnTo>
                    <a:pt x="1158240" y="0"/>
                  </a:lnTo>
                  <a:lnTo>
                    <a:pt x="1158240" y="1158240"/>
                  </a:lnTo>
                  <a:lnTo>
                    <a:pt x="0" y="1158240"/>
                  </a:lnTo>
                  <a:lnTo>
                    <a:pt x="0" y="0"/>
                  </a:lnTo>
                  <a:close/>
                </a:path>
              </a:pathLst>
            </a:custGeom>
            <a:blipFill>
              <a:blip r:embed="rId3"/>
              <a:stretch>
                <a:fillRect l="0" t="0" r="0" b="0"/>
              </a:stretch>
            </a:blipFill>
          </p:spPr>
        </p:sp>
      </p:grpSp>
      <p:grpSp>
        <p:nvGrpSpPr>
          <p:cNvPr name="Group 8" id="8"/>
          <p:cNvGrpSpPr/>
          <p:nvPr/>
        </p:nvGrpSpPr>
        <p:grpSpPr>
          <a:xfrm rot="0">
            <a:off x="731520" y="2514600"/>
            <a:ext cx="868680" cy="868680"/>
            <a:chOff x="0" y="0"/>
            <a:chExt cx="1158240" cy="1158240"/>
          </a:xfrm>
        </p:grpSpPr>
        <p:sp>
          <p:nvSpPr>
            <p:cNvPr name="Freeform 9" id="9"/>
            <p:cNvSpPr/>
            <p:nvPr/>
          </p:nvSpPr>
          <p:spPr>
            <a:xfrm flipH="false" flipV="false" rot="0">
              <a:off x="0" y="0"/>
              <a:ext cx="1158240" cy="1158240"/>
            </a:xfrm>
            <a:custGeom>
              <a:avLst/>
              <a:gdLst/>
              <a:ahLst/>
              <a:cxnLst/>
              <a:rect r="r" b="b" t="t" l="l"/>
              <a:pathLst>
                <a:path h="1158240" w="1158240">
                  <a:moveTo>
                    <a:pt x="0" y="0"/>
                  </a:moveTo>
                  <a:lnTo>
                    <a:pt x="1158240" y="0"/>
                  </a:lnTo>
                  <a:lnTo>
                    <a:pt x="1158240" y="1158240"/>
                  </a:lnTo>
                  <a:lnTo>
                    <a:pt x="0" y="1158240"/>
                  </a:lnTo>
                  <a:close/>
                </a:path>
              </a:pathLst>
            </a:custGeom>
            <a:blipFill>
              <a:blip r:embed="rId4">
                <a:alphaModFix amt="0"/>
              </a:blip>
              <a:stretch>
                <a:fillRect l="-78303" t="0" r="-78303" b="0"/>
              </a:stretch>
            </a:blipFill>
          </p:spPr>
        </p:sp>
        <p:sp>
          <p:nvSpPr>
            <p:cNvPr name="TextBox 10" id="10"/>
            <p:cNvSpPr txBox="true"/>
            <p:nvPr/>
          </p:nvSpPr>
          <p:spPr>
            <a:xfrm>
              <a:off x="0" y="-28575"/>
              <a:ext cx="1158240" cy="1186815"/>
            </a:xfrm>
            <a:prstGeom prst="rect">
              <a:avLst/>
            </a:prstGeom>
          </p:spPr>
          <p:txBody>
            <a:bodyPr anchor="ctr" rtlCol="false" tIns="0" lIns="0" bIns="0" rIns="0"/>
            <a:lstStyle/>
            <a:p>
              <a:pPr algn="ctr">
                <a:lnSpc>
                  <a:spcPts val="3960"/>
                </a:lnSpc>
              </a:pPr>
              <a:r>
                <a:rPr lang="en-US" sz="3000" b="true">
                  <a:solidFill>
                    <a:srgbClr val="FFFFFF"/>
                  </a:solidFill>
                  <a:latin typeface="Montserrat Bold"/>
                  <a:ea typeface="Montserrat Bold"/>
                  <a:cs typeface="Montserrat Bold"/>
                  <a:sym typeface="Montserrat Bold"/>
                </a:rPr>
                <a:t>1</a:t>
              </a:r>
            </a:p>
          </p:txBody>
        </p:sp>
      </p:grpSp>
      <p:sp>
        <p:nvSpPr>
          <p:cNvPr name="TextBox 11" id="11"/>
          <p:cNvSpPr txBox="true"/>
          <p:nvPr/>
        </p:nvSpPr>
        <p:spPr>
          <a:xfrm rot="0">
            <a:off x="1783080" y="2678430"/>
            <a:ext cx="3108960" cy="567690"/>
          </a:xfrm>
          <a:prstGeom prst="rect">
            <a:avLst/>
          </a:prstGeom>
        </p:spPr>
        <p:txBody>
          <a:bodyPr anchor="t" rtlCol="false" tIns="0" lIns="0" bIns="0" rIns="0">
            <a:spAutoFit/>
          </a:bodyPr>
          <a:lstStyle/>
          <a:p>
            <a:pPr algn="l">
              <a:lnSpc>
                <a:spcPts val="2640"/>
              </a:lnSpc>
            </a:pPr>
            <a:r>
              <a:rPr lang="en-US" sz="2000" b="true">
                <a:solidFill>
                  <a:srgbClr val="FFFFFF"/>
                </a:solidFill>
                <a:latin typeface="Montserrat Medium"/>
                <a:ea typeface="Montserrat Medium"/>
                <a:cs typeface="Montserrat Medium"/>
                <a:sym typeface="Montserrat Medium"/>
              </a:rPr>
              <a:t>Problema</a:t>
            </a:r>
          </a:p>
        </p:txBody>
      </p:sp>
      <p:grpSp>
        <p:nvGrpSpPr>
          <p:cNvPr name="Group 12" id="12"/>
          <p:cNvGrpSpPr/>
          <p:nvPr/>
        </p:nvGrpSpPr>
        <p:grpSpPr>
          <a:xfrm rot="0">
            <a:off x="731520" y="3657600"/>
            <a:ext cx="3977640" cy="6126480"/>
            <a:chOff x="0" y="0"/>
            <a:chExt cx="5303520" cy="8168640"/>
          </a:xfrm>
        </p:grpSpPr>
        <p:sp>
          <p:nvSpPr>
            <p:cNvPr name="Freeform 13" id="13"/>
            <p:cNvSpPr/>
            <p:nvPr/>
          </p:nvSpPr>
          <p:spPr>
            <a:xfrm flipH="false" flipV="false" rot="0">
              <a:off x="0" y="0"/>
              <a:ext cx="5303520" cy="8168640"/>
            </a:xfrm>
            <a:custGeom>
              <a:avLst/>
              <a:gdLst/>
              <a:ahLst/>
              <a:cxnLst/>
              <a:rect r="r" b="b" t="t" l="l"/>
              <a:pathLst>
                <a:path h="8168640" w="5303520">
                  <a:moveTo>
                    <a:pt x="0" y="636397"/>
                  </a:moveTo>
                  <a:cubicBezTo>
                    <a:pt x="0" y="284988"/>
                    <a:pt x="284988" y="0"/>
                    <a:pt x="636397" y="0"/>
                  </a:cubicBezTo>
                  <a:lnTo>
                    <a:pt x="4667123" y="0"/>
                  </a:lnTo>
                  <a:cubicBezTo>
                    <a:pt x="5018659" y="0"/>
                    <a:pt x="5303520" y="284988"/>
                    <a:pt x="5303520" y="636397"/>
                  </a:cubicBezTo>
                  <a:lnTo>
                    <a:pt x="5303520" y="7532243"/>
                  </a:lnTo>
                  <a:cubicBezTo>
                    <a:pt x="5303520" y="7883779"/>
                    <a:pt x="5018532" y="8168640"/>
                    <a:pt x="4667123" y="8168640"/>
                  </a:cubicBezTo>
                  <a:lnTo>
                    <a:pt x="636397" y="8168640"/>
                  </a:lnTo>
                  <a:cubicBezTo>
                    <a:pt x="284988" y="8168640"/>
                    <a:pt x="0" y="7883652"/>
                    <a:pt x="0" y="7532243"/>
                  </a:cubicBezTo>
                  <a:close/>
                </a:path>
              </a:pathLst>
            </a:custGeom>
            <a:solidFill>
              <a:srgbClr val="15193A"/>
            </a:solidFill>
          </p:spPr>
        </p:sp>
      </p:grpSp>
      <p:grpSp>
        <p:nvGrpSpPr>
          <p:cNvPr name="Group 14" id="14"/>
          <p:cNvGrpSpPr/>
          <p:nvPr/>
        </p:nvGrpSpPr>
        <p:grpSpPr>
          <a:xfrm rot="0">
            <a:off x="1005840" y="3931920"/>
            <a:ext cx="3429000" cy="5577840"/>
            <a:chOff x="0" y="0"/>
            <a:chExt cx="4572000" cy="7437120"/>
          </a:xfrm>
        </p:grpSpPr>
        <p:sp>
          <p:nvSpPr>
            <p:cNvPr name="Freeform 15" id="15"/>
            <p:cNvSpPr/>
            <p:nvPr/>
          </p:nvSpPr>
          <p:spPr>
            <a:xfrm flipH="false" flipV="false" rot="0">
              <a:off x="0" y="0"/>
              <a:ext cx="4572000" cy="7437120"/>
            </a:xfrm>
            <a:custGeom>
              <a:avLst/>
              <a:gdLst/>
              <a:ahLst/>
              <a:cxnLst/>
              <a:rect r="r" b="b" t="t" l="l"/>
              <a:pathLst>
                <a:path h="7437120" w="4572000">
                  <a:moveTo>
                    <a:pt x="0" y="0"/>
                  </a:moveTo>
                  <a:lnTo>
                    <a:pt x="4572000" y="0"/>
                  </a:lnTo>
                  <a:lnTo>
                    <a:pt x="4572000" y="7437120"/>
                  </a:lnTo>
                  <a:lnTo>
                    <a:pt x="0" y="7437120"/>
                  </a:lnTo>
                  <a:close/>
                </a:path>
              </a:pathLst>
            </a:custGeom>
            <a:blipFill>
              <a:blip r:embed="rId4">
                <a:alphaModFix amt="0"/>
              </a:blip>
              <a:stretch>
                <a:fillRect l="-158707" t="0" r="-158707" b="0"/>
              </a:stretch>
            </a:blipFill>
          </p:spPr>
        </p:sp>
        <p:sp>
          <p:nvSpPr>
            <p:cNvPr name="TextBox 16" id="16"/>
            <p:cNvSpPr txBox="true"/>
            <p:nvPr/>
          </p:nvSpPr>
          <p:spPr>
            <a:xfrm>
              <a:off x="0" y="-47625"/>
              <a:ext cx="4572000" cy="7484745"/>
            </a:xfrm>
            <a:prstGeom prst="rect">
              <a:avLst/>
            </a:prstGeom>
          </p:spPr>
          <p:txBody>
            <a:bodyPr anchor="ctr" rtlCol="false" tIns="0" lIns="0" bIns="0" rIns="0"/>
            <a:lstStyle/>
            <a:p>
              <a:pPr algn="ctr">
                <a:lnSpc>
                  <a:spcPts val="2664"/>
                </a:lnSpc>
              </a:pPr>
              <a:r>
                <a:rPr lang="en-US" sz="1850">
                  <a:solidFill>
                    <a:srgbClr val="FFFFFF"/>
                  </a:solidFill>
                  <a:latin typeface="Montserrat"/>
                  <a:ea typeface="Montserrat"/>
                  <a:cs typeface="Montserrat"/>
                  <a:sym typeface="Montserrat"/>
                </a:rPr>
                <a:t>Aprobar empresas, mantener catálogos, cobrar suscripciones (en UF) y vigilar el estado de cada cliente se hace a mano: lentitud y riesgo, como empresas que siguen operando con pagos atrasados o accesos a datos de un cliente que no quedan registrados.</a:t>
              </a:r>
            </a:p>
          </p:txBody>
        </p:sp>
      </p:grpSp>
      <p:grpSp>
        <p:nvGrpSpPr>
          <p:cNvPr name="Group 17" id="17"/>
          <p:cNvGrpSpPr/>
          <p:nvPr/>
        </p:nvGrpSpPr>
        <p:grpSpPr>
          <a:xfrm rot="0">
            <a:off x="5010912" y="2514600"/>
            <a:ext cx="868680" cy="868680"/>
            <a:chOff x="0" y="0"/>
            <a:chExt cx="1158240" cy="1158240"/>
          </a:xfrm>
        </p:grpSpPr>
        <p:sp>
          <p:nvSpPr>
            <p:cNvPr name="Freeform 18" id="18" descr="image6.png"/>
            <p:cNvSpPr/>
            <p:nvPr/>
          </p:nvSpPr>
          <p:spPr>
            <a:xfrm flipH="false" flipV="false" rot="0">
              <a:off x="0" y="0"/>
              <a:ext cx="1158240" cy="1158240"/>
            </a:xfrm>
            <a:custGeom>
              <a:avLst/>
              <a:gdLst/>
              <a:ahLst/>
              <a:cxnLst/>
              <a:rect r="r" b="b" t="t" l="l"/>
              <a:pathLst>
                <a:path h="1158240" w="1158240">
                  <a:moveTo>
                    <a:pt x="0" y="0"/>
                  </a:moveTo>
                  <a:lnTo>
                    <a:pt x="1158240" y="0"/>
                  </a:lnTo>
                  <a:lnTo>
                    <a:pt x="1158240" y="1158240"/>
                  </a:lnTo>
                  <a:lnTo>
                    <a:pt x="0" y="1158240"/>
                  </a:lnTo>
                  <a:lnTo>
                    <a:pt x="0" y="0"/>
                  </a:lnTo>
                  <a:close/>
                </a:path>
              </a:pathLst>
            </a:custGeom>
            <a:blipFill>
              <a:blip r:embed="rId3"/>
              <a:stretch>
                <a:fillRect l="0" t="0" r="0" b="0"/>
              </a:stretch>
            </a:blipFill>
          </p:spPr>
        </p:sp>
      </p:grpSp>
      <p:grpSp>
        <p:nvGrpSpPr>
          <p:cNvPr name="Group 19" id="19"/>
          <p:cNvGrpSpPr/>
          <p:nvPr/>
        </p:nvGrpSpPr>
        <p:grpSpPr>
          <a:xfrm rot="0">
            <a:off x="5010912" y="2514600"/>
            <a:ext cx="868680" cy="868680"/>
            <a:chOff x="0" y="0"/>
            <a:chExt cx="1158240" cy="1158240"/>
          </a:xfrm>
        </p:grpSpPr>
        <p:sp>
          <p:nvSpPr>
            <p:cNvPr name="Freeform 20" id="20"/>
            <p:cNvSpPr/>
            <p:nvPr/>
          </p:nvSpPr>
          <p:spPr>
            <a:xfrm flipH="false" flipV="false" rot="0">
              <a:off x="0" y="0"/>
              <a:ext cx="1158240" cy="1158240"/>
            </a:xfrm>
            <a:custGeom>
              <a:avLst/>
              <a:gdLst/>
              <a:ahLst/>
              <a:cxnLst/>
              <a:rect r="r" b="b" t="t" l="l"/>
              <a:pathLst>
                <a:path h="1158240" w="1158240">
                  <a:moveTo>
                    <a:pt x="0" y="0"/>
                  </a:moveTo>
                  <a:lnTo>
                    <a:pt x="1158240" y="0"/>
                  </a:lnTo>
                  <a:lnTo>
                    <a:pt x="1158240" y="1158240"/>
                  </a:lnTo>
                  <a:lnTo>
                    <a:pt x="0" y="1158240"/>
                  </a:lnTo>
                  <a:close/>
                </a:path>
              </a:pathLst>
            </a:custGeom>
            <a:blipFill>
              <a:blip r:embed="rId4">
                <a:alphaModFix amt="0"/>
              </a:blip>
              <a:stretch>
                <a:fillRect l="-78303" t="0" r="-78303" b="0"/>
              </a:stretch>
            </a:blipFill>
          </p:spPr>
        </p:sp>
        <p:sp>
          <p:nvSpPr>
            <p:cNvPr name="TextBox 21" id="21"/>
            <p:cNvSpPr txBox="true"/>
            <p:nvPr/>
          </p:nvSpPr>
          <p:spPr>
            <a:xfrm>
              <a:off x="0" y="-28575"/>
              <a:ext cx="1158240" cy="1186815"/>
            </a:xfrm>
            <a:prstGeom prst="rect">
              <a:avLst/>
            </a:prstGeom>
          </p:spPr>
          <p:txBody>
            <a:bodyPr anchor="ctr" rtlCol="false" tIns="0" lIns="0" bIns="0" rIns="0"/>
            <a:lstStyle/>
            <a:p>
              <a:pPr algn="ctr">
                <a:lnSpc>
                  <a:spcPts val="3960"/>
                </a:lnSpc>
              </a:pPr>
              <a:r>
                <a:rPr lang="en-US" sz="3000" b="true">
                  <a:solidFill>
                    <a:srgbClr val="FFFFFF"/>
                  </a:solidFill>
                  <a:latin typeface="Montserrat Bold"/>
                  <a:ea typeface="Montserrat Bold"/>
                  <a:cs typeface="Montserrat Bold"/>
                  <a:sym typeface="Montserrat Bold"/>
                </a:rPr>
                <a:t>2</a:t>
              </a:r>
            </a:p>
          </p:txBody>
        </p:sp>
      </p:grpSp>
      <p:sp>
        <p:nvSpPr>
          <p:cNvPr name="TextBox 22" id="22"/>
          <p:cNvSpPr txBox="true"/>
          <p:nvPr/>
        </p:nvSpPr>
        <p:spPr>
          <a:xfrm rot="0">
            <a:off x="6062472" y="2678430"/>
            <a:ext cx="3108960" cy="567690"/>
          </a:xfrm>
          <a:prstGeom prst="rect">
            <a:avLst/>
          </a:prstGeom>
        </p:spPr>
        <p:txBody>
          <a:bodyPr anchor="t" rtlCol="false" tIns="0" lIns="0" bIns="0" rIns="0">
            <a:spAutoFit/>
          </a:bodyPr>
          <a:lstStyle/>
          <a:p>
            <a:pPr algn="l">
              <a:lnSpc>
                <a:spcPts val="2640"/>
              </a:lnSpc>
            </a:pPr>
            <a:r>
              <a:rPr lang="en-US" sz="2000" b="true">
                <a:solidFill>
                  <a:srgbClr val="FFFFFF"/>
                </a:solidFill>
                <a:latin typeface="Montserrat Medium"/>
                <a:ea typeface="Montserrat Medium"/>
                <a:cs typeface="Montserrat Medium"/>
                <a:sym typeface="Montserrat Medium"/>
              </a:rPr>
              <a:t>Objetivo general</a:t>
            </a:r>
          </a:p>
        </p:txBody>
      </p:sp>
      <p:grpSp>
        <p:nvGrpSpPr>
          <p:cNvPr name="Group 23" id="23"/>
          <p:cNvGrpSpPr/>
          <p:nvPr/>
        </p:nvGrpSpPr>
        <p:grpSpPr>
          <a:xfrm rot="0">
            <a:off x="5010912" y="3657600"/>
            <a:ext cx="3977640" cy="6126480"/>
            <a:chOff x="0" y="0"/>
            <a:chExt cx="5303520" cy="8168640"/>
          </a:xfrm>
        </p:grpSpPr>
        <p:sp>
          <p:nvSpPr>
            <p:cNvPr name="Freeform 24" id="24"/>
            <p:cNvSpPr/>
            <p:nvPr/>
          </p:nvSpPr>
          <p:spPr>
            <a:xfrm flipH="false" flipV="false" rot="0">
              <a:off x="0" y="0"/>
              <a:ext cx="5303520" cy="8168640"/>
            </a:xfrm>
            <a:custGeom>
              <a:avLst/>
              <a:gdLst/>
              <a:ahLst/>
              <a:cxnLst/>
              <a:rect r="r" b="b" t="t" l="l"/>
              <a:pathLst>
                <a:path h="8168640" w="5303520">
                  <a:moveTo>
                    <a:pt x="0" y="636397"/>
                  </a:moveTo>
                  <a:cubicBezTo>
                    <a:pt x="0" y="284988"/>
                    <a:pt x="284988" y="0"/>
                    <a:pt x="636397" y="0"/>
                  </a:cubicBezTo>
                  <a:lnTo>
                    <a:pt x="4667123" y="0"/>
                  </a:lnTo>
                  <a:cubicBezTo>
                    <a:pt x="5018659" y="0"/>
                    <a:pt x="5303520" y="284988"/>
                    <a:pt x="5303520" y="636397"/>
                  </a:cubicBezTo>
                  <a:lnTo>
                    <a:pt x="5303520" y="7532243"/>
                  </a:lnTo>
                  <a:cubicBezTo>
                    <a:pt x="5303520" y="7883779"/>
                    <a:pt x="5018532" y="8168640"/>
                    <a:pt x="4667123" y="8168640"/>
                  </a:cubicBezTo>
                  <a:lnTo>
                    <a:pt x="636397" y="8168640"/>
                  </a:lnTo>
                  <a:cubicBezTo>
                    <a:pt x="284988" y="8168640"/>
                    <a:pt x="0" y="7883652"/>
                    <a:pt x="0" y="7532243"/>
                  </a:cubicBezTo>
                  <a:close/>
                </a:path>
              </a:pathLst>
            </a:custGeom>
            <a:solidFill>
              <a:srgbClr val="15193A"/>
            </a:solidFill>
          </p:spPr>
        </p:sp>
      </p:grpSp>
      <p:grpSp>
        <p:nvGrpSpPr>
          <p:cNvPr name="Group 25" id="25"/>
          <p:cNvGrpSpPr/>
          <p:nvPr/>
        </p:nvGrpSpPr>
        <p:grpSpPr>
          <a:xfrm rot="0">
            <a:off x="5285232" y="3931920"/>
            <a:ext cx="3429000" cy="5577840"/>
            <a:chOff x="0" y="0"/>
            <a:chExt cx="4572000" cy="7437120"/>
          </a:xfrm>
        </p:grpSpPr>
        <p:sp>
          <p:nvSpPr>
            <p:cNvPr name="Freeform 26" id="26"/>
            <p:cNvSpPr/>
            <p:nvPr/>
          </p:nvSpPr>
          <p:spPr>
            <a:xfrm flipH="false" flipV="false" rot="0">
              <a:off x="0" y="0"/>
              <a:ext cx="4572000" cy="7437120"/>
            </a:xfrm>
            <a:custGeom>
              <a:avLst/>
              <a:gdLst/>
              <a:ahLst/>
              <a:cxnLst/>
              <a:rect r="r" b="b" t="t" l="l"/>
              <a:pathLst>
                <a:path h="7437120" w="4572000">
                  <a:moveTo>
                    <a:pt x="0" y="0"/>
                  </a:moveTo>
                  <a:lnTo>
                    <a:pt x="4572000" y="0"/>
                  </a:lnTo>
                  <a:lnTo>
                    <a:pt x="4572000" y="7437120"/>
                  </a:lnTo>
                  <a:lnTo>
                    <a:pt x="0" y="7437120"/>
                  </a:lnTo>
                  <a:close/>
                </a:path>
              </a:pathLst>
            </a:custGeom>
            <a:blipFill>
              <a:blip r:embed="rId4">
                <a:alphaModFix amt="0"/>
              </a:blip>
              <a:stretch>
                <a:fillRect l="-158707" t="0" r="-158707" b="0"/>
              </a:stretch>
            </a:blipFill>
          </p:spPr>
        </p:sp>
        <p:sp>
          <p:nvSpPr>
            <p:cNvPr name="TextBox 27" id="27"/>
            <p:cNvSpPr txBox="true"/>
            <p:nvPr/>
          </p:nvSpPr>
          <p:spPr>
            <a:xfrm>
              <a:off x="0" y="-47625"/>
              <a:ext cx="4572000" cy="7484745"/>
            </a:xfrm>
            <a:prstGeom prst="rect">
              <a:avLst/>
            </a:prstGeom>
          </p:spPr>
          <p:txBody>
            <a:bodyPr anchor="ctr" rtlCol="false" tIns="0" lIns="0" bIns="0" rIns="0"/>
            <a:lstStyle/>
            <a:p>
              <a:pPr algn="ctr">
                <a:lnSpc>
                  <a:spcPts val="2664"/>
                </a:lnSpc>
              </a:pPr>
              <a:r>
                <a:rPr lang="en-US" sz="1850">
                  <a:solidFill>
                    <a:srgbClr val="FFFFFF"/>
                  </a:solidFill>
                  <a:latin typeface="Montserrat"/>
                  <a:ea typeface="Montserrat"/>
                  <a:cs typeface="Montserrat"/>
                  <a:sym typeface="Montserrat"/>
                </a:rPr>
                <a:t>Desarrollar el backend y el frontend del módulo de administración del negocio de Acredittia, integrando la gestión de empresas y catálogos, el ciclo de suscripciones y pagos, y una consola interna con auditoría de accesos.</a:t>
              </a:r>
            </a:p>
          </p:txBody>
        </p:sp>
      </p:grpSp>
      <p:grpSp>
        <p:nvGrpSpPr>
          <p:cNvPr name="Group 28" id="28"/>
          <p:cNvGrpSpPr/>
          <p:nvPr/>
        </p:nvGrpSpPr>
        <p:grpSpPr>
          <a:xfrm rot="0">
            <a:off x="9290304" y="2514600"/>
            <a:ext cx="868680" cy="868680"/>
            <a:chOff x="0" y="0"/>
            <a:chExt cx="1158240" cy="1158240"/>
          </a:xfrm>
        </p:grpSpPr>
        <p:sp>
          <p:nvSpPr>
            <p:cNvPr name="Freeform 29" id="29" descr="image6.png"/>
            <p:cNvSpPr/>
            <p:nvPr/>
          </p:nvSpPr>
          <p:spPr>
            <a:xfrm flipH="false" flipV="false" rot="0">
              <a:off x="0" y="0"/>
              <a:ext cx="1158240" cy="1158240"/>
            </a:xfrm>
            <a:custGeom>
              <a:avLst/>
              <a:gdLst/>
              <a:ahLst/>
              <a:cxnLst/>
              <a:rect r="r" b="b" t="t" l="l"/>
              <a:pathLst>
                <a:path h="1158240" w="1158240">
                  <a:moveTo>
                    <a:pt x="0" y="0"/>
                  </a:moveTo>
                  <a:lnTo>
                    <a:pt x="1158240" y="0"/>
                  </a:lnTo>
                  <a:lnTo>
                    <a:pt x="1158240" y="1158240"/>
                  </a:lnTo>
                  <a:lnTo>
                    <a:pt x="0" y="1158240"/>
                  </a:lnTo>
                  <a:lnTo>
                    <a:pt x="0" y="0"/>
                  </a:lnTo>
                  <a:close/>
                </a:path>
              </a:pathLst>
            </a:custGeom>
            <a:blipFill>
              <a:blip r:embed="rId3"/>
              <a:stretch>
                <a:fillRect l="0" t="0" r="0" b="0"/>
              </a:stretch>
            </a:blipFill>
          </p:spPr>
        </p:sp>
      </p:grpSp>
      <p:grpSp>
        <p:nvGrpSpPr>
          <p:cNvPr name="Group 30" id="30"/>
          <p:cNvGrpSpPr/>
          <p:nvPr/>
        </p:nvGrpSpPr>
        <p:grpSpPr>
          <a:xfrm rot="0">
            <a:off x="9290304" y="2514600"/>
            <a:ext cx="868680" cy="868680"/>
            <a:chOff x="0" y="0"/>
            <a:chExt cx="1158240" cy="1158240"/>
          </a:xfrm>
        </p:grpSpPr>
        <p:sp>
          <p:nvSpPr>
            <p:cNvPr name="Freeform 31" id="31"/>
            <p:cNvSpPr/>
            <p:nvPr/>
          </p:nvSpPr>
          <p:spPr>
            <a:xfrm flipH="false" flipV="false" rot="0">
              <a:off x="0" y="0"/>
              <a:ext cx="1158240" cy="1158240"/>
            </a:xfrm>
            <a:custGeom>
              <a:avLst/>
              <a:gdLst/>
              <a:ahLst/>
              <a:cxnLst/>
              <a:rect r="r" b="b" t="t" l="l"/>
              <a:pathLst>
                <a:path h="1158240" w="1158240">
                  <a:moveTo>
                    <a:pt x="0" y="0"/>
                  </a:moveTo>
                  <a:lnTo>
                    <a:pt x="1158240" y="0"/>
                  </a:lnTo>
                  <a:lnTo>
                    <a:pt x="1158240" y="1158240"/>
                  </a:lnTo>
                  <a:lnTo>
                    <a:pt x="0" y="1158240"/>
                  </a:lnTo>
                  <a:close/>
                </a:path>
              </a:pathLst>
            </a:custGeom>
            <a:blipFill>
              <a:blip r:embed="rId4">
                <a:alphaModFix amt="0"/>
              </a:blip>
              <a:stretch>
                <a:fillRect l="-78303" t="0" r="-78303" b="0"/>
              </a:stretch>
            </a:blipFill>
          </p:spPr>
        </p:sp>
        <p:sp>
          <p:nvSpPr>
            <p:cNvPr name="TextBox 32" id="32"/>
            <p:cNvSpPr txBox="true"/>
            <p:nvPr/>
          </p:nvSpPr>
          <p:spPr>
            <a:xfrm>
              <a:off x="0" y="-28575"/>
              <a:ext cx="1158240" cy="1186815"/>
            </a:xfrm>
            <a:prstGeom prst="rect">
              <a:avLst/>
            </a:prstGeom>
          </p:spPr>
          <p:txBody>
            <a:bodyPr anchor="ctr" rtlCol="false" tIns="0" lIns="0" bIns="0" rIns="0"/>
            <a:lstStyle/>
            <a:p>
              <a:pPr algn="ctr">
                <a:lnSpc>
                  <a:spcPts val="3960"/>
                </a:lnSpc>
              </a:pPr>
              <a:r>
                <a:rPr lang="en-US" sz="3000" b="true">
                  <a:solidFill>
                    <a:srgbClr val="FFFFFF"/>
                  </a:solidFill>
                  <a:latin typeface="Montserrat Bold"/>
                  <a:ea typeface="Montserrat Bold"/>
                  <a:cs typeface="Montserrat Bold"/>
                  <a:sym typeface="Montserrat Bold"/>
                </a:rPr>
                <a:t>3</a:t>
              </a:r>
            </a:p>
          </p:txBody>
        </p:sp>
      </p:grpSp>
      <p:sp>
        <p:nvSpPr>
          <p:cNvPr name="TextBox 33" id="33"/>
          <p:cNvSpPr txBox="true"/>
          <p:nvPr/>
        </p:nvSpPr>
        <p:spPr>
          <a:xfrm rot="0">
            <a:off x="10341864" y="2678430"/>
            <a:ext cx="3108960" cy="567690"/>
          </a:xfrm>
          <a:prstGeom prst="rect">
            <a:avLst/>
          </a:prstGeom>
        </p:spPr>
        <p:txBody>
          <a:bodyPr anchor="t" rtlCol="false" tIns="0" lIns="0" bIns="0" rIns="0">
            <a:spAutoFit/>
          </a:bodyPr>
          <a:lstStyle/>
          <a:p>
            <a:pPr algn="l">
              <a:lnSpc>
                <a:spcPts val="2640"/>
              </a:lnSpc>
            </a:pPr>
            <a:r>
              <a:rPr lang="en-US" sz="2000" b="true">
                <a:solidFill>
                  <a:srgbClr val="FFFFFF"/>
                </a:solidFill>
                <a:latin typeface="Montserrat Medium"/>
                <a:ea typeface="Montserrat Medium"/>
                <a:cs typeface="Montserrat Medium"/>
                <a:sym typeface="Montserrat Medium"/>
              </a:rPr>
              <a:t>Usuarios</a:t>
            </a:r>
          </a:p>
        </p:txBody>
      </p:sp>
      <p:grpSp>
        <p:nvGrpSpPr>
          <p:cNvPr name="Group 34" id="34"/>
          <p:cNvGrpSpPr/>
          <p:nvPr/>
        </p:nvGrpSpPr>
        <p:grpSpPr>
          <a:xfrm rot="0">
            <a:off x="9290304" y="3657600"/>
            <a:ext cx="3977640" cy="6126480"/>
            <a:chOff x="0" y="0"/>
            <a:chExt cx="5303520" cy="8168640"/>
          </a:xfrm>
        </p:grpSpPr>
        <p:sp>
          <p:nvSpPr>
            <p:cNvPr name="Freeform 35" id="35"/>
            <p:cNvSpPr/>
            <p:nvPr/>
          </p:nvSpPr>
          <p:spPr>
            <a:xfrm flipH="false" flipV="false" rot="0">
              <a:off x="0" y="0"/>
              <a:ext cx="5303520" cy="8168640"/>
            </a:xfrm>
            <a:custGeom>
              <a:avLst/>
              <a:gdLst/>
              <a:ahLst/>
              <a:cxnLst/>
              <a:rect r="r" b="b" t="t" l="l"/>
              <a:pathLst>
                <a:path h="8168640" w="5303520">
                  <a:moveTo>
                    <a:pt x="0" y="636397"/>
                  </a:moveTo>
                  <a:cubicBezTo>
                    <a:pt x="0" y="284988"/>
                    <a:pt x="284988" y="0"/>
                    <a:pt x="636397" y="0"/>
                  </a:cubicBezTo>
                  <a:lnTo>
                    <a:pt x="4667123" y="0"/>
                  </a:lnTo>
                  <a:cubicBezTo>
                    <a:pt x="5018659" y="0"/>
                    <a:pt x="5303520" y="284988"/>
                    <a:pt x="5303520" y="636397"/>
                  </a:cubicBezTo>
                  <a:lnTo>
                    <a:pt x="5303520" y="7532243"/>
                  </a:lnTo>
                  <a:cubicBezTo>
                    <a:pt x="5303520" y="7883779"/>
                    <a:pt x="5018532" y="8168640"/>
                    <a:pt x="4667123" y="8168640"/>
                  </a:cubicBezTo>
                  <a:lnTo>
                    <a:pt x="636397" y="8168640"/>
                  </a:lnTo>
                  <a:cubicBezTo>
                    <a:pt x="284988" y="8168640"/>
                    <a:pt x="0" y="7883652"/>
                    <a:pt x="0" y="7532243"/>
                  </a:cubicBezTo>
                  <a:close/>
                </a:path>
              </a:pathLst>
            </a:custGeom>
            <a:solidFill>
              <a:srgbClr val="15193A"/>
            </a:solidFill>
          </p:spPr>
        </p:sp>
      </p:grpSp>
      <p:grpSp>
        <p:nvGrpSpPr>
          <p:cNvPr name="Group 36" id="36"/>
          <p:cNvGrpSpPr/>
          <p:nvPr/>
        </p:nvGrpSpPr>
        <p:grpSpPr>
          <a:xfrm rot="0">
            <a:off x="9564624" y="3931920"/>
            <a:ext cx="3429000" cy="5577840"/>
            <a:chOff x="0" y="0"/>
            <a:chExt cx="4572000" cy="7437120"/>
          </a:xfrm>
        </p:grpSpPr>
        <p:sp>
          <p:nvSpPr>
            <p:cNvPr name="Freeform 37" id="37"/>
            <p:cNvSpPr/>
            <p:nvPr/>
          </p:nvSpPr>
          <p:spPr>
            <a:xfrm flipH="false" flipV="false" rot="0">
              <a:off x="0" y="0"/>
              <a:ext cx="4572000" cy="7437120"/>
            </a:xfrm>
            <a:custGeom>
              <a:avLst/>
              <a:gdLst/>
              <a:ahLst/>
              <a:cxnLst/>
              <a:rect r="r" b="b" t="t" l="l"/>
              <a:pathLst>
                <a:path h="7437120" w="4572000">
                  <a:moveTo>
                    <a:pt x="0" y="0"/>
                  </a:moveTo>
                  <a:lnTo>
                    <a:pt x="4572000" y="0"/>
                  </a:lnTo>
                  <a:lnTo>
                    <a:pt x="4572000" y="7437120"/>
                  </a:lnTo>
                  <a:lnTo>
                    <a:pt x="0" y="7437120"/>
                  </a:lnTo>
                  <a:close/>
                </a:path>
              </a:pathLst>
            </a:custGeom>
            <a:blipFill>
              <a:blip r:embed="rId4">
                <a:alphaModFix amt="0"/>
              </a:blip>
              <a:stretch>
                <a:fillRect l="-158707" t="0" r="-158707" b="0"/>
              </a:stretch>
            </a:blipFill>
          </p:spPr>
        </p:sp>
        <p:sp>
          <p:nvSpPr>
            <p:cNvPr name="TextBox 38" id="38"/>
            <p:cNvSpPr txBox="true"/>
            <p:nvPr/>
          </p:nvSpPr>
          <p:spPr>
            <a:xfrm>
              <a:off x="0" y="-47625"/>
              <a:ext cx="4572000" cy="7484745"/>
            </a:xfrm>
            <a:prstGeom prst="rect">
              <a:avLst/>
            </a:prstGeom>
          </p:spPr>
          <p:txBody>
            <a:bodyPr anchor="ctr" rtlCol="false" tIns="0" lIns="0" bIns="0" rIns="0"/>
            <a:lstStyle/>
            <a:p>
              <a:pPr algn="ctr">
                <a:lnSpc>
                  <a:spcPts val="2664"/>
                </a:lnSpc>
              </a:pPr>
              <a:r>
                <a:rPr lang="en-US" sz="1850">
                  <a:solidFill>
                    <a:srgbClr val="FFFFFF"/>
                  </a:solidFill>
                  <a:latin typeface="Montserrat"/>
                  <a:ea typeface="Montserrat"/>
                  <a:cs typeface="Montserrat"/>
                  <a:sym typeface="Montserrat"/>
                </a:rPr>
                <a:t>El equipo interno de Acredittia, en la consola de administración.</a:t>
              </a:r>
            </a:p>
            <a:p>
              <a:pPr algn="ctr">
                <a:lnSpc>
                  <a:spcPts val="2664"/>
                </a:lnSpc>
              </a:pPr>
            </a:p>
            <a:p>
              <a:pPr algn="ctr">
                <a:lnSpc>
                  <a:spcPts val="2664"/>
                </a:lnSpc>
              </a:pPr>
              <a:r>
                <a:rPr lang="en-US" sz="1850">
                  <a:solidFill>
                    <a:srgbClr val="FFFFFF"/>
                  </a:solidFill>
                  <a:latin typeface="Montserrat"/>
                  <a:ea typeface="Montserrat"/>
                  <a:cs typeface="Montserrat"/>
                  <a:sym typeface="Montserrat"/>
                </a:rPr>
                <a:t>Las empresas contratistas, en las pantallas de suscripción y pago del portal.</a:t>
              </a:r>
            </a:p>
          </p:txBody>
        </p:sp>
      </p:grpSp>
      <p:grpSp>
        <p:nvGrpSpPr>
          <p:cNvPr name="Group 39" id="39"/>
          <p:cNvGrpSpPr/>
          <p:nvPr/>
        </p:nvGrpSpPr>
        <p:grpSpPr>
          <a:xfrm rot="0">
            <a:off x="13569696" y="2514600"/>
            <a:ext cx="868680" cy="868680"/>
            <a:chOff x="0" y="0"/>
            <a:chExt cx="1158240" cy="1158240"/>
          </a:xfrm>
        </p:grpSpPr>
        <p:sp>
          <p:nvSpPr>
            <p:cNvPr name="Freeform 40" id="40" descr="image6.png"/>
            <p:cNvSpPr/>
            <p:nvPr/>
          </p:nvSpPr>
          <p:spPr>
            <a:xfrm flipH="false" flipV="false" rot="0">
              <a:off x="0" y="0"/>
              <a:ext cx="1158240" cy="1158240"/>
            </a:xfrm>
            <a:custGeom>
              <a:avLst/>
              <a:gdLst/>
              <a:ahLst/>
              <a:cxnLst/>
              <a:rect r="r" b="b" t="t" l="l"/>
              <a:pathLst>
                <a:path h="1158240" w="1158240">
                  <a:moveTo>
                    <a:pt x="0" y="0"/>
                  </a:moveTo>
                  <a:lnTo>
                    <a:pt x="1158240" y="0"/>
                  </a:lnTo>
                  <a:lnTo>
                    <a:pt x="1158240" y="1158240"/>
                  </a:lnTo>
                  <a:lnTo>
                    <a:pt x="0" y="1158240"/>
                  </a:lnTo>
                  <a:lnTo>
                    <a:pt x="0" y="0"/>
                  </a:lnTo>
                  <a:close/>
                </a:path>
              </a:pathLst>
            </a:custGeom>
            <a:blipFill>
              <a:blip r:embed="rId3"/>
              <a:stretch>
                <a:fillRect l="0" t="0" r="0" b="0"/>
              </a:stretch>
            </a:blipFill>
          </p:spPr>
        </p:sp>
      </p:grpSp>
      <p:grpSp>
        <p:nvGrpSpPr>
          <p:cNvPr name="Group 41" id="41"/>
          <p:cNvGrpSpPr/>
          <p:nvPr/>
        </p:nvGrpSpPr>
        <p:grpSpPr>
          <a:xfrm rot="0">
            <a:off x="13569696" y="2514600"/>
            <a:ext cx="868680" cy="868680"/>
            <a:chOff x="0" y="0"/>
            <a:chExt cx="1158240" cy="1158240"/>
          </a:xfrm>
        </p:grpSpPr>
        <p:sp>
          <p:nvSpPr>
            <p:cNvPr name="Freeform 42" id="42"/>
            <p:cNvSpPr/>
            <p:nvPr/>
          </p:nvSpPr>
          <p:spPr>
            <a:xfrm flipH="false" flipV="false" rot="0">
              <a:off x="0" y="0"/>
              <a:ext cx="1158240" cy="1158240"/>
            </a:xfrm>
            <a:custGeom>
              <a:avLst/>
              <a:gdLst/>
              <a:ahLst/>
              <a:cxnLst/>
              <a:rect r="r" b="b" t="t" l="l"/>
              <a:pathLst>
                <a:path h="1158240" w="1158240">
                  <a:moveTo>
                    <a:pt x="0" y="0"/>
                  </a:moveTo>
                  <a:lnTo>
                    <a:pt x="1158240" y="0"/>
                  </a:lnTo>
                  <a:lnTo>
                    <a:pt x="1158240" y="1158240"/>
                  </a:lnTo>
                  <a:lnTo>
                    <a:pt x="0" y="1158240"/>
                  </a:lnTo>
                  <a:close/>
                </a:path>
              </a:pathLst>
            </a:custGeom>
            <a:blipFill>
              <a:blip r:embed="rId4">
                <a:alphaModFix amt="0"/>
              </a:blip>
              <a:stretch>
                <a:fillRect l="-78303" t="0" r="-78303" b="0"/>
              </a:stretch>
            </a:blipFill>
          </p:spPr>
        </p:sp>
        <p:sp>
          <p:nvSpPr>
            <p:cNvPr name="TextBox 43" id="43"/>
            <p:cNvSpPr txBox="true"/>
            <p:nvPr/>
          </p:nvSpPr>
          <p:spPr>
            <a:xfrm>
              <a:off x="0" y="-28575"/>
              <a:ext cx="1158240" cy="1186815"/>
            </a:xfrm>
            <a:prstGeom prst="rect">
              <a:avLst/>
            </a:prstGeom>
          </p:spPr>
          <p:txBody>
            <a:bodyPr anchor="ctr" rtlCol="false" tIns="0" lIns="0" bIns="0" rIns="0"/>
            <a:lstStyle/>
            <a:p>
              <a:pPr algn="ctr">
                <a:lnSpc>
                  <a:spcPts val="3960"/>
                </a:lnSpc>
              </a:pPr>
              <a:r>
                <a:rPr lang="en-US" sz="3000" b="true">
                  <a:solidFill>
                    <a:srgbClr val="FFFFFF"/>
                  </a:solidFill>
                  <a:latin typeface="Montserrat Bold"/>
                  <a:ea typeface="Montserrat Bold"/>
                  <a:cs typeface="Montserrat Bold"/>
                  <a:sym typeface="Montserrat Bold"/>
                </a:rPr>
                <a:t>4</a:t>
              </a:r>
            </a:p>
          </p:txBody>
        </p:sp>
      </p:grpSp>
      <p:sp>
        <p:nvSpPr>
          <p:cNvPr name="TextBox 44" id="44"/>
          <p:cNvSpPr txBox="true"/>
          <p:nvPr/>
        </p:nvSpPr>
        <p:spPr>
          <a:xfrm rot="0">
            <a:off x="14621256" y="2678430"/>
            <a:ext cx="3108960" cy="567690"/>
          </a:xfrm>
          <a:prstGeom prst="rect">
            <a:avLst/>
          </a:prstGeom>
        </p:spPr>
        <p:txBody>
          <a:bodyPr anchor="t" rtlCol="false" tIns="0" lIns="0" bIns="0" rIns="0">
            <a:spAutoFit/>
          </a:bodyPr>
          <a:lstStyle/>
          <a:p>
            <a:pPr algn="l">
              <a:lnSpc>
                <a:spcPts val="2640"/>
              </a:lnSpc>
            </a:pPr>
            <a:r>
              <a:rPr lang="en-US" sz="2000" b="true">
                <a:solidFill>
                  <a:srgbClr val="FFFFFF"/>
                </a:solidFill>
                <a:latin typeface="Montserrat Medium"/>
                <a:ea typeface="Montserrat Medium"/>
                <a:cs typeface="Montserrat Medium"/>
                <a:sym typeface="Montserrat Medium"/>
              </a:rPr>
              <a:t>Alcance del MVP</a:t>
            </a:r>
          </a:p>
        </p:txBody>
      </p:sp>
      <p:grpSp>
        <p:nvGrpSpPr>
          <p:cNvPr name="Group 45" id="45"/>
          <p:cNvGrpSpPr/>
          <p:nvPr/>
        </p:nvGrpSpPr>
        <p:grpSpPr>
          <a:xfrm rot="0">
            <a:off x="13569696" y="3657600"/>
            <a:ext cx="3977640" cy="6126480"/>
            <a:chOff x="0" y="0"/>
            <a:chExt cx="5303520" cy="8168640"/>
          </a:xfrm>
        </p:grpSpPr>
        <p:sp>
          <p:nvSpPr>
            <p:cNvPr name="Freeform 46" id="46"/>
            <p:cNvSpPr/>
            <p:nvPr/>
          </p:nvSpPr>
          <p:spPr>
            <a:xfrm flipH="false" flipV="false" rot="0">
              <a:off x="0" y="0"/>
              <a:ext cx="5303520" cy="8168640"/>
            </a:xfrm>
            <a:custGeom>
              <a:avLst/>
              <a:gdLst/>
              <a:ahLst/>
              <a:cxnLst/>
              <a:rect r="r" b="b" t="t" l="l"/>
              <a:pathLst>
                <a:path h="8168640" w="5303520">
                  <a:moveTo>
                    <a:pt x="0" y="636397"/>
                  </a:moveTo>
                  <a:cubicBezTo>
                    <a:pt x="0" y="284988"/>
                    <a:pt x="284988" y="0"/>
                    <a:pt x="636397" y="0"/>
                  </a:cubicBezTo>
                  <a:lnTo>
                    <a:pt x="4667123" y="0"/>
                  </a:lnTo>
                  <a:cubicBezTo>
                    <a:pt x="5018659" y="0"/>
                    <a:pt x="5303520" y="284988"/>
                    <a:pt x="5303520" y="636397"/>
                  </a:cubicBezTo>
                  <a:lnTo>
                    <a:pt x="5303520" y="7532243"/>
                  </a:lnTo>
                  <a:cubicBezTo>
                    <a:pt x="5303520" y="7883779"/>
                    <a:pt x="5018532" y="8168640"/>
                    <a:pt x="4667123" y="8168640"/>
                  </a:cubicBezTo>
                  <a:lnTo>
                    <a:pt x="636397" y="8168640"/>
                  </a:lnTo>
                  <a:cubicBezTo>
                    <a:pt x="284988" y="8168640"/>
                    <a:pt x="0" y="7883652"/>
                    <a:pt x="0" y="7532243"/>
                  </a:cubicBezTo>
                  <a:close/>
                </a:path>
              </a:pathLst>
            </a:custGeom>
            <a:solidFill>
              <a:srgbClr val="15193A"/>
            </a:solidFill>
          </p:spPr>
        </p:sp>
      </p:grpSp>
      <p:grpSp>
        <p:nvGrpSpPr>
          <p:cNvPr name="Group 47" id="47"/>
          <p:cNvGrpSpPr/>
          <p:nvPr/>
        </p:nvGrpSpPr>
        <p:grpSpPr>
          <a:xfrm rot="0">
            <a:off x="13844016" y="3931920"/>
            <a:ext cx="3429000" cy="5577840"/>
            <a:chOff x="0" y="0"/>
            <a:chExt cx="4572000" cy="7437120"/>
          </a:xfrm>
        </p:grpSpPr>
        <p:sp>
          <p:nvSpPr>
            <p:cNvPr name="Freeform 48" id="48"/>
            <p:cNvSpPr/>
            <p:nvPr/>
          </p:nvSpPr>
          <p:spPr>
            <a:xfrm flipH="false" flipV="false" rot="0">
              <a:off x="0" y="0"/>
              <a:ext cx="4572000" cy="7437120"/>
            </a:xfrm>
            <a:custGeom>
              <a:avLst/>
              <a:gdLst/>
              <a:ahLst/>
              <a:cxnLst/>
              <a:rect r="r" b="b" t="t" l="l"/>
              <a:pathLst>
                <a:path h="7437120" w="4572000">
                  <a:moveTo>
                    <a:pt x="0" y="0"/>
                  </a:moveTo>
                  <a:lnTo>
                    <a:pt x="4572000" y="0"/>
                  </a:lnTo>
                  <a:lnTo>
                    <a:pt x="4572000" y="7437120"/>
                  </a:lnTo>
                  <a:lnTo>
                    <a:pt x="0" y="7437120"/>
                  </a:lnTo>
                  <a:close/>
                </a:path>
              </a:pathLst>
            </a:custGeom>
            <a:blipFill>
              <a:blip r:embed="rId4">
                <a:alphaModFix amt="0"/>
              </a:blip>
              <a:stretch>
                <a:fillRect l="-158707" t="0" r="-158707" b="0"/>
              </a:stretch>
            </a:blipFill>
          </p:spPr>
        </p:sp>
        <p:sp>
          <p:nvSpPr>
            <p:cNvPr name="TextBox 49" id="49"/>
            <p:cNvSpPr txBox="true"/>
            <p:nvPr/>
          </p:nvSpPr>
          <p:spPr>
            <a:xfrm>
              <a:off x="0" y="-47625"/>
              <a:ext cx="4572000" cy="7484745"/>
            </a:xfrm>
            <a:prstGeom prst="rect">
              <a:avLst/>
            </a:prstGeom>
          </p:spPr>
          <p:txBody>
            <a:bodyPr anchor="ctr" rtlCol="false" tIns="0" lIns="0" bIns="0" rIns="0"/>
            <a:lstStyle/>
            <a:p>
              <a:pPr algn="ctr">
                <a:lnSpc>
                  <a:spcPts val="2664"/>
                </a:lnSpc>
              </a:pPr>
              <a:r>
                <a:rPr lang="en-US" sz="1850">
                  <a:solidFill>
                    <a:srgbClr val="FFFFFF"/>
                  </a:solidFill>
                  <a:latin typeface="Montserrat"/>
                  <a:ea typeface="Montserrat"/>
                  <a:cs typeface="Montserrat"/>
                  <a:sym typeface="Montserrat"/>
                </a:rPr>
                <a:t>Portal con suscripción, pago simulado y control de morosidad. Consola con resumen global, empresas, suscripciones y pagos, salud de clientes, usuarios y roles, auditoría y buscador. Todo en Docker y publicado por internet.</a:t>
              </a:r>
            </a:p>
          </p:txBody>
        </p:sp>
      </p:gr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24384000" cy="13716000"/>
          </a:xfrm>
        </p:grpSpPr>
        <p:sp>
          <p:nvSpPr>
            <p:cNvPr name="Freeform 3" id="3" descr="fondo11_60.jpg"/>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lnTo>
                    <a:pt x="0" y="0"/>
                  </a:lnTo>
                  <a:close/>
                </a:path>
              </a:pathLst>
            </a:custGeom>
            <a:blipFill>
              <a:blip r:embed="rId2"/>
              <a:stretch>
                <a:fillRect l="0" t="-666" r="0" b="-666"/>
              </a:stretch>
            </a:blipFill>
          </p:spPr>
        </p:sp>
      </p:grpSp>
      <p:sp>
        <p:nvSpPr>
          <p:cNvPr name="TextBox 4" id="4"/>
          <p:cNvSpPr txBox="true"/>
          <p:nvPr/>
        </p:nvSpPr>
        <p:spPr>
          <a:xfrm rot="0">
            <a:off x="914400" y="355473"/>
            <a:ext cx="16459200" cy="760095"/>
          </a:xfrm>
          <a:prstGeom prst="rect">
            <a:avLst/>
          </a:prstGeom>
        </p:spPr>
        <p:txBody>
          <a:bodyPr anchor="t" rtlCol="false" tIns="0" lIns="0" bIns="0" rIns="0">
            <a:spAutoFit/>
          </a:bodyPr>
          <a:lstStyle/>
          <a:p>
            <a:pPr algn="ctr">
              <a:lnSpc>
                <a:spcPts val="3960"/>
              </a:lnSpc>
            </a:pPr>
            <a:r>
              <a:rPr lang="en-US" sz="3000">
                <a:solidFill>
                  <a:srgbClr val="FFFFFF"/>
                </a:solidFill>
                <a:latin typeface="Montserrat Light"/>
                <a:ea typeface="Montserrat Light"/>
                <a:cs typeface="Montserrat Light"/>
                <a:sym typeface="Montserrat Light"/>
              </a:rPr>
              <a:t>RETROALIMENTACIÓN FASE 1</a:t>
            </a:r>
          </a:p>
        </p:txBody>
      </p:sp>
      <p:sp>
        <p:nvSpPr>
          <p:cNvPr name="TextBox 5" id="5"/>
          <p:cNvSpPr txBox="true"/>
          <p:nvPr/>
        </p:nvSpPr>
        <p:spPr>
          <a:xfrm rot="0">
            <a:off x="914400" y="912495"/>
            <a:ext cx="16459200" cy="1144905"/>
          </a:xfrm>
          <a:prstGeom prst="rect">
            <a:avLst/>
          </a:prstGeom>
        </p:spPr>
        <p:txBody>
          <a:bodyPr anchor="t" rtlCol="false" tIns="0" lIns="0" bIns="0" rIns="0">
            <a:spAutoFit/>
          </a:bodyPr>
          <a:lstStyle/>
          <a:p>
            <a:pPr algn="ctr">
              <a:lnSpc>
                <a:spcPts val="6863"/>
              </a:lnSpc>
            </a:pPr>
            <a:r>
              <a:rPr lang="en-US" sz="5199" b="true">
                <a:solidFill>
                  <a:srgbClr val="FFFFFF"/>
                </a:solidFill>
                <a:latin typeface="Montserrat Bold"/>
                <a:ea typeface="Montserrat Bold"/>
                <a:cs typeface="Montserrat Bold"/>
                <a:sym typeface="Montserrat Bold"/>
              </a:rPr>
              <a:t>Y AJUSTES</a:t>
            </a:r>
          </a:p>
        </p:txBody>
      </p:sp>
      <p:graphicFrame>
        <p:nvGraphicFramePr>
          <p:cNvPr name="Table 6" id="6"/>
          <p:cNvGraphicFramePr>
            <a:graphicFrameLocks noGrp="true"/>
          </p:cNvGraphicFramePr>
          <p:nvPr/>
        </p:nvGraphicFramePr>
        <p:xfrm>
          <a:off x="731520" y="2286000"/>
          <a:ext cx="16802100" cy="7543800"/>
        </p:xfrm>
        <a:graphic>
          <a:graphicData uri="http://schemas.openxmlformats.org/drawingml/2006/table">
            <a:tbl>
              <a:tblPr/>
              <a:tblGrid>
                <a:gridCol w="4645375"/>
                <a:gridCol w="5890953"/>
                <a:gridCol w="1798337"/>
                <a:gridCol w="4467435"/>
              </a:tblGrid>
              <a:tr h="685800">
                <a:tc>
                  <a:txBody>
                    <a:bodyPr anchor="t" rtlCol="false"/>
                    <a:lstStyle/>
                    <a:p>
                      <a:pPr algn="l">
                        <a:lnSpc>
                          <a:spcPts val="1559"/>
                        </a:lnSpc>
                        <a:defRPr/>
                      </a:pPr>
                      <a:r>
                        <a:rPr lang="en-US" sz="1299" b="true">
                          <a:solidFill>
                            <a:srgbClr val="FFFFFF"/>
                          </a:solidFill>
                          <a:latin typeface="Montserrat Bold"/>
                          <a:ea typeface="Montserrat Bold"/>
                          <a:cs typeface="Montserrat Bold"/>
                          <a:sym typeface="Montserrat Bold"/>
                        </a:rPr>
                        <a:t>Observación recibida</a:t>
                      </a:r>
                      <a:endParaRPr lang="en-US" sz="1100"/>
                    </a:p>
                  </a:txBody>
                  <a:tcPr marL="91440" marR="91440" marT="91440" marB="91440" anchor="ctr">
                    <a:lnL cmpd="sng" algn="ctr" cap="flat" w="9525">
                      <a:solidFill>
                        <a:srgbClr val="3A4A9A"/>
                      </a:solidFill>
                      <a:prstDash val="solid"/>
                      <a:round/>
                      <a:headEnd type="none" w="med" len="med"/>
                      <a:tailEnd type="none" w="med" len="med"/>
                    </a:lnL>
                    <a:lnR cmpd="sng" algn="ctr" cap="flat" w="9525">
                      <a:solidFill>
                        <a:srgbClr val="3A4A9A"/>
                      </a:solidFill>
                      <a:prstDash val="solid"/>
                      <a:round/>
                      <a:headEnd type="none" w="med" len="med"/>
                      <a:tailEnd type="none" w="med" len="med"/>
                    </a:lnR>
                    <a:lnT cmpd="sng" algn="ctr" cap="flat" w="9525">
                      <a:solidFill>
                        <a:srgbClr val="3A4A9A"/>
                      </a:solidFill>
                      <a:prstDash val="solid"/>
                      <a:round/>
                      <a:headEnd type="none" w="med" len="med"/>
                      <a:tailEnd type="none" w="med" len="med"/>
                    </a:lnT>
                    <a:lnB cmpd="sng" algn="ctr" cap="flat" w="9525">
                      <a:solidFill>
                        <a:srgbClr val="3A4A9A"/>
                      </a:solidFill>
                      <a:prstDash val="solid"/>
                      <a:round/>
                      <a:headEnd type="none" w="med" len="med"/>
                      <a:tailEnd type="none" w="med" len="med"/>
                    </a:lnB>
                    <a:solidFill>
                      <a:srgbClr val="2B41B5"/>
                    </a:solidFill>
                  </a:tcPr>
                </a:tc>
                <a:tc>
                  <a:txBody>
                    <a:bodyPr anchor="t" rtlCol="false"/>
                    <a:lstStyle/>
                    <a:p>
                      <a:pPr algn="l">
                        <a:lnSpc>
                          <a:spcPts val="1559"/>
                        </a:lnSpc>
                        <a:defRPr/>
                      </a:pPr>
                      <a:r>
                        <a:rPr lang="en-US" sz="1299" b="true">
                          <a:solidFill>
                            <a:srgbClr val="FFFFFF"/>
                          </a:solidFill>
                          <a:latin typeface="Montserrat Bold"/>
                          <a:ea typeface="Montserrat Bold"/>
                          <a:cs typeface="Montserrat Bold"/>
                          <a:sym typeface="Montserrat Bold"/>
                        </a:rPr>
                        <a:t>Ajuste realizado</a:t>
                      </a:r>
                      <a:endParaRPr lang="en-US" sz="1100"/>
                    </a:p>
                  </a:txBody>
                  <a:tcPr marL="91440" marR="91440" marT="91440" marB="91440" anchor="ctr">
                    <a:lnL cmpd="sng" algn="ctr" cap="flat" w="9525">
                      <a:solidFill>
                        <a:srgbClr val="3A4A9A"/>
                      </a:solidFill>
                      <a:prstDash val="solid"/>
                      <a:round/>
                      <a:headEnd type="none" w="med" len="med"/>
                      <a:tailEnd type="none" w="med" len="med"/>
                    </a:lnL>
                    <a:lnR cmpd="sng" algn="ctr" cap="flat" w="9525">
                      <a:solidFill>
                        <a:srgbClr val="3A4A9A"/>
                      </a:solidFill>
                      <a:prstDash val="solid"/>
                      <a:round/>
                      <a:headEnd type="none" w="med" len="med"/>
                      <a:tailEnd type="none" w="med" len="med"/>
                    </a:lnR>
                    <a:lnT cmpd="sng" algn="ctr" cap="flat" w="9525">
                      <a:solidFill>
                        <a:srgbClr val="3A4A9A"/>
                      </a:solidFill>
                      <a:prstDash val="solid"/>
                      <a:round/>
                      <a:headEnd type="none" w="med" len="med"/>
                      <a:tailEnd type="none" w="med" len="med"/>
                    </a:lnT>
                    <a:lnB cmpd="sng" algn="ctr" cap="flat" w="9525">
                      <a:solidFill>
                        <a:srgbClr val="3A4A9A"/>
                      </a:solidFill>
                      <a:prstDash val="solid"/>
                      <a:round/>
                      <a:headEnd type="none" w="med" len="med"/>
                      <a:tailEnd type="none" w="med" len="med"/>
                    </a:lnB>
                    <a:solidFill>
                      <a:srgbClr val="2B41B5"/>
                    </a:solidFill>
                  </a:tcPr>
                </a:tc>
                <a:tc>
                  <a:txBody>
                    <a:bodyPr anchor="t" rtlCol="false"/>
                    <a:lstStyle/>
                    <a:p>
                      <a:pPr algn="l">
                        <a:lnSpc>
                          <a:spcPts val="1559"/>
                        </a:lnSpc>
                        <a:defRPr/>
                      </a:pPr>
                      <a:r>
                        <a:rPr lang="en-US" sz="1299" b="true">
                          <a:solidFill>
                            <a:srgbClr val="FFFFFF"/>
                          </a:solidFill>
                          <a:latin typeface="Montserrat Bold"/>
                          <a:ea typeface="Montserrat Bold"/>
                          <a:cs typeface="Montserrat Bold"/>
                          <a:sym typeface="Montserrat Bold"/>
                        </a:rPr>
                        <a:t>Origen</a:t>
                      </a:r>
                      <a:endParaRPr lang="en-US" sz="1100"/>
                    </a:p>
                  </a:txBody>
                  <a:tcPr marL="91440" marR="91440" marT="91440" marB="91440" anchor="ctr">
                    <a:lnL cmpd="sng" algn="ctr" cap="flat" w="9525">
                      <a:solidFill>
                        <a:srgbClr val="3A4A9A"/>
                      </a:solidFill>
                      <a:prstDash val="solid"/>
                      <a:round/>
                      <a:headEnd type="none" w="med" len="med"/>
                      <a:tailEnd type="none" w="med" len="med"/>
                    </a:lnL>
                    <a:lnR cmpd="sng" algn="ctr" cap="flat" w="9525">
                      <a:solidFill>
                        <a:srgbClr val="3A4A9A"/>
                      </a:solidFill>
                      <a:prstDash val="solid"/>
                      <a:round/>
                      <a:headEnd type="none" w="med" len="med"/>
                      <a:tailEnd type="none" w="med" len="med"/>
                    </a:lnR>
                    <a:lnT cmpd="sng" algn="ctr" cap="flat" w="9525">
                      <a:solidFill>
                        <a:srgbClr val="3A4A9A"/>
                      </a:solidFill>
                      <a:prstDash val="solid"/>
                      <a:round/>
                      <a:headEnd type="none" w="med" len="med"/>
                      <a:tailEnd type="none" w="med" len="med"/>
                    </a:lnT>
                    <a:lnB cmpd="sng" algn="ctr" cap="flat" w="9525">
                      <a:solidFill>
                        <a:srgbClr val="3A4A9A"/>
                      </a:solidFill>
                      <a:prstDash val="solid"/>
                      <a:round/>
                      <a:headEnd type="none" w="med" len="med"/>
                      <a:tailEnd type="none" w="med" len="med"/>
                    </a:lnB>
                    <a:solidFill>
                      <a:srgbClr val="2B41B5"/>
                    </a:solidFill>
                  </a:tcPr>
                </a:tc>
                <a:tc>
                  <a:txBody>
                    <a:bodyPr anchor="t" rtlCol="false"/>
                    <a:lstStyle/>
                    <a:p>
                      <a:pPr algn="l">
                        <a:lnSpc>
                          <a:spcPts val="1559"/>
                        </a:lnSpc>
                        <a:defRPr/>
                      </a:pPr>
                      <a:r>
                        <a:rPr lang="en-US" sz="1299" b="true">
                          <a:solidFill>
                            <a:srgbClr val="FFFFFF"/>
                          </a:solidFill>
                          <a:latin typeface="Montserrat Bold"/>
                          <a:ea typeface="Montserrat Bold"/>
                          <a:cs typeface="Montserrat Bold"/>
                          <a:sym typeface="Montserrat Bold"/>
                        </a:rPr>
                        <a:t>Justificación</a:t>
                      </a:r>
                      <a:endParaRPr lang="en-US" sz="1100"/>
                    </a:p>
                  </a:txBody>
                  <a:tcPr marL="91440" marR="91440" marT="91440" marB="91440" anchor="ctr">
                    <a:lnL cmpd="sng" algn="ctr" cap="flat" w="9525">
                      <a:solidFill>
                        <a:srgbClr val="3A4A9A"/>
                      </a:solidFill>
                      <a:prstDash val="solid"/>
                      <a:round/>
                      <a:headEnd type="none" w="med" len="med"/>
                      <a:tailEnd type="none" w="med" len="med"/>
                    </a:lnL>
                    <a:lnR cmpd="sng" algn="ctr" cap="flat" w="9525">
                      <a:solidFill>
                        <a:srgbClr val="3A4A9A"/>
                      </a:solidFill>
                      <a:prstDash val="solid"/>
                      <a:round/>
                      <a:headEnd type="none" w="med" len="med"/>
                      <a:tailEnd type="none" w="med" len="med"/>
                    </a:lnR>
                    <a:lnT cmpd="sng" algn="ctr" cap="flat" w="9525">
                      <a:solidFill>
                        <a:srgbClr val="3A4A9A"/>
                      </a:solidFill>
                      <a:prstDash val="solid"/>
                      <a:round/>
                      <a:headEnd type="none" w="med" len="med"/>
                      <a:tailEnd type="none" w="med" len="med"/>
                    </a:lnT>
                    <a:lnB cmpd="sng" algn="ctr" cap="flat" w="9525">
                      <a:solidFill>
                        <a:srgbClr val="3A4A9A"/>
                      </a:solidFill>
                      <a:prstDash val="solid"/>
                      <a:round/>
                      <a:headEnd type="none" w="med" len="med"/>
                      <a:tailEnd type="none" w="med" len="med"/>
                    </a:lnB>
                    <a:solidFill>
                      <a:srgbClr val="2B41B5"/>
                    </a:solidFill>
                  </a:tcPr>
                </a:tc>
              </a:tr>
              <a:tr h="685800">
                <a:tc>
                  <a:txBody>
                    <a:bodyPr anchor="t" rtlCol="false"/>
                    <a:lstStyle/>
                    <a:p>
                      <a:pPr algn="l">
                        <a:lnSpc>
                          <a:spcPts val="1559"/>
                        </a:lnSpc>
                        <a:defRPr/>
                      </a:pPr>
                      <a:r>
                        <a:rPr lang="en-US" sz="1299">
                          <a:solidFill>
                            <a:srgbClr val="FFFFFF"/>
                          </a:solidFill>
                          <a:latin typeface="Montserrat"/>
                          <a:ea typeface="Montserrat"/>
                          <a:cs typeface="Montserrat"/>
                          <a:sym typeface="Montserrat"/>
                        </a:rPr>
                        <a:t>Metodología sin cadencia: ciclos, marco y reuniones sin definir</a:t>
                      </a:r>
                      <a:endParaRPr lang="en-US" sz="1100"/>
                    </a:p>
                  </a:txBody>
                  <a:tcPr marL="91440" marR="91440" marT="91440" marB="91440" anchor="ctr">
                    <a:lnL cmpd="sng" algn="ctr" cap="flat" w="9525">
                      <a:solidFill>
                        <a:srgbClr val="3A4A9A"/>
                      </a:solidFill>
                      <a:prstDash val="solid"/>
                      <a:round/>
                      <a:headEnd type="none" w="med" len="med"/>
                      <a:tailEnd type="none" w="med" len="med"/>
                    </a:lnL>
                    <a:lnR cmpd="sng" algn="ctr" cap="flat" w="9525">
                      <a:solidFill>
                        <a:srgbClr val="3A4A9A"/>
                      </a:solidFill>
                      <a:prstDash val="solid"/>
                      <a:round/>
                      <a:headEnd type="none" w="med" len="med"/>
                      <a:tailEnd type="none" w="med" len="med"/>
                    </a:lnR>
                    <a:lnT cmpd="sng" algn="ctr" cap="flat" w="9525">
                      <a:solidFill>
                        <a:srgbClr val="3A4A9A"/>
                      </a:solidFill>
                      <a:prstDash val="solid"/>
                      <a:round/>
                      <a:headEnd type="none" w="med" len="med"/>
                      <a:tailEnd type="none" w="med" len="med"/>
                    </a:lnT>
                    <a:lnB cmpd="sng" algn="ctr" cap="flat" w="9525">
                      <a:solidFill>
                        <a:srgbClr val="3A4A9A"/>
                      </a:solidFill>
                      <a:prstDash val="solid"/>
                      <a:round/>
                      <a:headEnd type="none" w="med" len="med"/>
                      <a:tailEnd type="none" w="med" len="med"/>
                    </a:lnB>
                    <a:solidFill>
                      <a:srgbClr val="15193A"/>
                    </a:solidFill>
                  </a:tcPr>
                </a:tc>
                <a:tc>
                  <a:txBody>
                    <a:bodyPr anchor="t" rtlCol="false"/>
                    <a:lstStyle/>
                    <a:p>
                      <a:pPr algn="l">
                        <a:lnSpc>
                          <a:spcPts val="1559"/>
                        </a:lnSpc>
                        <a:defRPr/>
                      </a:pPr>
                      <a:r>
                        <a:rPr lang="en-US" sz="1299">
                          <a:solidFill>
                            <a:srgbClr val="FFFFFF"/>
                          </a:solidFill>
                          <a:latin typeface="Montserrat"/>
                          <a:ea typeface="Montserrat"/>
                          <a:cs typeface="Montserrat"/>
                          <a:sym typeface="Montserrat"/>
                        </a:rPr>
                        <a:t>Scrum adaptado: sprints de 2 semanas, seguimiento semanal, reunión semanal con la docente, revisión y retrospectiva por sprint</a:t>
                      </a:r>
                      <a:endParaRPr lang="en-US" sz="1100"/>
                    </a:p>
                  </a:txBody>
                  <a:tcPr marL="91440" marR="91440" marT="91440" marB="91440" anchor="ctr">
                    <a:lnL cmpd="sng" algn="ctr" cap="flat" w="9525">
                      <a:solidFill>
                        <a:srgbClr val="3A4A9A"/>
                      </a:solidFill>
                      <a:prstDash val="solid"/>
                      <a:round/>
                      <a:headEnd type="none" w="med" len="med"/>
                      <a:tailEnd type="none" w="med" len="med"/>
                    </a:lnL>
                    <a:lnR cmpd="sng" algn="ctr" cap="flat" w="9525">
                      <a:solidFill>
                        <a:srgbClr val="3A4A9A"/>
                      </a:solidFill>
                      <a:prstDash val="solid"/>
                      <a:round/>
                      <a:headEnd type="none" w="med" len="med"/>
                      <a:tailEnd type="none" w="med" len="med"/>
                    </a:lnR>
                    <a:lnT cmpd="sng" algn="ctr" cap="flat" w="9525">
                      <a:solidFill>
                        <a:srgbClr val="3A4A9A"/>
                      </a:solidFill>
                      <a:prstDash val="solid"/>
                      <a:round/>
                      <a:headEnd type="none" w="med" len="med"/>
                      <a:tailEnd type="none" w="med" len="med"/>
                    </a:lnT>
                    <a:lnB cmpd="sng" algn="ctr" cap="flat" w="9525">
                      <a:solidFill>
                        <a:srgbClr val="3A4A9A"/>
                      </a:solidFill>
                      <a:prstDash val="solid"/>
                      <a:round/>
                      <a:headEnd type="none" w="med" len="med"/>
                      <a:tailEnd type="none" w="med" len="med"/>
                    </a:lnB>
                    <a:solidFill>
                      <a:srgbClr val="15193A"/>
                    </a:solidFill>
                  </a:tcPr>
                </a:tc>
                <a:tc>
                  <a:txBody>
                    <a:bodyPr anchor="t" rtlCol="false"/>
                    <a:lstStyle/>
                    <a:p>
                      <a:pPr algn="l">
                        <a:lnSpc>
                          <a:spcPts val="1559"/>
                        </a:lnSpc>
                        <a:defRPr/>
                      </a:pPr>
                      <a:r>
                        <a:rPr lang="en-US" sz="1299">
                          <a:solidFill>
                            <a:srgbClr val="8FA8FF"/>
                          </a:solidFill>
                          <a:latin typeface="Montserrat"/>
                          <a:ea typeface="Montserrat"/>
                          <a:cs typeface="Montserrat"/>
                          <a:sym typeface="Montserrat"/>
                        </a:rPr>
                        <a:t>Retro docente</a:t>
                      </a:r>
                      <a:endParaRPr lang="en-US" sz="1100"/>
                    </a:p>
                  </a:txBody>
                  <a:tcPr marL="91440" marR="91440" marT="91440" marB="91440" anchor="ctr">
                    <a:lnL cmpd="sng" algn="ctr" cap="flat" w="9525">
                      <a:solidFill>
                        <a:srgbClr val="3A4A9A"/>
                      </a:solidFill>
                      <a:prstDash val="solid"/>
                      <a:round/>
                      <a:headEnd type="none" w="med" len="med"/>
                      <a:tailEnd type="none" w="med" len="med"/>
                    </a:lnL>
                    <a:lnR cmpd="sng" algn="ctr" cap="flat" w="9525">
                      <a:solidFill>
                        <a:srgbClr val="3A4A9A"/>
                      </a:solidFill>
                      <a:prstDash val="solid"/>
                      <a:round/>
                      <a:headEnd type="none" w="med" len="med"/>
                      <a:tailEnd type="none" w="med" len="med"/>
                    </a:lnR>
                    <a:lnT cmpd="sng" algn="ctr" cap="flat" w="9525">
                      <a:solidFill>
                        <a:srgbClr val="3A4A9A"/>
                      </a:solidFill>
                      <a:prstDash val="solid"/>
                      <a:round/>
                      <a:headEnd type="none" w="med" len="med"/>
                      <a:tailEnd type="none" w="med" len="med"/>
                    </a:lnT>
                    <a:lnB cmpd="sng" algn="ctr" cap="flat" w="9525">
                      <a:solidFill>
                        <a:srgbClr val="3A4A9A"/>
                      </a:solidFill>
                      <a:prstDash val="solid"/>
                      <a:round/>
                      <a:headEnd type="none" w="med" len="med"/>
                      <a:tailEnd type="none" w="med" len="med"/>
                    </a:lnB>
                    <a:solidFill>
                      <a:srgbClr val="15193A"/>
                    </a:solidFill>
                  </a:tcPr>
                </a:tc>
                <a:tc>
                  <a:txBody>
                    <a:bodyPr anchor="t" rtlCol="false"/>
                    <a:lstStyle/>
                    <a:p>
                      <a:pPr algn="l">
                        <a:lnSpc>
                          <a:spcPts val="1559"/>
                        </a:lnSpc>
                        <a:defRPr/>
                      </a:pPr>
                      <a:r>
                        <a:rPr lang="en-US" sz="1299">
                          <a:solidFill>
                            <a:srgbClr val="FFFFFF"/>
                          </a:solidFill>
                          <a:latin typeface="Montserrat"/>
                          <a:ea typeface="Montserrat"/>
                          <a:cs typeface="Montserrat"/>
                          <a:sym typeface="Montserrat"/>
                        </a:rPr>
                        <a:t>Hace verificable el proceso en el tiempo</a:t>
                      </a:r>
                      <a:endParaRPr lang="en-US" sz="1100"/>
                    </a:p>
                  </a:txBody>
                  <a:tcPr marL="91440" marR="91440" marT="91440" marB="91440" anchor="ctr">
                    <a:lnL cmpd="sng" algn="ctr" cap="flat" w="9525">
                      <a:solidFill>
                        <a:srgbClr val="3A4A9A"/>
                      </a:solidFill>
                      <a:prstDash val="solid"/>
                      <a:round/>
                      <a:headEnd type="none" w="med" len="med"/>
                      <a:tailEnd type="none" w="med" len="med"/>
                    </a:lnL>
                    <a:lnR cmpd="sng" algn="ctr" cap="flat" w="9525">
                      <a:solidFill>
                        <a:srgbClr val="3A4A9A"/>
                      </a:solidFill>
                      <a:prstDash val="solid"/>
                      <a:round/>
                      <a:headEnd type="none" w="med" len="med"/>
                      <a:tailEnd type="none" w="med" len="med"/>
                    </a:lnR>
                    <a:lnT cmpd="sng" algn="ctr" cap="flat" w="9525">
                      <a:solidFill>
                        <a:srgbClr val="3A4A9A"/>
                      </a:solidFill>
                      <a:prstDash val="solid"/>
                      <a:round/>
                      <a:headEnd type="none" w="med" len="med"/>
                      <a:tailEnd type="none" w="med" len="med"/>
                    </a:lnT>
                    <a:lnB cmpd="sng" algn="ctr" cap="flat" w="9525">
                      <a:solidFill>
                        <a:srgbClr val="3A4A9A"/>
                      </a:solidFill>
                      <a:prstDash val="solid"/>
                      <a:round/>
                      <a:headEnd type="none" w="med" len="med"/>
                      <a:tailEnd type="none" w="med" len="med"/>
                    </a:lnB>
                    <a:solidFill>
                      <a:srgbClr val="15193A"/>
                    </a:solidFill>
                  </a:tcPr>
                </a:tc>
              </a:tr>
              <a:tr h="685800">
                <a:tc>
                  <a:txBody>
                    <a:bodyPr anchor="t" rtlCol="false"/>
                    <a:lstStyle/>
                    <a:p>
                      <a:pPr algn="l">
                        <a:lnSpc>
                          <a:spcPts val="1559"/>
                        </a:lnSpc>
                        <a:defRPr/>
                      </a:pPr>
                      <a:r>
                        <a:rPr lang="en-US" sz="1299">
                          <a:solidFill>
                            <a:srgbClr val="FFFFFF"/>
                          </a:solidFill>
                          <a:latin typeface="Montserrat"/>
                          <a:ea typeface="Montserrat"/>
                          <a:cs typeface="Montserrat"/>
                          <a:sym typeface="Montserrat"/>
                        </a:rPr>
                        <a:t>Plan con Recursos vacío y sin las actividades de cierre</a:t>
                      </a:r>
                      <a:endParaRPr lang="en-US" sz="1100"/>
                    </a:p>
                  </a:txBody>
                  <a:tcPr marL="91440" marR="91440" marT="91440" marB="91440" anchor="ctr">
                    <a:lnL cmpd="sng" algn="ctr" cap="flat" w="9525">
                      <a:solidFill>
                        <a:srgbClr val="3A4A9A"/>
                      </a:solidFill>
                      <a:prstDash val="solid"/>
                      <a:round/>
                      <a:headEnd type="none" w="med" len="med"/>
                      <a:tailEnd type="none" w="med" len="med"/>
                    </a:lnL>
                    <a:lnR cmpd="sng" algn="ctr" cap="flat" w="9525">
                      <a:solidFill>
                        <a:srgbClr val="3A4A9A"/>
                      </a:solidFill>
                      <a:prstDash val="solid"/>
                      <a:round/>
                      <a:headEnd type="none" w="med" len="med"/>
                      <a:tailEnd type="none" w="med" len="med"/>
                    </a:lnR>
                    <a:lnT cmpd="sng" algn="ctr" cap="flat" w="9525">
                      <a:solidFill>
                        <a:srgbClr val="3A4A9A"/>
                      </a:solidFill>
                      <a:prstDash val="solid"/>
                      <a:round/>
                      <a:headEnd type="none" w="med" len="med"/>
                      <a:tailEnd type="none" w="med" len="med"/>
                    </a:lnT>
                    <a:lnB cmpd="sng" algn="ctr" cap="flat" w="9525">
                      <a:solidFill>
                        <a:srgbClr val="3A4A9A"/>
                      </a:solidFill>
                      <a:prstDash val="solid"/>
                      <a:round/>
                      <a:headEnd type="none" w="med" len="med"/>
                      <a:tailEnd type="none" w="med" len="med"/>
                    </a:lnB>
                    <a:solidFill>
                      <a:srgbClr val="1C2350"/>
                    </a:solidFill>
                  </a:tcPr>
                </a:tc>
                <a:tc>
                  <a:txBody>
                    <a:bodyPr anchor="t" rtlCol="false"/>
                    <a:lstStyle/>
                    <a:p>
                      <a:pPr algn="l">
                        <a:lnSpc>
                          <a:spcPts val="1559"/>
                        </a:lnSpc>
                        <a:defRPr/>
                      </a:pPr>
                      <a:r>
                        <a:rPr lang="en-US" sz="1299">
                          <a:solidFill>
                            <a:srgbClr val="FFFFFF"/>
                          </a:solidFill>
                          <a:latin typeface="Montserrat"/>
                          <a:ea typeface="Montserrat"/>
                          <a:cs typeface="Montserrat"/>
                          <a:sym typeface="Montserrat"/>
                        </a:rPr>
                        <a:t>Recursos completos; se agregaron informe final y exposición</a:t>
                      </a:r>
                      <a:endParaRPr lang="en-US" sz="1100"/>
                    </a:p>
                  </a:txBody>
                  <a:tcPr marL="91440" marR="91440" marT="91440" marB="91440" anchor="ctr">
                    <a:lnL cmpd="sng" algn="ctr" cap="flat" w="9525">
                      <a:solidFill>
                        <a:srgbClr val="3A4A9A"/>
                      </a:solidFill>
                      <a:prstDash val="solid"/>
                      <a:round/>
                      <a:headEnd type="none" w="med" len="med"/>
                      <a:tailEnd type="none" w="med" len="med"/>
                    </a:lnL>
                    <a:lnR cmpd="sng" algn="ctr" cap="flat" w="9525">
                      <a:solidFill>
                        <a:srgbClr val="3A4A9A"/>
                      </a:solidFill>
                      <a:prstDash val="solid"/>
                      <a:round/>
                      <a:headEnd type="none" w="med" len="med"/>
                      <a:tailEnd type="none" w="med" len="med"/>
                    </a:lnR>
                    <a:lnT cmpd="sng" algn="ctr" cap="flat" w="9525">
                      <a:solidFill>
                        <a:srgbClr val="3A4A9A"/>
                      </a:solidFill>
                      <a:prstDash val="solid"/>
                      <a:round/>
                      <a:headEnd type="none" w="med" len="med"/>
                      <a:tailEnd type="none" w="med" len="med"/>
                    </a:lnT>
                    <a:lnB cmpd="sng" algn="ctr" cap="flat" w="9525">
                      <a:solidFill>
                        <a:srgbClr val="3A4A9A"/>
                      </a:solidFill>
                      <a:prstDash val="solid"/>
                      <a:round/>
                      <a:headEnd type="none" w="med" len="med"/>
                      <a:tailEnd type="none" w="med" len="med"/>
                    </a:lnB>
                    <a:solidFill>
                      <a:srgbClr val="1C2350"/>
                    </a:solidFill>
                  </a:tcPr>
                </a:tc>
                <a:tc>
                  <a:txBody>
                    <a:bodyPr anchor="t" rtlCol="false"/>
                    <a:lstStyle/>
                    <a:p>
                      <a:pPr algn="l">
                        <a:lnSpc>
                          <a:spcPts val="1559"/>
                        </a:lnSpc>
                        <a:defRPr/>
                      </a:pPr>
                      <a:r>
                        <a:rPr lang="en-US" sz="1299">
                          <a:solidFill>
                            <a:srgbClr val="8FA8FF"/>
                          </a:solidFill>
                          <a:latin typeface="Montserrat"/>
                          <a:ea typeface="Montserrat"/>
                          <a:cs typeface="Montserrat"/>
                          <a:sym typeface="Montserrat"/>
                        </a:rPr>
                        <a:t>Retro docente</a:t>
                      </a:r>
                      <a:endParaRPr lang="en-US" sz="1100"/>
                    </a:p>
                  </a:txBody>
                  <a:tcPr marL="91440" marR="91440" marT="91440" marB="91440" anchor="ctr">
                    <a:lnL cmpd="sng" algn="ctr" cap="flat" w="9525">
                      <a:solidFill>
                        <a:srgbClr val="3A4A9A"/>
                      </a:solidFill>
                      <a:prstDash val="solid"/>
                      <a:round/>
                      <a:headEnd type="none" w="med" len="med"/>
                      <a:tailEnd type="none" w="med" len="med"/>
                    </a:lnL>
                    <a:lnR cmpd="sng" algn="ctr" cap="flat" w="9525">
                      <a:solidFill>
                        <a:srgbClr val="3A4A9A"/>
                      </a:solidFill>
                      <a:prstDash val="solid"/>
                      <a:round/>
                      <a:headEnd type="none" w="med" len="med"/>
                      <a:tailEnd type="none" w="med" len="med"/>
                    </a:lnR>
                    <a:lnT cmpd="sng" algn="ctr" cap="flat" w="9525">
                      <a:solidFill>
                        <a:srgbClr val="3A4A9A"/>
                      </a:solidFill>
                      <a:prstDash val="solid"/>
                      <a:round/>
                      <a:headEnd type="none" w="med" len="med"/>
                      <a:tailEnd type="none" w="med" len="med"/>
                    </a:lnT>
                    <a:lnB cmpd="sng" algn="ctr" cap="flat" w="9525">
                      <a:solidFill>
                        <a:srgbClr val="3A4A9A"/>
                      </a:solidFill>
                      <a:prstDash val="solid"/>
                      <a:round/>
                      <a:headEnd type="none" w="med" len="med"/>
                      <a:tailEnd type="none" w="med" len="med"/>
                    </a:lnB>
                    <a:solidFill>
                      <a:srgbClr val="1C2350"/>
                    </a:solidFill>
                  </a:tcPr>
                </a:tc>
                <a:tc>
                  <a:txBody>
                    <a:bodyPr anchor="t" rtlCol="false"/>
                    <a:lstStyle/>
                    <a:p>
                      <a:pPr algn="l">
                        <a:lnSpc>
                          <a:spcPts val="1559"/>
                        </a:lnSpc>
                        <a:defRPr/>
                      </a:pPr>
                      <a:r>
                        <a:rPr lang="en-US" sz="1299">
                          <a:solidFill>
                            <a:srgbClr val="FFFFFF"/>
                          </a:solidFill>
                          <a:latin typeface="Montserrat"/>
                          <a:ea typeface="Montserrat"/>
                          <a:cs typeface="Montserrat"/>
                          <a:sym typeface="Montserrat"/>
                        </a:rPr>
                        <a:t>Toda actividad de la Gantt tiene recursos, responsable y observaciones</a:t>
                      </a:r>
                      <a:endParaRPr lang="en-US" sz="1100"/>
                    </a:p>
                  </a:txBody>
                  <a:tcPr marL="91440" marR="91440" marT="91440" marB="91440" anchor="ctr">
                    <a:lnL cmpd="sng" algn="ctr" cap="flat" w="9525">
                      <a:solidFill>
                        <a:srgbClr val="3A4A9A"/>
                      </a:solidFill>
                      <a:prstDash val="solid"/>
                      <a:round/>
                      <a:headEnd type="none" w="med" len="med"/>
                      <a:tailEnd type="none" w="med" len="med"/>
                    </a:lnL>
                    <a:lnR cmpd="sng" algn="ctr" cap="flat" w="9525">
                      <a:solidFill>
                        <a:srgbClr val="3A4A9A"/>
                      </a:solidFill>
                      <a:prstDash val="solid"/>
                      <a:round/>
                      <a:headEnd type="none" w="med" len="med"/>
                      <a:tailEnd type="none" w="med" len="med"/>
                    </a:lnR>
                    <a:lnT cmpd="sng" algn="ctr" cap="flat" w="9525">
                      <a:solidFill>
                        <a:srgbClr val="3A4A9A"/>
                      </a:solidFill>
                      <a:prstDash val="solid"/>
                      <a:round/>
                      <a:headEnd type="none" w="med" len="med"/>
                      <a:tailEnd type="none" w="med" len="med"/>
                    </a:lnT>
                    <a:lnB cmpd="sng" algn="ctr" cap="flat" w="9525">
                      <a:solidFill>
                        <a:srgbClr val="3A4A9A"/>
                      </a:solidFill>
                      <a:prstDash val="solid"/>
                      <a:round/>
                      <a:headEnd type="none" w="med" len="med"/>
                      <a:tailEnd type="none" w="med" len="med"/>
                    </a:lnB>
                    <a:solidFill>
                      <a:srgbClr val="1C2350"/>
                    </a:solidFill>
                  </a:tcPr>
                </a:tc>
              </a:tr>
              <a:tr h="685800">
                <a:tc>
                  <a:txBody>
                    <a:bodyPr anchor="t" rtlCol="false"/>
                    <a:lstStyle/>
                    <a:p>
                      <a:pPr algn="l">
                        <a:lnSpc>
                          <a:spcPts val="1559"/>
                        </a:lnSpc>
                        <a:defRPr/>
                      </a:pPr>
                      <a:r>
                        <a:rPr lang="en-US" sz="1299">
                          <a:solidFill>
                            <a:srgbClr val="FFFFFF"/>
                          </a:solidFill>
                          <a:latin typeface="Montserrat"/>
                          <a:ea typeface="Montserrat"/>
                          <a:cs typeface="Montserrat"/>
                          <a:sym typeface="Montserrat"/>
                        </a:rPr>
                        <a:t>Hitos por fase y Fase 1 vacía en la Gantt</a:t>
                      </a:r>
                      <a:endParaRPr lang="en-US" sz="1100"/>
                    </a:p>
                  </a:txBody>
                  <a:tcPr marL="91440" marR="91440" marT="91440" marB="91440" anchor="ctr">
                    <a:lnL cmpd="sng" algn="ctr" cap="flat" w="9525">
                      <a:solidFill>
                        <a:srgbClr val="3A4A9A"/>
                      </a:solidFill>
                      <a:prstDash val="solid"/>
                      <a:round/>
                      <a:headEnd type="none" w="med" len="med"/>
                      <a:tailEnd type="none" w="med" len="med"/>
                    </a:lnL>
                    <a:lnR cmpd="sng" algn="ctr" cap="flat" w="9525">
                      <a:solidFill>
                        <a:srgbClr val="3A4A9A"/>
                      </a:solidFill>
                      <a:prstDash val="solid"/>
                      <a:round/>
                      <a:headEnd type="none" w="med" len="med"/>
                      <a:tailEnd type="none" w="med" len="med"/>
                    </a:lnR>
                    <a:lnT cmpd="sng" algn="ctr" cap="flat" w="9525">
                      <a:solidFill>
                        <a:srgbClr val="3A4A9A"/>
                      </a:solidFill>
                      <a:prstDash val="solid"/>
                      <a:round/>
                      <a:headEnd type="none" w="med" len="med"/>
                      <a:tailEnd type="none" w="med" len="med"/>
                    </a:lnT>
                    <a:lnB cmpd="sng" algn="ctr" cap="flat" w="9525">
                      <a:solidFill>
                        <a:srgbClr val="3A4A9A"/>
                      </a:solidFill>
                      <a:prstDash val="solid"/>
                      <a:round/>
                      <a:headEnd type="none" w="med" len="med"/>
                      <a:tailEnd type="none" w="med" len="med"/>
                    </a:lnB>
                    <a:solidFill>
                      <a:srgbClr val="15193A"/>
                    </a:solidFill>
                  </a:tcPr>
                </a:tc>
                <a:tc>
                  <a:txBody>
                    <a:bodyPr anchor="t" rtlCol="false"/>
                    <a:lstStyle/>
                    <a:p>
                      <a:pPr algn="l">
                        <a:lnSpc>
                          <a:spcPts val="1559"/>
                        </a:lnSpc>
                        <a:defRPr/>
                      </a:pPr>
                      <a:r>
                        <a:rPr lang="en-US" sz="1299">
                          <a:solidFill>
                            <a:srgbClr val="FFFFFF"/>
                          </a:solidFill>
                          <a:latin typeface="Montserrat"/>
                          <a:ea typeface="Montserrat"/>
                          <a:cs typeface="Montserrat"/>
                          <a:sym typeface="Montserrat"/>
                        </a:rPr>
                        <a:t>Hitos H0 a H6 con semana; actividades de la Fase 1 en la Gantt</a:t>
                      </a:r>
                      <a:endParaRPr lang="en-US" sz="1100"/>
                    </a:p>
                  </a:txBody>
                  <a:tcPr marL="91440" marR="91440" marT="91440" marB="91440" anchor="ctr">
                    <a:lnL cmpd="sng" algn="ctr" cap="flat" w="9525">
                      <a:solidFill>
                        <a:srgbClr val="3A4A9A"/>
                      </a:solidFill>
                      <a:prstDash val="solid"/>
                      <a:round/>
                      <a:headEnd type="none" w="med" len="med"/>
                      <a:tailEnd type="none" w="med" len="med"/>
                    </a:lnL>
                    <a:lnR cmpd="sng" algn="ctr" cap="flat" w="9525">
                      <a:solidFill>
                        <a:srgbClr val="3A4A9A"/>
                      </a:solidFill>
                      <a:prstDash val="solid"/>
                      <a:round/>
                      <a:headEnd type="none" w="med" len="med"/>
                      <a:tailEnd type="none" w="med" len="med"/>
                    </a:lnR>
                    <a:lnT cmpd="sng" algn="ctr" cap="flat" w="9525">
                      <a:solidFill>
                        <a:srgbClr val="3A4A9A"/>
                      </a:solidFill>
                      <a:prstDash val="solid"/>
                      <a:round/>
                      <a:headEnd type="none" w="med" len="med"/>
                      <a:tailEnd type="none" w="med" len="med"/>
                    </a:lnT>
                    <a:lnB cmpd="sng" algn="ctr" cap="flat" w="9525">
                      <a:solidFill>
                        <a:srgbClr val="3A4A9A"/>
                      </a:solidFill>
                      <a:prstDash val="solid"/>
                      <a:round/>
                      <a:headEnd type="none" w="med" len="med"/>
                      <a:tailEnd type="none" w="med" len="med"/>
                    </a:lnB>
                    <a:solidFill>
                      <a:srgbClr val="15193A"/>
                    </a:solidFill>
                  </a:tcPr>
                </a:tc>
                <a:tc>
                  <a:txBody>
                    <a:bodyPr anchor="t" rtlCol="false"/>
                    <a:lstStyle/>
                    <a:p>
                      <a:pPr algn="l">
                        <a:lnSpc>
                          <a:spcPts val="1559"/>
                        </a:lnSpc>
                        <a:defRPr/>
                      </a:pPr>
                      <a:r>
                        <a:rPr lang="en-US" sz="1299">
                          <a:solidFill>
                            <a:srgbClr val="8FA8FF"/>
                          </a:solidFill>
                          <a:latin typeface="Montserrat"/>
                          <a:ea typeface="Montserrat"/>
                          <a:cs typeface="Montserrat"/>
                          <a:sym typeface="Montserrat"/>
                        </a:rPr>
                        <a:t>Retro docente</a:t>
                      </a:r>
                      <a:endParaRPr lang="en-US" sz="1100"/>
                    </a:p>
                  </a:txBody>
                  <a:tcPr marL="91440" marR="91440" marT="91440" marB="91440" anchor="ctr">
                    <a:lnL cmpd="sng" algn="ctr" cap="flat" w="9525">
                      <a:solidFill>
                        <a:srgbClr val="3A4A9A"/>
                      </a:solidFill>
                      <a:prstDash val="solid"/>
                      <a:round/>
                      <a:headEnd type="none" w="med" len="med"/>
                      <a:tailEnd type="none" w="med" len="med"/>
                    </a:lnL>
                    <a:lnR cmpd="sng" algn="ctr" cap="flat" w="9525">
                      <a:solidFill>
                        <a:srgbClr val="3A4A9A"/>
                      </a:solidFill>
                      <a:prstDash val="solid"/>
                      <a:round/>
                      <a:headEnd type="none" w="med" len="med"/>
                      <a:tailEnd type="none" w="med" len="med"/>
                    </a:lnR>
                    <a:lnT cmpd="sng" algn="ctr" cap="flat" w="9525">
                      <a:solidFill>
                        <a:srgbClr val="3A4A9A"/>
                      </a:solidFill>
                      <a:prstDash val="solid"/>
                      <a:round/>
                      <a:headEnd type="none" w="med" len="med"/>
                      <a:tailEnd type="none" w="med" len="med"/>
                    </a:lnT>
                    <a:lnB cmpd="sng" algn="ctr" cap="flat" w="9525">
                      <a:solidFill>
                        <a:srgbClr val="3A4A9A"/>
                      </a:solidFill>
                      <a:prstDash val="solid"/>
                      <a:round/>
                      <a:headEnd type="none" w="med" len="med"/>
                      <a:tailEnd type="none" w="med" len="med"/>
                    </a:lnB>
                    <a:solidFill>
                      <a:srgbClr val="15193A"/>
                    </a:solidFill>
                  </a:tcPr>
                </a:tc>
                <a:tc>
                  <a:txBody>
                    <a:bodyPr anchor="t" rtlCol="false"/>
                    <a:lstStyle/>
                    <a:p>
                      <a:pPr algn="l">
                        <a:lnSpc>
                          <a:spcPts val="1559"/>
                        </a:lnSpc>
                        <a:defRPr/>
                      </a:pPr>
                      <a:r>
                        <a:rPr lang="en-US" sz="1299">
                          <a:solidFill>
                            <a:srgbClr val="FFFFFF"/>
                          </a:solidFill>
                          <a:latin typeface="Montserrat"/>
                          <a:ea typeface="Montserrat"/>
                          <a:cs typeface="Montserrat"/>
                          <a:sym typeface="Montserrat"/>
                        </a:rPr>
                        <a:t>Permite medir el avance en un corte intermedio</a:t>
                      </a:r>
                      <a:endParaRPr lang="en-US" sz="1100"/>
                    </a:p>
                  </a:txBody>
                  <a:tcPr marL="91440" marR="91440" marT="91440" marB="91440" anchor="ctr">
                    <a:lnL cmpd="sng" algn="ctr" cap="flat" w="9525">
                      <a:solidFill>
                        <a:srgbClr val="3A4A9A"/>
                      </a:solidFill>
                      <a:prstDash val="solid"/>
                      <a:round/>
                      <a:headEnd type="none" w="med" len="med"/>
                      <a:tailEnd type="none" w="med" len="med"/>
                    </a:lnL>
                    <a:lnR cmpd="sng" algn="ctr" cap="flat" w="9525">
                      <a:solidFill>
                        <a:srgbClr val="3A4A9A"/>
                      </a:solidFill>
                      <a:prstDash val="solid"/>
                      <a:round/>
                      <a:headEnd type="none" w="med" len="med"/>
                      <a:tailEnd type="none" w="med" len="med"/>
                    </a:lnR>
                    <a:lnT cmpd="sng" algn="ctr" cap="flat" w="9525">
                      <a:solidFill>
                        <a:srgbClr val="3A4A9A"/>
                      </a:solidFill>
                      <a:prstDash val="solid"/>
                      <a:round/>
                      <a:headEnd type="none" w="med" len="med"/>
                      <a:tailEnd type="none" w="med" len="med"/>
                    </a:lnT>
                    <a:lnB cmpd="sng" algn="ctr" cap="flat" w="9525">
                      <a:solidFill>
                        <a:srgbClr val="3A4A9A"/>
                      </a:solidFill>
                      <a:prstDash val="solid"/>
                      <a:round/>
                      <a:headEnd type="none" w="med" len="med"/>
                      <a:tailEnd type="none" w="med" len="med"/>
                    </a:lnB>
                    <a:solidFill>
                      <a:srgbClr val="15193A"/>
                    </a:solidFill>
                  </a:tcPr>
                </a:tc>
              </a:tr>
              <a:tr h="685800">
                <a:tc>
                  <a:txBody>
                    <a:bodyPr anchor="t" rtlCol="false"/>
                    <a:lstStyle/>
                    <a:p>
                      <a:pPr algn="l">
                        <a:lnSpc>
                          <a:spcPts val="1559"/>
                        </a:lnSpc>
                        <a:defRPr/>
                      </a:pPr>
                      <a:r>
                        <a:rPr lang="en-US" sz="1299">
                          <a:solidFill>
                            <a:srgbClr val="FFFFFF"/>
                          </a:solidFill>
                          <a:latin typeface="Montserrat"/>
                          <a:ea typeface="Montserrat"/>
                          <a:cs typeface="Montserrat"/>
                          <a:sym typeface="Montserrat"/>
                        </a:rPr>
                        <a:t>Errores de redacción, objetivo duplicado, sin referencias</a:t>
                      </a:r>
                      <a:endParaRPr lang="en-US" sz="1100"/>
                    </a:p>
                  </a:txBody>
                  <a:tcPr marL="91440" marR="91440" marT="91440" marB="91440" anchor="ctr">
                    <a:lnL cmpd="sng" algn="ctr" cap="flat" w="9525">
                      <a:solidFill>
                        <a:srgbClr val="3A4A9A"/>
                      </a:solidFill>
                      <a:prstDash val="solid"/>
                      <a:round/>
                      <a:headEnd type="none" w="med" len="med"/>
                      <a:tailEnd type="none" w="med" len="med"/>
                    </a:lnL>
                    <a:lnR cmpd="sng" algn="ctr" cap="flat" w="9525">
                      <a:solidFill>
                        <a:srgbClr val="3A4A9A"/>
                      </a:solidFill>
                      <a:prstDash val="solid"/>
                      <a:round/>
                      <a:headEnd type="none" w="med" len="med"/>
                      <a:tailEnd type="none" w="med" len="med"/>
                    </a:lnR>
                    <a:lnT cmpd="sng" algn="ctr" cap="flat" w="9525">
                      <a:solidFill>
                        <a:srgbClr val="3A4A9A"/>
                      </a:solidFill>
                      <a:prstDash val="solid"/>
                      <a:round/>
                      <a:headEnd type="none" w="med" len="med"/>
                      <a:tailEnd type="none" w="med" len="med"/>
                    </a:lnT>
                    <a:lnB cmpd="sng" algn="ctr" cap="flat" w="9525">
                      <a:solidFill>
                        <a:srgbClr val="3A4A9A"/>
                      </a:solidFill>
                      <a:prstDash val="solid"/>
                      <a:round/>
                      <a:headEnd type="none" w="med" len="med"/>
                      <a:tailEnd type="none" w="med" len="med"/>
                    </a:lnB>
                    <a:solidFill>
                      <a:srgbClr val="1C2350"/>
                    </a:solidFill>
                  </a:tcPr>
                </a:tc>
                <a:tc>
                  <a:txBody>
                    <a:bodyPr anchor="t" rtlCol="false"/>
                    <a:lstStyle/>
                    <a:p>
                      <a:pPr algn="l">
                        <a:lnSpc>
                          <a:spcPts val="1559"/>
                        </a:lnSpc>
                        <a:defRPr/>
                      </a:pPr>
                      <a:r>
                        <a:rPr lang="en-US" sz="1299">
                          <a:solidFill>
                            <a:srgbClr val="FFFFFF"/>
                          </a:solidFill>
                          <a:latin typeface="Montserrat"/>
                          <a:ea typeface="Montserrat"/>
                          <a:cs typeface="Montserrat"/>
                          <a:sym typeface="Montserrat"/>
                        </a:rPr>
                        <a:t>Informe corregido, factibilidad con título propio y referencias en APA</a:t>
                      </a:r>
                      <a:endParaRPr lang="en-US" sz="1100"/>
                    </a:p>
                  </a:txBody>
                  <a:tcPr marL="91440" marR="91440" marT="91440" marB="91440" anchor="ctr">
                    <a:lnL cmpd="sng" algn="ctr" cap="flat" w="9525">
                      <a:solidFill>
                        <a:srgbClr val="3A4A9A"/>
                      </a:solidFill>
                      <a:prstDash val="solid"/>
                      <a:round/>
                      <a:headEnd type="none" w="med" len="med"/>
                      <a:tailEnd type="none" w="med" len="med"/>
                    </a:lnL>
                    <a:lnR cmpd="sng" algn="ctr" cap="flat" w="9525">
                      <a:solidFill>
                        <a:srgbClr val="3A4A9A"/>
                      </a:solidFill>
                      <a:prstDash val="solid"/>
                      <a:round/>
                      <a:headEnd type="none" w="med" len="med"/>
                      <a:tailEnd type="none" w="med" len="med"/>
                    </a:lnR>
                    <a:lnT cmpd="sng" algn="ctr" cap="flat" w="9525">
                      <a:solidFill>
                        <a:srgbClr val="3A4A9A"/>
                      </a:solidFill>
                      <a:prstDash val="solid"/>
                      <a:round/>
                      <a:headEnd type="none" w="med" len="med"/>
                      <a:tailEnd type="none" w="med" len="med"/>
                    </a:lnT>
                    <a:lnB cmpd="sng" algn="ctr" cap="flat" w="9525">
                      <a:solidFill>
                        <a:srgbClr val="3A4A9A"/>
                      </a:solidFill>
                      <a:prstDash val="solid"/>
                      <a:round/>
                      <a:headEnd type="none" w="med" len="med"/>
                      <a:tailEnd type="none" w="med" len="med"/>
                    </a:lnB>
                    <a:solidFill>
                      <a:srgbClr val="1C2350"/>
                    </a:solidFill>
                  </a:tcPr>
                </a:tc>
                <a:tc>
                  <a:txBody>
                    <a:bodyPr anchor="t" rtlCol="false"/>
                    <a:lstStyle/>
                    <a:p>
                      <a:pPr algn="l">
                        <a:lnSpc>
                          <a:spcPts val="1559"/>
                        </a:lnSpc>
                        <a:defRPr/>
                      </a:pPr>
                      <a:r>
                        <a:rPr lang="en-US" sz="1299">
                          <a:solidFill>
                            <a:srgbClr val="8FA8FF"/>
                          </a:solidFill>
                          <a:latin typeface="Montserrat"/>
                          <a:ea typeface="Montserrat"/>
                          <a:cs typeface="Montserrat"/>
                          <a:sym typeface="Montserrat"/>
                        </a:rPr>
                        <a:t>Retro docente</a:t>
                      </a:r>
                      <a:endParaRPr lang="en-US" sz="1100"/>
                    </a:p>
                  </a:txBody>
                  <a:tcPr marL="91440" marR="91440" marT="91440" marB="91440" anchor="ctr">
                    <a:lnL cmpd="sng" algn="ctr" cap="flat" w="9525">
                      <a:solidFill>
                        <a:srgbClr val="3A4A9A"/>
                      </a:solidFill>
                      <a:prstDash val="solid"/>
                      <a:round/>
                      <a:headEnd type="none" w="med" len="med"/>
                      <a:tailEnd type="none" w="med" len="med"/>
                    </a:lnL>
                    <a:lnR cmpd="sng" algn="ctr" cap="flat" w="9525">
                      <a:solidFill>
                        <a:srgbClr val="3A4A9A"/>
                      </a:solidFill>
                      <a:prstDash val="solid"/>
                      <a:round/>
                      <a:headEnd type="none" w="med" len="med"/>
                      <a:tailEnd type="none" w="med" len="med"/>
                    </a:lnR>
                    <a:lnT cmpd="sng" algn="ctr" cap="flat" w="9525">
                      <a:solidFill>
                        <a:srgbClr val="3A4A9A"/>
                      </a:solidFill>
                      <a:prstDash val="solid"/>
                      <a:round/>
                      <a:headEnd type="none" w="med" len="med"/>
                      <a:tailEnd type="none" w="med" len="med"/>
                    </a:lnT>
                    <a:lnB cmpd="sng" algn="ctr" cap="flat" w="9525">
                      <a:solidFill>
                        <a:srgbClr val="3A4A9A"/>
                      </a:solidFill>
                      <a:prstDash val="solid"/>
                      <a:round/>
                      <a:headEnd type="none" w="med" len="med"/>
                      <a:tailEnd type="none" w="med" len="med"/>
                    </a:lnB>
                    <a:solidFill>
                      <a:srgbClr val="1C2350"/>
                    </a:solidFill>
                  </a:tcPr>
                </a:tc>
                <a:tc>
                  <a:txBody>
                    <a:bodyPr anchor="t" rtlCol="false"/>
                    <a:lstStyle/>
                    <a:p>
                      <a:pPr algn="l">
                        <a:lnSpc>
                          <a:spcPts val="1559"/>
                        </a:lnSpc>
                        <a:defRPr/>
                      </a:pPr>
                      <a:r>
                        <a:rPr lang="en-US" sz="1299">
                          <a:solidFill>
                            <a:srgbClr val="FFFFFF"/>
                          </a:solidFill>
                          <a:latin typeface="Montserrat"/>
                          <a:ea typeface="Montserrat"/>
                          <a:cs typeface="Montserrat"/>
                          <a:sym typeface="Montserrat"/>
                        </a:rPr>
                        <a:t>Indicador de redacción y citas</a:t>
                      </a:r>
                      <a:endParaRPr lang="en-US" sz="1100"/>
                    </a:p>
                  </a:txBody>
                  <a:tcPr marL="91440" marR="91440" marT="91440" marB="91440" anchor="ctr">
                    <a:lnL cmpd="sng" algn="ctr" cap="flat" w="9525">
                      <a:solidFill>
                        <a:srgbClr val="3A4A9A"/>
                      </a:solidFill>
                      <a:prstDash val="solid"/>
                      <a:round/>
                      <a:headEnd type="none" w="med" len="med"/>
                      <a:tailEnd type="none" w="med" len="med"/>
                    </a:lnL>
                    <a:lnR cmpd="sng" algn="ctr" cap="flat" w="9525">
                      <a:solidFill>
                        <a:srgbClr val="3A4A9A"/>
                      </a:solidFill>
                      <a:prstDash val="solid"/>
                      <a:round/>
                      <a:headEnd type="none" w="med" len="med"/>
                      <a:tailEnd type="none" w="med" len="med"/>
                    </a:lnR>
                    <a:lnT cmpd="sng" algn="ctr" cap="flat" w="9525">
                      <a:solidFill>
                        <a:srgbClr val="3A4A9A"/>
                      </a:solidFill>
                      <a:prstDash val="solid"/>
                      <a:round/>
                      <a:headEnd type="none" w="med" len="med"/>
                      <a:tailEnd type="none" w="med" len="med"/>
                    </a:lnT>
                    <a:lnB cmpd="sng" algn="ctr" cap="flat" w="9525">
                      <a:solidFill>
                        <a:srgbClr val="3A4A9A"/>
                      </a:solidFill>
                      <a:prstDash val="solid"/>
                      <a:round/>
                      <a:headEnd type="none" w="med" len="med"/>
                      <a:tailEnd type="none" w="med" len="med"/>
                    </a:lnB>
                    <a:solidFill>
                      <a:srgbClr val="1C2350"/>
                    </a:solidFill>
                  </a:tcPr>
                </a:tc>
              </a:tr>
              <a:tr h="685800">
                <a:tc>
                  <a:txBody>
                    <a:bodyPr anchor="t" rtlCol="false"/>
                    <a:lstStyle/>
                    <a:p>
                      <a:pPr algn="l">
                        <a:lnSpc>
                          <a:spcPts val="1559"/>
                        </a:lnSpc>
                        <a:defRPr/>
                      </a:pPr>
                      <a:r>
                        <a:rPr lang="en-US" sz="1299">
                          <a:solidFill>
                            <a:srgbClr val="FFFFFF"/>
                          </a:solidFill>
                          <a:latin typeface="Montserrat"/>
                          <a:ea typeface="Montserrat"/>
                          <a:cs typeface="Montserrat"/>
                          <a:sym typeface="Montserrat"/>
                        </a:rPr>
                        <a:t>Guía APT con los antecedentes de un integrante y redactada en singular</a:t>
                      </a:r>
                      <a:endParaRPr lang="en-US" sz="1100"/>
                    </a:p>
                  </a:txBody>
                  <a:tcPr marL="91440" marR="91440" marT="91440" marB="91440" anchor="ctr">
                    <a:lnL cmpd="sng" algn="ctr" cap="flat" w="9525">
                      <a:solidFill>
                        <a:srgbClr val="3A4A9A"/>
                      </a:solidFill>
                      <a:prstDash val="solid"/>
                      <a:round/>
                      <a:headEnd type="none" w="med" len="med"/>
                      <a:tailEnd type="none" w="med" len="med"/>
                    </a:lnL>
                    <a:lnR cmpd="sng" algn="ctr" cap="flat" w="9525">
                      <a:solidFill>
                        <a:srgbClr val="3A4A9A"/>
                      </a:solidFill>
                      <a:prstDash val="solid"/>
                      <a:round/>
                      <a:headEnd type="none" w="med" len="med"/>
                      <a:tailEnd type="none" w="med" len="med"/>
                    </a:lnR>
                    <a:lnT cmpd="sng" algn="ctr" cap="flat" w="9525">
                      <a:solidFill>
                        <a:srgbClr val="3A4A9A"/>
                      </a:solidFill>
                      <a:prstDash val="solid"/>
                      <a:round/>
                      <a:headEnd type="none" w="med" len="med"/>
                      <a:tailEnd type="none" w="med" len="med"/>
                    </a:lnT>
                    <a:lnB cmpd="sng" algn="ctr" cap="flat" w="9525">
                      <a:solidFill>
                        <a:srgbClr val="3A4A9A"/>
                      </a:solidFill>
                      <a:prstDash val="solid"/>
                      <a:round/>
                      <a:headEnd type="none" w="med" len="med"/>
                      <a:tailEnd type="none" w="med" len="med"/>
                    </a:lnB>
                    <a:solidFill>
                      <a:srgbClr val="15193A"/>
                    </a:solidFill>
                  </a:tcPr>
                </a:tc>
                <a:tc>
                  <a:txBody>
                    <a:bodyPr anchor="t" rtlCol="false"/>
                    <a:lstStyle/>
                    <a:p>
                      <a:pPr algn="l">
                        <a:lnSpc>
                          <a:spcPts val="1559"/>
                        </a:lnSpc>
                        <a:defRPr/>
                      </a:pPr>
                      <a:r>
                        <a:rPr lang="en-US" sz="1299">
                          <a:solidFill>
                            <a:srgbClr val="FFFFFF"/>
                          </a:solidFill>
                          <a:latin typeface="Montserrat"/>
                          <a:ea typeface="Montserrat"/>
                          <a:cs typeface="Montserrat"/>
                          <a:sym typeface="Montserrat"/>
                        </a:rPr>
                        <a:t>Guía corregida: antecedentes de los tres integrantes y redacción en plural</a:t>
                      </a:r>
                      <a:endParaRPr lang="en-US" sz="1100"/>
                    </a:p>
                  </a:txBody>
                  <a:tcPr marL="91440" marR="91440" marT="91440" marB="91440" anchor="ctr">
                    <a:lnL cmpd="sng" algn="ctr" cap="flat" w="9525">
                      <a:solidFill>
                        <a:srgbClr val="3A4A9A"/>
                      </a:solidFill>
                      <a:prstDash val="solid"/>
                      <a:round/>
                      <a:headEnd type="none" w="med" len="med"/>
                      <a:tailEnd type="none" w="med" len="med"/>
                    </a:lnL>
                    <a:lnR cmpd="sng" algn="ctr" cap="flat" w="9525">
                      <a:solidFill>
                        <a:srgbClr val="3A4A9A"/>
                      </a:solidFill>
                      <a:prstDash val="solid"/>
                      <a:round/>
                      <a:headEnd type="none" w="med" len="med"/>
                      <a:tailEnd type="none" w="med" len="med"/>
                    </a:lnR>
                    <a:lnT cmpd="sng" algn="ctr" cap="flat" w="9525">
                      <a:solidFill>
                        <a:srgbClr val="3A4A9A"/>
                      </a:solidFill>
                      <a:prstDash val="solid"/>
                      <a:round/>
                      <a:headEnd type="none" w="med" len="med"/>
                      <a:tailEnd type="none" w="med" len="med"/>
                    </a:lnT>
                    <a:lnB cmpd="sng" algn="ctr" cap="flat" w="9525">
                      <a:solidFill>
                        <a:srgbClr val="3A4A9A"/>
                      </a:solidFill>
                      <a:prstDash val="solid"/>
                      <a:round/>
                      <a:headEnd type="none" w="med" len="med"/>
                      <a:tailEnd type="none" w="med" len="med"/>
                    </a:lnB>
                    <a:solidFill>
                      <a:srgbClr val="15193A"/>
                    </a:solidFill>
                  </a:tcPr>
                </a:tc>
                <a:tc>
                  <a:txBody>
                    <a:bodyPr anchor="t" rtlCol="false"/>
                    <a:lstStyle/>
                    <a:p>
                      <a:pPr algn="l">
                        <a:lnSpc>
                          <a:spcPts val="1559"/>
                        </a:lnSpc>
                        <a:defRPr/>
                      </a:pPr>
                      <a:r>
                        <a:rPr lang="en-US" sz="1299">
                          <a:solidFill>
                            <a:srgbClr val="8FA8FF"/>
                          </a:solidFill>
                          <a:latin typeface="Montserrat"/>
                          <a:ea typeface="Montserrat"/>
                          <a:cs typeface="Montserrat"/>
                          <a:sym typeface="Montserrat"/>
                        </a:rPr>
                        <a:t>Retro docente</a:t>
                      </a:r>
                      <a:endParaRPr lang="en-US" sz="1100"/>
                    </a:p>
                  </a:txBody>
                  <a:tcPr marL="91440" marR="91440" marT="91440" marB="91440" anchor="ctr">
                    <a:lnL cmpd="sng" algn="ctr" cap="flat" w="9525">
                      <a:solidFill>
                        <a:srgbClr val="3A4A9A"/>
                      </a:solidFill>
                      <a:prstDash val="solid"/>
                      <a:round/>
                      <a:headEnd type="none" w="med" len="med"/>
                      <a:tailEnd type="none" w="med" len="med"/>
                    </a:lnL>
                    <a:lnR cmpd="sng" algn="ctr" cap="flat" w="9525">
                      <a:solidFill>
                        <a:srgbClr val="3A4A9A"/>
                      </a:solidFill>
                      <a:prstDash val="solid"/>
                      <a:round/>
                      <a:headEnd type="none" w="med" len="med"/>
                      <a:tailEnd type="none" w="med" len="med"/>
                    </a:lnR>
                    <a:lnT cmpd="sng" algn="ctr" cap="flat" w="9525">
                      <a:solidFill>
                        <a:srgbClr val="3A4A9A"/>
                      </a:solidFill>
                      <a:prstDash val="solid"/>
                      <a:round/>
                      <a:headEnd type="none" w="med" len="med"/>
                      <a:tailEnd type="none" w="med" len="med"/>
                    </a:lnT>
                    <a:lnB cmpd="sng" algn="ctr" cap="flat" w="9525">
                      <a:solidFill>
                        <a:srgbClr val="3A4A9A"/>
                      </a:solidFill>
                      <a:prstDash val="solid"/>
                      <a:round/>
                      <a:headEnd type="none" w="med" len="med"/>
                      <a:tailEnd type="none" w="med" len="med"/>
                    </a:lnB>
                    <a:solidFill>
                      <a:srgbClr val="15193A"/>
                    </a:solidFill>
                  </a:tcPr>
                </a:tc>
                <a:tc>
                  <a:txBody>
                    <a:bodyPr anchor="t" rtlCol="false"/>
                    <a:lstStyle/>
                    <a:p>
                      <a:pPr algn="l">
                        <a:lnSpc>
                          <a:spcPts val="1559"/>
                        </a:lnSpc>
                        <a:defRPr/>
                      </a:pPr>
                      <a:r>
                        <a:rPr lang="en-US" sz="1299">
                          <a:solidFill>
                            <a:srgbClr val="FFFFFF"/>
                          </a:solidFill>
                          <a:latin typeface="Montserrat"/>
                          <a:ea typeface="Montserrat"/>
                          <a:cs typeface="Montserrat"/>
                          <a:sym typeface="Montserrat"/>
                        </a:rPr>
                        <a:t>El proyecto es del equipo</a:t>
                      </a:r>
                      <a:endParaRPr lang="en-US" sz="1100"/>
                    </a:p>
                  </a:txBody>
                  <a:tcPr marL="91440" marR="91440" marT="91440" marB="91440" anchor="ctr">
                    <a:lnL cmpd="sng" algn="ctr" cap="flat" w="9525">
                      <a:solidFill>
                        <a:srgbClr val="3A4A9A"/>
                      </a:solidFill>
                      <a:prstDash val="solid"/>
                      <a:round/>
                      <a:headEnd type="none" w="med" len="med"/>
                      <a:tailEnd type="none" w="med" len="med"/>
                    </a:lnL>
                    <a:lnR cmpd="sng" algn="ctr" cap="flat" w="9525">
                      <a:solidFill>
                        <a:srgbClr val="3A4A9A"/>
                      </a:solidFill>
                      <a:prstDash val="solid"/>
                      <a:round/>
                      <a:headEnd type="none" w="med" len="med"/>
                      <a:tailEnd type="none" w="med" len="med"/>
                    </a:lnR>
                    <a:lnT cmpd="sng" algn="ctr" cap="flat" w="9525">
                      <a:solidFill>
                        <a:srgbClr val="3A4A9A"/>
                      </a:solidFill>
                      <a:prstDash val="solid"/>
                      <a:round/>
                      <a:headEnd type="none" w="med" len="med"/>
                      <a:tailEnd type="none" w="med" len="med"/>
                    </a:lnT>
                    <a:lnB cmpd="sng" algn="ctr" cap="flat" w="9525">
                      <a:solidFill>
                        <a:srgbClr val="3A4A9A"/>
                      </a:solidFill>
                      <a:prstDash val="solid"/>
                      <a:round/>
                      <a:headEnd type="none" w="med" len="med"/>
                      <a:tailEnd type="none" w="med" len="med"/>
                    </a:lnB>
                    <a:solidFill>
                      <a:srgbClr val="15193A"/>
                    </a:solidFill>
                  </a:tcPr>
                </a:tc>
              </a:tr>
              <a:tr h="685800">
                <a:tc>
                  <a:txBody>
                    <a:bodyPr anchor="t" rtlCol="false"/>
                    <a:lstStyle/>
                    <a:p>
                      <a:pPr algn="l">
                        <a:lnSpc>
                          <a:spcPts val="1559"/>
                        </a:lnSpc>
                        <a:defRPr/>
                      </a:pPr>
                      <a:r>
                        <a:rPr lang="en-US" sz="1299">
                          <a:solidFill>
                            <a:srgbClr val="FFFFFF"/>
                          </a:solidFill>
                          <a:latin typeface="Montserrat"/>
                          <a:ea typeface="Montserrat"/>
                          <a:cs typeface="Montserrat"/>
                          <a:sym typeface="Montserrat"/>
                        </a:rPr>
                        <a:t>Repositorio de la planilla desactualizado</a:t>
                      </a:r>
                      <a:endParaRPr lang="en-US" sz="1100"/>
                    </a:p>
                  </a:txBody>
                  <a:tcPr marL="91440" marR="91440" marT="91440" marB="91440" anchor="ctr">
                    <a:lnL cmpd="sng" algn="ctr" cap="flat" w="9525">
                      <a:solidFill>
                        <a:srgbClr val="3A4A9A"/>
                      </a:solidFill>
                      <a:prstDash val="solid"/>
                      <a:round/>
                      <a:headEnd type="none" w="med" len="med"/>
                      <a:tailEnd type="none" w="med" len="med"/>
                    </a:lnL>
                    <a:lnR cmpd="sng" algn="ctr" cap="flat" w="9525">
                      <a:solidFill>
                        <a:srgbClr val="3A4A9A"/>
                      </a:solidFill>
                      <a:prstDash val="solid"/>
                      <a:round/>
                      <a:headEnd type="none" w="med" len="med"/>
                      <a:tailEnd type="none" w="med" len="med"/>
                    </a:lnR>
                    <a:lnT cmpd="sng" algn="ctr" cap="flat" w="9525">
                      <a:solidFill>
                        <a:srgbClr val="3A4A9A"/>
                      </a:solidFill>
                      <a:prstDash val="solid"/>
                      <a:round/>
                      <a:headEnd type="none" w="med" len="med"/>
                      <a:tailEnd type="none" w="med" len="med"/>
                    </a:lnT>
                    <a:lnB cmpd="sng" algn="ctr" cap="flat" w="9525">
                      <a:solidFill>
                        <a:srgbClr val="3A4A9A"/>
                      </a:solidFill>
                      <a:prstDash val="solid"/>
                      <a:round/>
                      <a:headEnd type="none" w="med" len="med"/>
                      <a:tailEnd type="none" w="med" len="med"/>
                    </a:lnB>
                    <a:solidFill>
                      <a:srgbClr val="1C2350"/>
                    </a:solidFill>
                  </a:tcPr>
                </a:tc>
                <a:tc>
                  <a:txBody>
                    <a:bodyPr anchor="t" rtlCol="false"/>
                    <a:lstStyle/>
                    <a:p>
                      <a:pPr algn="l">
                        <a:lnSpc>
                          <a:spcPts val="1559"/>
                        </a:lnSpc>
                        <a:defRPr/>
                      </a:pPr>
                      <a:r>
                        <a:rPr lang="en-US" sz="1299">
                          <a:solidFill>
                            <a:srgbClr val="FFFFFF"/>
                          </a:solidFill>
                          <a:latin typeface="Montserrat"/>
                          <a:ea typeface="Montserrat"/>
                          <a:cs typeface="Montserrat"/>
                          <a:sym typeface="Montserrat"/>
                        </a:rPr>
                        <a:t>Repositorio ordenado por fase y con README: github.com/Dntex2/proyecto-capstone-acredittia-administracion</a:t>
                      </a:r>
                      <a:endParaRPr lang="en-US" sz="1100"/>
                    </a:p>
                  </a:txBody>
                  <a:tcPr marL="91440" marR="91440" marT="91440" marB="91440" anchor="ctr">
                    <a:lnL cmpd="sng" algn="ctr" cap="flat" w="9525">
                      <a:solidFill>
                        <a:srgbClr val="3A4A9A"/>
                      </a:solidFill>
                      <a:prstDash val="solid"/>
                      <a:round/>
                      <a:headEnd type="none" w="med" len="med"/>
                      <a:tailEnd type="none" w="med" len="med"/>
                    </a:lnL>
                    <a:lnR cmpd="sng" algn="ctr" cap="flat" w="9525">
                      <a:solidFill>
                        <a:srgbClr val="3A4A9A"/>
                      </a:solidFill>
                      <a:prstDash val="solid"/>
                      <a:round/>
                      <a:headEnd type="none" w="med" len="med"/>
                      <a:tailEnd type="none" w="med" len="med"/>
                    </a:lnR>
                    <a:lnT cmpd="sng" algn="ctr" cap="flat" w="9525">
                      <a:solidFill>
                        <a:srgbClr val="3A4A9A"/>
                      </a:solidFill>
                      <a:prstDash val="solid"/>
                      <a:round/>
                      <a:headEnd type="none" w="med" len="med"/>
                      <a:tailEnd type="none" w="med" len="med"/>
                    </a:lnT>
                    <a:lnB cmpd="sng" algn="ctr" cap="flat" w="9525">
                      <a:solidFill>
                        <a:srgbClr val="3A4A9A"/>
                      </a:solidFill>
                      <a:prstDash val="solid"/>
                      <a:round/>
                      <a:headEnd type="none" w="med" len="med"/>
                      <a:tailEnd type="none" w="med" len="med"/>
                    </a:lnB>
                    <a:solidFill>
                      <a:srgbClr val="1C2350"/>
                    </a:solidFill>
                  </a:tcPr>
                </a:tc>
                <a:tc>
                  <a:txBody>
                    <a:bodyPr anchor="t" rtlCol="false"/>
                    <a:lstStyle/>
                    <a:p>
                      <a:pPr algn="l">
                        <a:lnSpc>
                          <a:spcPts val="1559"/>
                        </a:lnSpc>
                        <a:defRPr/>
                      </a:pPr>
                      <a:r>
                        <a:rPr lang="en-US" sz="1299">
                          <a:solidFill>
                            <a:srgbClr val="8FA8FF"/>
                          </a:solidFill>
                          <a:latin typeface="Montserrat"/>
                          <a:ea typeface="Montserrat"/>
                          <a:cs typeface="Montserrat"/>
                          <a:sym typeface="Montserrat"/>
                        </a:rPr>
                        <a:t>Retro docente</a:t>
                      </a:r>
                      <a:endParaRPr lang="en-US" sz="1100"/>
                    </a:p>
                  </a:txBody>
                  <a:tcPr marL="91440" marR="91440" marT="91440" marB="91440" anchor="ctr">
                    <a:lnL cmpd="sng" algn="ctr" cap="flat" w="9525">
                      <a:solidFill>
                        <a:srgbClr val="3A4A9A"/>
                      </a:solidFill>
                      <a:prstDash val="solid"/>
                      <a:round/>
                      <a:headEnd type="none" w="med" len="med"/>
                      <a:tailEnd type="none" w="med" len="med"/>
                    </a:lnL>
                    <a:lnR cmpd="sng" algn="ctr" cap="flat" w="9525">
                      <a:solidFill>
                        <a:srgbClr val="3A4A9A"/>
                      </a:solidFill>
                      <a:prstDash val="solid"/>
                      <a:round/>
                      <a:headEnd type="none" w="med" len="med"/>
                      <a:tailEnd type="none" w="med" len="med"/>
                    </a:lnR>
                    <a:lnT cmpd="sng" algn="ctr" cap="flat" w="9525">
                      <a:solidFill>
                        <a:srgbClr val="3A4A9A"/>
                      </a:solidFill>
                      <a:prstDash val="solid"/>
                      <a:round/>
                      <a:headEnd type="none" w="med" len="med"/>
                      <a:tailEnd type="none" w="med" len="med"/>
                    </a:lnT>
                    <a:lnB cmpd="sng" algn="ctr" cap="flat" w="9525">
                      <a:solidFill>
                        <a:srgbClr val="3A4A9A"/>
                      </a:solidFill>
                      <a:prstDash val="solid"/>
                      <a:round/>
                      <a:headEnd type="none" w="med" len="med"/>
                      <a:tailEnd type="none" w="med" len="med"/>
                    </a:lnB>
                    <a:solidFill>
                      <a:srgbClr val="1C2350"/>
                    </a:solidFill>
                  </a:tcPr>
                </a:tc>
                <a:tc>
                  <a:txBody>
                    <a:bodyPr anchor="t" rtlCol="false"/>
                    <a:lstStyle/>
                    <a:p>
                      <a:pPr algn="l">
                        <a:lnSpc>
                          <a:spcPts val="1559"/>
                        </a:lnSpc>
                        <a:defRPr/>
                      </a:pPr>
                      <a:r>
                        <a:rPr lang="en-US" sz="1299">
                          <a:solidFill>
                            <a:srgbClr val="FFFFFF"/>
                          </a:solidFill>
                          <a:latin typeface="Montserrat"/>
                          <a:ea typeface="Montserrat"/>
                          <a:cs typeface="Montserrat"/>
                          <a:sym typeface="Montserrat"/>
                        </a:rPr>
                        <a:t>Lo pidió la docente</a:t>
                      </a:r>
                      <a:endParaRPr lang="en-US" sz="1100"/>
                    </a:p>
                  </a:txBody>
                  <a:tcPr marL="91440" marR="91440" marT="91440" marB="91440" anchor="ctr">
                    <a:lnL cmpd="sng" algn="ctr" cap="flat" w="9525">
                      <a:solidFill>
                        <a:srgbClr val="3A4A9A"/>
                      </a:solidFill>
                      <a:prstDash val="solid"/>
                      <a:round/>
                      <a:headEnd type="none" w="med" len="med"/>
                      <a:tailEnd type="none" w="med" len="med"/>
                    </a:lnL>
                    <a:lnR cmpd="sng" algn="ctr" cap="flat" w="9525">
                      <a:solidFill>
                        <a:srgbClr val="3A4A9A"/>
                      </a:solidFill>
                      <a:prstDash val="solid"/>
                      <a:round/>
                      <a:headEnd type="none" w="med" len="med"/>
                      <a:tailEnd type="none" w="med" len="med"/>
                    </a:lnR>
                    <a:lnT cmpd="sng" algn="ctr" cap="flat" w="9525">
                      <a:solidFill>
                        <a:srgbClr val="3A4A9A"/>
                      </a:solidFill>
                      <a:prstDash val="solid"/>
                      <a:round/>
                      <a:headEnd type="none" w="med" len="med"/>
                      <a:tailEnd type="none" w="med" len="med"/>
                    </a:lnT>
                    <a:lnB cmpd="sng" algn="ctr" cap="flat" w="9525">
                      <a:solidFill>
                        <a:srgbClr val="3A4A9A"/>
                      </a:solidFill>
                      <a:prstDash val="solid"/>
                      <a:round/>
                      <a:headEnd type="none" w="med" len="med"/>
                      <a:tailEnd type="none" w="med" len="med"/>
                    </a:lnB>
                    <a:solidFill>
                      <a:srgbClr val="1C2350"/>
                    </a:solidFill>
                  </a:tcPr>
                </a:tc>
              </a:tr>
              <a:tr h="685800">
                <a:tc>
                  <a:txBody>
                    <a:bodyPr anchor="t" rtlCol="false"/>
                    <a:lstStyle/>
                    <a:p>
                      <a:pPr algn="l">
                        <a:lnSpc>
                          <a:spcPts val="1559"/>
                        </a:lnSpc>
                        <a:defRPr/>
                      </a:pPr>
                      <a:r>
                        <a:rPr lang="en-US" sz="1299">
                          <a:solidFill>
                            <a:srgbClr val="FFFFFF"/>
                          </a:solidFill>
                          <a:latin typeface="Montserrat"/>
                          <a:ea typeface="Montserrat"/>
                          <a:cs typeface="Montserrat"/>
                          <a:sym typeface="Montserrat"/>
                        </a:rPr>
                        <a:t>(Plan original) construir el ORM y migrar con Alembic</a:t>
                      </a:r>
                      <a:endParaRPr lang="en-US" sz="1100"/>
                    </a:p>
                  </a:txBody>
                  <a:tcPr marL="91440" marR="91440" marT="91440" marB="91440" anchor="ctr">
                    <a:lnL cmpd="sng" algn="ctr" cap="flat" w="9525">
                      <a:solidFill>
                        <a:srgbClr val="3A4A9A"/>
                      </a:solidFill>
                      <a:prstDash val="solid"/>
                      <a:round/>
                      <a:headEnd type="none" w="med" len="med"/>
                      <a:tailEnd type="none" w="med" len="med"/>
                    </a:lnL>
                    <a:lnR cmpd="sng" algn="ctr" cap="flat" w="9525">
                      <a:solidFill>
                        <a:srgbClr val="3A4A9A"/>
                      </a:solidFill>
                      <a:prstDash val="solid"/>
                      <a:round/>
                      <a:headEnd type="none" w="med" len="med"/>
                      <a:tailEnd type="none" w="med" len="med"/>
                    </a:lnR>
                    <a:lnT cmpd="sng" algn="ctr" cap="flat" w="9525">
                      <a:solidFill>
                        <a:srgbClr val="3A4A9A"/>
                      </a:solidFill>
                      <a:prstDash val="solid"/>
                      <a:round/>
                      <a:headEnd type="none" w="med" len="med"/>
                      <a:tailEnd type="none" w="med" len="med"/>
                    </a:lnT>
                    <a:lnB cmpd="sng" algn="ctr" cap="flat" w="9525">
                      <a:solidFill>
                        <a:srgbClr val="3A4A9A"/>
                      </a:solidFill>
                      <a:prstDash val="solid"/>
                      <a:round/>
                      <a:headEnd type="none" w="med" len="med"/>
                      <a:tailEnd type="none" w="med" len="med"/>
                    </a:lnB>
                    <a:solidFill>
                      <a:srgbClr val="15193A"/>
                    </a:solidFill>
                  </a:tcPr>
                </a:tc>
                <a:tc>
                  <a:txBody>
                    <a:bodyPr anchor="t" rtlCol="false"/>
                    <a:lstStyle/>
                    <a:p>
                      <a:pPr algn="l">
                        <a:lnSpc>
                          <a:spcPts val="1559"/>
                        </a:lnSpc>
                        <a:defRPr/>
                      </a:pPr>
                      <a:r>
                        <a:rPr lang="en-US" sz="1299">
                          <a:solidFill>
                            <a:srgbClr val="FFFFFF"/>
                          </a:solidFill>
                          <a:latin typeface="Montserrat"/>
                          <a:ea typeface="Montserrat"/>
                          <a:cs typeface="Montserrat"/>
                          <a:sym typeface="Montserrat"/>
                        </a:rPr>
                        <a:t>Se extiende el esquema versionado existente</a:t>
                      </a:r>
                      <a:endParaRPr lang="en-US" sz="1100"/>
                    </a:p>
                  </a:txBody>
                  <a:tcPr marL="91440" marR="91440" marT="91440" marB="91440" anchor="ctr">
                    <a:lnL cmpd="sng" algn="ctr" cap="flat" w="9525">
                      <a:solidFill>
                        <a:srgbClr val="3A4A9A"/>
                      </a:solidFill>
                      <a:prstDash val="solid"/>
                      <a:round/>
                      <a:headEnd type="none" w="med" len="med"/>
                      <a:tailEnd type="none" w="med" len="med"/>
                    </a:lnL>
                    <a:lnR cmpd="sng" algn="ctr" cap="flat" w="9525">
                      <a:solidFill>
                        <a:srgbClr val="3A4A9A"/>
                      </a:solidFill>
                      <a:prstDash val="solid"/>
                      <a:round/>
                      <a:headEnd type="none" w="med" len="med"/>
                      <a:tailEnd type="none" w="med" len="med"/>
                    </a:lnR>
                    <a:lnT cmpd="sng" algn="ctr" cap="flat" w="9525">
                      <a:solidFill>
                        <a:srgbClr val="3A4A9A"/>
                      </a:solidFill>
                      <a:prstDash val="solid"/>
                      <a:round/>
                      <a:headEnd type="none" w="med" len="med"/>
                      <a:tailEnd type="none" w="med" len="med"/>
                    </a:lnT>
                    <a:lnB cmpd="sng" algn="ctr" cap="flat" w="9525">
                      <a:solidFill>
                        <a:srgbClr val="3A4A9A"/>
                      </a:solidFill>
                      <a:prstDash val="solid"/>
                      <a:round/>
                      <a:headEnd type="none" w="med" len="med"/>
                      <a:tailEnd type="none" w="med" len="med"/>
                    </a:lnB>
                    <a:solidFill>
                      <a:srgbClr val="15193A"/>
                    </a:solidFill>
                  </a:tcPr>
                </a:tc>
                <a:tc>
                  <a:txBody>
                    <a:bodyPr anchor="t" rtlCol="false"/>
                    <a:lstStyle/>
                    <a:p>
                      <a:pPr algn="l">
                        <a:lnSpc>
                          <a:spcPts val="1559"/>
                        </a:lnSpc>
                        <a:defRPr/>
                      </a:pPr>
                      <a:r>
                        <a:rPr lang="en-US" sz="1299">
                          <a:solidFill>
                            <a:srgbClr val="4ADE80"/>
                          </a:solidFill>
                          <a:latin typeface="Montserrat"/>
                          <a:ea typeface="Montserrat"/>
                          <a:cs typeface="Montserrat"/>
                          <a:sym typeface="Montserrat"/>
                        </a:rPr>
                        <a:t>Facilitador</a:t>
                      </a:r>
                      <a:endParaRPr lang="en-US" sz="1100"/>
                    </a:p>
                  </a:txBody>
                  <a:tcPr marL="91440" marR="91440" marT="91440" marB="91440" anchor="ctr">
                    <a:lnL cmpd="sng" algn="ctr" cap="flat" w="9525">
                      <a:solidFill>
                        <a:srgbClr val="3A4A9A"/>
                      </a:solidFill>
                      <a:prstDash val="solid"/>
                      <a:round/>
                      <a:headEnd type="none" w="med" len="med"/>
                      <a:tailEnd type="none" w="med" len="med"/>
                    </a:lnL>
                    <a:lnR cmpd="sng" algn="ctr" cap="flat" w="9525">
                      <a:solidFill>
                        <a:srgbClr val="3A4A9A"/>
                      </a:solidFill>
                      <a:prstDash val="solid"/>
                      <a:round/>
                      <a:headEnd type="none" w="med" len="med"/>
                      <a:tailEnd type="none" w="med" len="med"/>
                    </a:lnR>
                    <a:lnT cmpd="sng" algn="ctr" cap="flat" w="9525">
                      <a:solidFill>
                        <a:srgbClr val="3A4A9A"/>
                      </a:solidFill>
                      <a:prstDash val="solid"/>
                      <a:round/>
                      <a:headEnd type="none" w="med" len="med"/>
                      <a:tailEnd type="none" w="med" len="med"/>
                    </a:lnT>
                    <a:lnB cmpd="sng" algn="ctr" cap="flat" w="9525">
                      <a:solidFill>
                        <a:srgbClr val="3A4A9A"/>
                      </a:solidFill>
                      <a:prstDash val="solid"/>
                      <a:round/>
                      <a:headEnd type="none" w="med" len="med"/>
                      <a:tailEnd type="none" w="med" len="med"/>
                    </a:lnB>
                    <a:solidFill>
                      <a:srgbClr val="15193A"/>
                    </a:solidFill>
                  </a:tcPr>
                </a:tc>
                <a:tc>
                  <a:txBody>
                    <a:bodyPr anchor="t" rtlCol="false"/>
                    <a:lstStyle/>
                    <a:p>
                      <a:pPr algn="l">
                        <a:lnSpc>
                          <a:spcPts val="1559"/>
                        </a:lnSpc>
                        <a:defRPr/>
                      </a:pPr>
                      <a:r>
                        <a:rPr lang="en-US" sz="1299">
                          <a:solidFill>
                            <a:srgbClr val="FFFFFF"/>
                          </a:solidFill>
                          <a:latin typeface="Montserrat"/>
                          <a:ea typeface="Montserrat"/>
                          <a:cs typeface="Montserrat"/>
                          <a:sym typeface="Montserrat"/>
                        </a:rPr>
                        <a:t>La base del mandante ya traía ORM y migraciones por scripts SQL</a:t>
                      </a:r>
                      <a:endParaRPr lang="en-US" sz="1100"/>
                    </a:p>
                  </a:txBody>
                  <a:tcPr marL="91440" marR="91440" marT="91440" marB="91440" anchor="ctr">
                    <a:lnL cmpd="sng" algn="ctr" cap="flat" w="9525">
                      <a:solidFill>
                        <a:srgbClr val="3A4A9A"/>
                      </a:solidFill>
                      <a:prstDash val="solid"/>
                      <a:round/>
                      <a:headEnd type="none" w="med" len="med"/>
                      <a:tailEnd type="none" w="med" len="med"/>
                    </a:lnL>
                    <a:lnR cmpd="sng" algn="ctr" cap="flat" w="9525">
                      <a:solidFill>
                        <a:srgbClr val="3A4A9A"/>
                      </a:solidFill>
                      <a:prstDash val="solid"/>
                      <a:round/>
                      <a:headEnd type="none" w="med" len="med"/>
                      <a:tailEnd type="none" w="med" len="med"/>
                    </a:lnR>
                    <a:lnT cmpd="sng" algn="ctr" cap="flat" w="9525">
                      <a:solidFill>
                        <a:srgbClr val="3A4A9A"/>
                      </a:solidFill>
                      <a:prstDash val="solid"/>
                      <a:round/>
                      <a:headEnd type="none" w="med" len="med"/>
                      <a:tailEnd type="none" w="med" len="med"/>
                    </a:lnT>
                    <a:lnB cmpd="sng" algn="ctr" cap="flat" w="9525">
                      <a:solidFill>
                        <a:srgbClr val="3A4A9A"/>
                      </a:solidFill>
                      <a:prstDash val="solid"/>
                      <a:round/>
                      <a:headEnd type="none" w="med" len="med"/>
                      <a:tailEnd type="none" w="med" len="med"/>
                    </a:lnB>
                    <a:solidFill>
                      <a:srgbClr val="15193A"/>
                    </a:solidFill>
                  </a:tcPr>
                </a:tc>
              </a:tr>
              <a:tr h="685800">
                <a:tc>
                  <a:txBody>
                    <a:bodyPr anchor="t" rtlCol="false"/>
                    <a:lstStyle/>
                    <a:p>
                      <a:pPr algn="l">
                        <a:lnSpc>
                          <a:spcPts val="1559"/>
                        </a:lnSpc>
                        <a:defRPr/>
                      </a:pPr>
                      <a:r>
                        <a:rPr lang="en-US" sz="1299">
                          <a:solidFill>
                            <a:srgbClr val="FFFFFF"/>
                          </a:solidFill>
                          <a:latin typeface="Montserrat"/>
                          <a:ea typeface="Montserrat"/>
                          <a:cs typeface="Montserrat"/>
                          <a:sym typeface="Montserrat"/>
                        </a:rPr>
                        <a:t>(Plan original) pasarela Transbank o Stripe</a:t>
                      </a:r>
                      <a:endParaRPr lang="en-US" sz="1100"/>
                    </a:p>
                  </a:txBody>
                  <a:tcPr marL="91440" marR="91440" marT="91440" marB="91440" anchor="ctr">
                    <a:lnL cmpd="sng" algn="ctr" cap="flat" w="9525">
                      <a:solidFill>
                        <a:srgbClr val="3A4A9A"/>
                      </a:solidFill>
                      <a:prstDash val="solid"/>
                      <a:round/>
                      <a:headEnd type="none" w="med" len="med"/>
                      <a:tailEnd type="none" w="med" len="med"/>
                    </a:lnL>
                    <a:lnR cmpd="sng" algn="ctr" cap="flat" w="9525">
                      <a:solidFill>
                        <a:srgbClr val="3A4A9A"/>
                      </a:solidFill>
                      <a:prstDash val="solid"/>
                      <a:round/>
                      <a:headEnd type="none" w="med" len="med"/>
                      <a:tailEnd type="none" w="med" len="med"/>
                    </a:lnR>
                    <a:lnT cmpd="sng" algn="ctr" cap="flat" w="9525">
                      <a:solidFill>
                        <a:srgbClr val="3A4A9A"/>
                      </a:solidFill>
                      <a:prstDash val="solid"/>
                      <a:round/>
                      <a:headEnd type="none" w="med" len="med"/>
                      <a:tailEnd type="none" w="med" len="med"/>
                    </a:lnT>
                    <a:lnB cmpd="sng" algn="ctr" cap="flat" w="9525">
                      <a:solidFill>
                        <a:srgbClr val="3A4A9A"/>
                      </a:solidFill>
                      <a:prstDash val="solid"/>
                      <a:round/>
                      <a:headEnd type="none" w="med" len="med"/>
                      <a:tailEnd type="none" w="med" len="med"/>
                    </a:lnB>
                    <a:solidFill>
                      <a:srgbClr val="1C2350"/>
                    </a:solidFill>
                  </a:tcPr>
                </a:tc>
                <a:tc>
                  <a:txBody>
                    <a:bodyPr anchor="t" rtlCol="false"/>
                    <a:lstStyle/>
                    <a:p>
                      <a:pPr algn="l">
                        <a:lnSpc>
                          <a:spcPts val="1559"/>
                        </a:lnSpc>
                        <a:defRPr/>
                      </a:pPr>
                      <a:r>
                        <a:rPr lang="en-US" sz="1299">
                          <a:solidFill>
                            <a:srgbClr val="FFFFFF"/>
                          </a:solidFill>
                          <a:latin typeface="Montserrat"/>
                          <a:ea typeface="Montserrat"/>
                          <a:cs typeface="Montserrat"/>
                          <a:sym typeface="Montserrat"/>
                        </a:rPr>
                        <a:t>Pasarela simulada con el mismo proceso de conciliación</a:t>
                      </a:r>
                      <a:endParaRPr lang="en-US" sz="1100"/>
                    </a:p>
                  </a:txBody>
                  <a:tcPr marL="91440" marR="91440" marT="91440" marB="91440" anchor="ctr">
                    <a:lnL cmpd="sng" algn="ctr" cap="flat" w="9525">
                      <a:solidFill>
                        <a:srgbClr val="3A4A9A"/>
                      </a:solidFill>
                      <a:prstDash val="solid"/>
                      <a:round/>
                      <a:headEnd type="none" w="med" len="med"/>
                      <a:tailEnd type="none" w="med" len="med"/>
                    </a:lnL>
                    <a:lnR cmpd="sng" algn="ctr" cap="flat" w="9525">
                      <a:solidFill>
                        <a:srgbClr val="3A4A9A"/>
                      </a:solidFill>
                      <a:prstDash val="solid"/>
                      <a:round/>
                      <a:headEnd type="none" w="med" len="med"/>
                      <a:tailEnd type="none" w="med" len="med"/>
                    </a:lnR>
                    <a:lnT cmpd="sng" algn="ctr" cap="flat" w="9525">
                      <a:solidFill>
                        <a:srgbClr val="3A4A9A"/>
                      </a:solidFill>
                      <a:prstDash val="solid"/>
                      <a:round/>
                      <a:headEnd type="none" w="med" len="med"/>
                      <a:tailEnd type="none" w="med" len="med"/>
                    </a:lnT>
                    <a:lnB cmpd="sng" algn="ctr" cap="flat" w="9525">
                      <a:solidFill>
                        <a:srgbClr val="3A4A9A"/>
                      </a:solidFill>
                      <a:prstDash val="solid"/>
                      <a:round/>
                      <a:headEnd type="none" w="med" len="med"/>
                      <a:tailEnd type="none" w="med" len="med"/>
                    </a:lnB>
                    <a:solidFill>
                      <a:srgbClr val="1C2350"/>
                    </a:solidFill>
                  </a:tcPr>
                </a:tc>
                <a:tc>
                  <a:txBody>
                    <a:bodyPr anchor="t" rtlCol="false"/>
                    <a:lstStyle/>
                    <a:p>
                      <a:pPr algn="l">
                        <a:lnSpc>
                          <a:spcPts val="1559"/>
                        </a:lnSpc>
                        <a:defRPr/>
                      </a:pPr>
                      <a:r>
                        <a:rPr lang="en-US" sz="1299">
                          <a:solidFill>
                            <a:srgbClr val="FBA94C"/>
                          </a:solidFill>
                          <a:latin typeface="Montserrat"/>
                          <a:ea typeface="Montserrat"/>
                          <a:cs typeface="Montserrat"/>
                          <a:sym typeface="Montserrat"/>
                        </a:rPr>
                        <a:t>Dificultad</a:t>
                      </a:r>
                      <a:endParaRPr lang="en-US" sz="1100"/>
                    </a:p>
                  </a:txBody>
                  <a:tcPr marL="91440" marR="91440" marT="91440" marB="91440" anchor="ctr">
                    <a:lnL cmpd="sng" algn="ctr" cap="flat" w="9525">
                      <a:solidFill>
                        <a:srgbClr val="3A4A9A"/>
                      </a:solidFill>
                      <a:prstDash val="solid"/>
                      <a:round/>
                      <a:headEnd type="none" w="med" len="med"/>
                      <a:tailEnd type="none" w="med" len="med"/>
                    </a:lnL>
                    <a:lnR cmpd="sng" algn="ctr" cap="flat" w="9525">
                      <a:solidFill>
                        <a:srgbClr val="3A4A9A"/>
                      </a:solidFill>
                      <a:prstDash val="solid"/>
                      <a:round/>
                      <a:headEnd type="none" w="med" len="med"/>
                      <a:tailEnd type="none" w="med" len="med"/>
                    </a:lnR>
                    <a:lnT cmpd="sng" algn="ctr" cap="flat" w="9525">
                      <a:solidFill>
                        <a:srgbClr val="3A4A9A"/>
                      </a:solidFill>
                      <a:prstDash val="solid"/>
                      <a:round/>
                      <a:headEnd type="none" w="med" len="med"/>
                      <a:tailEnd type="none" w="med" len="med"/>
                    </a:lnT>
                    <a:lnB cmpd="sng" algn="ctr" cap="flat" w="9525">
                      <a:solidFill>
                        <a:srgbClr val="3A4A9A"/>
                      </a:solidFill>
                      <a:prstDash val="solid"/>
                      <a:round/>
                      <a:headEnd type="none" w="med" len="med"/>
                      <a:tailEnd type="none" w="med" len="med"/>
                    </a:lnB>
                    <a:solidFill>
                      <a:srgbClr val="1C2350"/>
                    </a:solidFill>
                  </a:tcPr>
                </a:tc>
                <a:tc>
                  <a:txBody>
                    <a:bodyPr anchor="t" rtlCol="false"/>
                    <a:lstStyle/>
                    <a:p>
                      <a:pPr algn="l">
                        <a:lnSpc>
                          <a:spcPts val="1559"/>
                        </a:lnSpc>
                        <a:defRPr/>
                      </a:pPr>
                      <a:r>
                        <a:rPr lang="en-US" sz="1299">
                          <a:solidFill>
                            <a:srgbClr val="FFFFFF"/>
                          </a:solidFill>
                          <a:latin typeface="Montserrat"/>
                          <a:ea typeface="Montserrat"/>
                          <a:cs typeface="Montserrat"/>
                          <a:sym typeface="Montserrat"/>
                        </a:rPr>
                        <a:t>No hay credenciales de una pasarela real</a:t>
                      </a:r>
                      <a:endParaRPr lang="en-US" sz="1100"/>
                    </a:p>
                  </a:txBody>
                  <a:tcPr marL="91440" marR="91440" marT="91440" marB="91440" anchor="ctr">
                    <a:lnL cmpd="sng" algn="ctr" cap="flat" w="9525">
                      <a:solidFill>
                        <a:srgbClr val="3A4A9A"/>
                      </a:solidFill>
                      <a:prstDash val="solid"/>
                      <a:round/>
                      <a:headEnd type="none" w="med" len="med"/>
                      <a:tailEnd type="none" w="med" len="med"/>
                    </a:lnL>
                    <a:lnR cmpd="sng" algn="ctr" cap="flat" w="9525">
                      <a:solidFill>
                        <a:srgbClr val="3A4A9A"/>
                      </a:solidFill>
                      <a:prstDash val="solid"/>
                      <a:round/>
                      <a:headEnd type="none" w="med" len="med"/>
                      <a:tailEnd type="none" w="med" len="med"/>
                    </a:lnR>
                    <a:lnT cmpd="sng" algn="ctr" cap="flat" w="9525">
                      <a:solidFill>
                        <a:srgbClr val="3A4A9A"/>
                      </a:solidFill>
                      <a:prstDash val="solid"/>
                      <a:round/>
                      <a:headEnd type="none" w="med" len="med"/>
                      <a:tailEnd type="none" w="med" len="med"/>
                    </a:lnT>
                    <a:lnB cmpd="sng" algn="ctr" cap="flat" w="9525">
                      <a:solidFill>
                        <a:srgbClr val="3A4A9A"/>
                      </a:solidFill>
                      <a:prstDash val="solid"/>
                      <a:round/>
                      <a:headEnd type="none" w="med" len="med"/>
                      <a:tailEnd type="none" w="med" len="med"/>
                    </a:lnB>
                    <a:solidFill>
                      <a:srgbClr val="1C2350"/>
                    </a:solidFill>
                  </a:tcPr>
                </a:tc>
              </a:tr>
              <a:tr h="685800">
                <a:tc>
                  <a:txBody>
                    <a:bodyPr anchor="t" rtlCol="false"/>
                    <a:lstStyle/>
                    <a:p>
                      <a:pPr algn="l">
                        <a:lnSpc>
                          <a:spcPts val="1559"/>
                        </a:lnSpc>
                        <a:defRPr/>
                      </a:pPr>
                      <a:r>
                        <a:rPr lang="en-US" sz="1299">
                          <a:solidFill>
                            <a:srgbClr val="FFFFFF"/>
                          </a:solidFill>
                          <a:latin typeface="Montserrat"/>
                          <a:ea typeface="Montserrat"/>
                          <a:cs typeface="Montserrat"/>
                          <a:sym typeface="Montserrat"/>
                        </a:rPr>
                        <a:t>(Alcance) solo backend</a:t>
                      </a:r>
                      <a:endParaRPr lang="en-US" sz="1100"/>
                    </a:p>
                  </a:txBody>
                  <a:tcPr marL="91440" marR="91440" marT="91440" marB="91440" anchor="ctr">
                    <a:lnL cmpd="sng" algn="ctr" cap="flat" w="9525">
                      <a:solidFill>
                        <a:srgbClr val="3A4A9A"/>
                      </a:solidFill>
                      <a:prstDash val="solid"/>
                      <a:round/>
                      <a:headEnd type="none" w="med" len="med"/>
                      <a:tailEnd type="none" w="med" len="med"/>
                    </a:lnL>
                    <a:lnR cmpd="sng" algn="ctr" cap="flat" w="9525">
                      <a:solidFill>
                        <a:srgbClr val="3A4A9A"/>
                      </a:solidFill>
                      <a:prstDash val="solid"/>
                      <a:round/>
                      <a:headEnd type="none" w="med" len="med"/>
                      <a:tailEnd type="none" w="med" len="med"/>
                    </a:lnR>
                    <a:lnT cmpd="sng" algn="ctr" cap="flat" w="9525">
                      <a:solidFill>
                        <a:srgbClr val="3A4A9A"/>
                      </a:solidFill>
                      <a:prstDash val="solid"/>
                      <a:round/>
                      <a:headEnd type="none" w="med" len="med"/>
                      <a:tailEnd type="none" w="med" len="med"/>
                    </a:lnT>
                    <a:lnB cmpd="sng" algn="ctr" cap="flat" w="9525">
                      <a:solidFill>
                        <a:srgbClr val="3A4A9A"/>
                      </a:solidFill>
                      <a:prstDash val="solid"/>
                      <a:round/>
                      <a:headEnd type="none" w="med" len="med"/>
                      <a:tailEnd type="none" w="med" len="med"/>
                    </a:lnB>
                    <a:solidFill>
                      <a:srgbClr val="15193A"/>
                    </a:solidFill>
                  </a:tcPr>
                </a:tc>
                <a:tc>
                  <a:txBody>
                    <a:bodyPr anchor="t" rtlCol="false"/>
                    <a:lstStyle/>
                    <a:p>
                      <a:pPr algn="l">
                        <a:lnSpc>
                          <a:spcPts val="1559"/>
                        </a:lnSpc>
                        <a:defRPr/>
                      </a:pPr>
                      <a:r>
                        <a:rPr lang="en-US" sz="1299">
                          <a:solidFill>
                            <a:srgbClr val="FFFFFF"/>
                          </a:solidFill>
                          <a:latin typeface="Montserrat"/>
                          <a:ea typeface="Montserrat"/>
                          <a:cs typeface="Montserrat"/>
                          <a:sym typeface="Montserrat"/>
                        </a:rPr>
                        <a:t>Se agregó el frontend de la consola y del portal</a:t>
                      </a:r>
                      <a:endParaRPr lang="en-US" sz="1100"/>
                    </a:p>
                  </a:txBody>
                  <a:tcPr marL="91440" marR="91440" marT="91440" marB="91440" anchor="ctr">
                    <a:lnL cmpd="sng" algn="ctr" cap="flat" w="9525">
                      <a:solidFill>
                        <a:srgbClr val="3A4A9A"/>
                      </a:solidFill>
                      <a:prstDash val="solid"/>
                      <a:round/>
                      <a:headEnd type="none" w="med" len="med"/>
                      <a:tailEnd type="none" w="med" len="med"/>
                    </a:lnL>
                    <a:lnR cmpd="sng" algn="ctr" cap="flat" w="9525">
                      <a:solidFill>
                        <a:srgbClr val="3A4A9A"/>
                      </a:solidFill>
                      <a:prstDash val="solid"/>
                      <a:round/>
                      <a:headEnd type="none" w="med" len="med"/>
                      <a:tailEnd type="none" w="med" len="med"/>
                    </a:lnR>
                    <a:lnT cmpd="sng" algn="ctr" cap="flat" w="9525">
                      <a:solidFill>
                        <a:srgbClr val="3A4A9A"/>
                      </a:solidFill>
                      <a:prstDash val="solid"/>
                      <a:round/>
                      <a:headEnd type="none" w="med" len="med"/>
                      <a:tailEnd type="none" w="med" len="med"/>
                    </a:lnT>
                    <a:lnB cmpd="sng" algn="ctr" cap="flat" w="9525">
                      <a:solidFill>
                        <a:srgbClr val="3A4A9A"/>
                      </a:solidFill>
                      <a:prstDash val="solid"/>
                      <a:round/>
                      <a:headEnd type="none" w="med" len="med"/>
                      <a:tailEnd type="none" w="med" len="med"/>
                    </a:lnB>
                    <a:solidFill>
                      <a:srgbClr val="15193A"/>
                    </a:solidFill>
                  </a:tcPr>
                </a:tc>
                <a:tc>
                  <a:txBody>
                    <a:bodyPr anchor="t" rtlCol="false"/>
                    <a:lstStyle/>
                    <a:p>
                      <a:pPr algn="l">
                        <a:lnSpc>
                          <a:spcPts val="1559"/>
                        </a:lnSpc>
                        <a:defRPr/>
                      </a:pPr>
                      <a:r>
                        <a:rPr lang="en-US" sz="1299">
                          <a:solidFill>
                            <a:srgbClr val="4ADE80"/>
                          </a:solidFill>
                          <a:latin typeface="Montserrat"/>
                          <a:ea typeface="Montserrat"/>
                          <a:cs typeface="Montserrat"/>
                          <a:sym typeface="Montserrat"/>
                        </a:rPr>
                        <a:t>Facilitador</a:t>
                      </a:r>
                      <a:endParaRPr lang="en-US" sz="1100"/>
                    </a:p>
                  </a:txBody>
                  <a:tcPr marL="91440" marR="91440" marT="91440" marB="91440" anchor="ctr">
                    <a:lnL cmpd="sng" algn="ctr" cap="flat" w="9525">
                      <a:solidFill>
                        <a:srgbClr val="3A4A9A"/>
                      </a:solidFill>
                      <a:prstDash val="solid"/>
                      <a:round/>
                      <a:headEnd type="none" w="med" len="med"/>
                      <a:tailEnd type="none" w="med" len="med"/>
                    </a:lnL>
                    <a:lnR cmpd="sng" algn="ctr" cap="flat" w="9525">
                      <a:solidFill>
                        <a:srgbClr val="3A4A9A"/>
                      </a:solidFill>
                      <a:prstDash val="solid"/>
                      <a:round/>
                      <a:headEnd type="none" w="med" len="med"/>
                      <a:tailEnd type="none" w="med" len="med"/>
                    </a:lnR>
                    <a:lnT cmpd="sng" algn="ctr" cap="flat" w="9525">
                      <a:solidFill>
                        <a:srgbClr val="3A4A9A"/>
                      </a:solidFill>
                      <a:prstDash val="solid"/>
                      <a:round/>
                      <a:headEnd type="none" w="med" len="med"/>
                      <a:tailEnd type="none" w="med" len="med"/>
                    </a:lnT>
                    <a:lnB cmpd="sng" algn="ctr" cap="flat" w="9525">
                      <a:solidFill>
                        <a:srgbClr val="3A4A9A"/>
                      </a:solidFill>
                      <a:prstDash val="solid"/>
                      <a:round/>
                      <a:headEnd type="none" w="med" len="med"/>
                      <a:tailEnd type="none" w="med" len="med"/>
                    </a:lnB>
                    <a:solidFill>
                      <a:srgbClr val="15193A"/>
                    </a:solidFill>
                  </a:tcPr>
                </a:tc>
                <a:tc>
                  <a:txBody>
                    <a:bodyPr anchor="t" rtlCol="false"/>
                    <a:lstStyle/>
                    <a:p>
                      <a:pPr algn="l">
                        <a:lnSpc>
                          <a:spcPts val="1559"/>
                        </a:lnSpc>
                        <a:defRPr/>
                      </a:pPr>
                      <a:r>
                        <a:rPr lang="en-US" sz="1299">
                          <a:solidFill>
                            <a:srgbClr val="FFFFFF"/>
                          </a:solidFill>
                          <a:latin typeface="Montserrat"/>
                          <a:ea typeface="Montserrat"/>
                          <a:cs typeface="Montserrat"/>
                          <a:sym typeface="Montserrat"/>
                        </a:rPr>
                        <a:t>Duoc UC lo sugirió y Alloxentric lo aceptó</a:t>
                      </a:r>
                      <a:endParaRPr lang="en-US" sz="1100"/>
                    </a:p>
                  </a:txBody>
                  <a:tcPr marL="91440" marR="91440" marT="91440" marB="91440" anchor="ctr">
                    <a:lnL cmpd="sng" algn="ctr" cap="flat" w="9525">
                      <a:solidFill>
                        <a:srgbClr val="3A4A9A"/>
                      </a:solidFill>
                      <a:prstDash val="solid"/>
                      <a:round/>
                      <a:headEnd type="none" w="med" len="med"/>
                      <a:tailEnd type="none" w="med" len="med"/>
                    </a:lnL>
                    <a:lnR cmpd="sng" algn="ctr" cap="flat" w="9525">
                      <a:solidFill>
                        <a:srgbClr val="3A4A9A"/>
                      </a:solidFill>
                      <a:prstDash val="solid"/>
                      <a:round/>
                      <a:headEnd type="none" w="med" len="med"/>
                      <a:tailEnd type="none" w="med" len="med"/>
                    </a:lnR>
                    <a:lnT cmpd="sng" algn="ctr" cap="flat" w="9525">
                      <a:solidFill>
                        <a:srgbClr val="3A4A9A"/>
                      </a:solidFill>
                      <a:prstDash val="solid"/>
                      <a:round/>
                      <a:headEnd type="none" w="med" len="med"/>
                      <a:tailEnd type="none" w="med" len="med"/>
                    </a:lnT>
                    <a:lnB cmpd="sng" algn="ctr" cap="flat" w="9525">
                      <a:solidFill>
                        <a:srgbClr val="3A4A9A"/>
                      </a:solidFill>
                      <a:prstDash val="solid"/>
                      <a:round/>
                      <a:headEnd type="none" w="med" len="med"/>
                      <a:tailEnd type="none" w="med" len="med"/>
                    </a:lnB>
                    <a:solidFill>
                      <a:srgbClr val="15193A"/>
                    </a:solidFill>
                  </a:tcPr>
                </a:tc>
              </a:tr>
              <a:tr h="685800">
                <a:tc>
                  <a:txBody>
                    <a:bodyPr anchor="t" rtlCol="false"/>
                    <a:lstStyle/>
                    <a:p>
                      <a:pPr algn="l">
                        <a:lnSpc>
                          <a:spcPts val="1559"/>
                        </a:lnSpc>
                        <a:defRPr/>
                      </a:pPr>
                      <a:r>
                        <a:rPr lang="en-US" sz="1299">
                          <a:solidFill>
                            <a:srgbClr val="FFFFFF"/>
                          </a:solidFill>
                          <a:latin typeface="Montserrat"/>
                          <a:ea typeface="Montserrat"/>
                          <a:cs typeface="Montserrat"/>
                          <a:sym typeface="Montserrat"/>
                        </a:rPr>
                        <a:t>(Despliegue) Azure</a:t>
                      </a:r>
                      <a:endParaRPr lang="en-US" sz="1100"/>
                    </a:p>
                  </a:txBody>
                  <a:tcPr marL="91440" marR="91440" marT="91440" marB="91440" anchor="ctr">
                    <a:lnL cmpd="sng" algn="ctr" cap="flat" w="9525">
                      <a:solidFill>
                        <a:srgbClr val="3A4A9A"/>
                      </a:solidFill>
                      <a:prstDash val="solid"/>
                      <a:round/>
                      <a:headEnd type="none" w="med" len="med"/>
                      <a:tailEnd type="none" w="med" len="med"/>
                    </a:lnL>
                    <a:lnR cmpd="sng" algn="ctr" cap="flat" w="9525">
                      <a:solidFill>
                        <a:srgbClr val="3A4A9A"/>
                      </a:solidFill>
                      <a:prstDash val="solid"/>
                      <a:round/>
                      <a:headEnd type="none" w="med" len="med"/>
                      <a:tailEnd type="none" w="med" len="med"/>
                    </a:lnR>
                    <a:lnT cmpd="sng" algn="ctr" cap="flat" w="9525">
                      <a:solidFill>
                        <a:srgbClr val="3A4A9A"/>
                      </a:solidFill>
                      <a:prstDash val="solid"/>
                      <a:round/>
                      <a:headEnd type="none" w="med" len="med"/>
                      <a:tailEnd type="none" w="med" len="med"/>
                    </a:lnT>
                    <a:lnB cmpd="sng" algn="ctr" cap="flat" w="9525">
                      <a:solidFill>
                        <a:srgbClr val="3A4A9A"/>
                      </a:solidFill>
                      <a:prstDash val="solid"/>
                      <a:round/>
                      <a:headEnd type="none" w="med" len="med"/>
                      <a:tailEnd type="none" w="med" len="med"/>
                    </a:lnB>
                    <a:solidFill>
                      <a:srgbClr val="1C2350"/>
                    </a:solidFill>
                  </a:tcPr>
                </a:tc>
                <a:tc>
                  <a:txBody>
                    <a:bodyPr anchor="t" rtlCol="false"/>
                    <a:lstStyle/>
                    <a:p>
                      <a:pPr algn="l">
                        <a:lnSpc>
                          <a:spcPts val="1559"/>
                        </a:lnSpc>
                        <a:defRPr/>
                      </a:pPr>
                      <a:r>
                        <a:rPr lang="en-US" sz="1299">
                          <a:solidFill>
                            <a:srgbClr val="FFFFFF"/>
                          </a:solidFill>
                          <a:latin typeface="Montserrat"/>
                          <a:ea typeface="Montserrat"/>
                          <a:cs typeface="Montserrat"/>
                          <a:sym typeface="Montserrat"/>
                        </a:rPr>
                        <a:t>MVP publicado con Ngrok; Azure se recrea para el hito H3</a:t>
                      </a:r>
                      <a:endParaRPr lang="en-US" sz="1100"/>
                    </a:p>
                  </a:txBody>
                  <a:tcPr marL="91440" marR="91440" marT="91440" marB="91440" anchor="ctr">
                    <a:lnL cmpd="sng" algn="ctr" cap="flat" w="9525">
                      <a:solidFill>
                        <a:srgbClr val="3A4A9A"/>
                      </a:solidFill>
                      <a:prstDash val="solid"/>
                      <a:round/>
                      <a:headEnd type="none" w="med" len="med"/>
                      <a:tailEnd type="none" w="med" len="med"/>
                    </a:lnL>
                    <a:lnR cmpd="sng" algn="ctr" cap="flat" w="9525">
                      <a:solidFill>
                        <a:srgbClr val="3A4A9A"/>
                      </a:solidFill>
                      <a:prstDash val="solid"/>
                      <a:round/>
                      <a:headEnd type="none" w="med" len="med"/>
                      <a:tailEnd type="none" w="med" len="med"/>
                    </a:lnR>
                    <a:lnT cmpd="sng" algn="ctr" cap="flat" w="9525">
                      <a:solidFill>
                        <a:srgbClr val="3A4A9A"/>
                      </a:solidFill>
                      <a:prstDash val="solid"/>
                      <a:round/>
                      <a:headEnd type="none" w="med" len="med"/>
                      <a:tailEnd type="none" w="med" len="med"/>
                    </a:lnT>
                    <a:lnB cmpd="sng" algn="ctr" cap="flat" w="9525">
                      <a:solidFill>
                        <a:srgbClr val="3A4A9A"/>
                      </a:solidFill>
                      <a:prstDash val="solid"/>
                      <a:round/>
                      <a:headEnd type="none" w="med" len="med"/>
                      <a:tailEnd type="none" w="med" len="med"/>
                    </a:lnB>
                    <a:solidFill>
                      <a:srgbClr val="1C2350"/>
                    </a:solidFill>
                  </a:tcPr>
                </a:tc>
                <a:tc>
                  <a:txBody>
                    <a:bodyPr anchor="t" rtlCol="false"/>
                    <a:lstStyle/>
                    <a:p>
                      <a:pPr algn="l">
                        <a:lnSpc>
                          <a:spcPts val="1559"/>
                        </a:lnSpc>
                        <a:defRPr/>
                      </a:pPr>
                      <a:r>
                        <a:rPr lang="en-US" sz="1299">
                          <a:solidFill>
                            <a:srgbClr val="FBA94C"/>
                          </a:solidFill>
                          <a:latin typeface="Montserrat"/>
                          <a:ea typeface="Montserrat"/>
                          <a:cs typeface="Montserrat"/>
                          <a:sym typeface="Montserrat"/>
                        </a:rPr>
                        <a:t>Dificultad</a:t>
                      </a:r>
                      <a:endParaRPr lang="en-US" sz="1100"/>
                    </a:p>
                  </a:txBody>
                  <a:tcPr marL="91440" marR="91440" marT="91440" marB="91440" anchor="ctr">
                    <a:lnL cmpd="sng" algn="ctr" cap="flat" w="9525">
                      <a:solidFill>
                        <a:srgbClr val="3A4A9A"/>
                      </a:solidFill>
                      <a:prstDash val="solid"/>
                      <a:round/>
                      <a:headEnd type="none" w="med" len="med"/>
                      <a:tailEnd type="none" w="med" len="med"/>
                    </a:lnL>
                    <a:lnR cmpd="sng" algn="ctr" cap="flat" w="9525">
                      <a:solidFill>
                        <a:srgbClr val="3A4A9A"/>
                      </a:solidFill>
                      <a:prstDash val="solid"/>
                      <a:round/>
                      <a:headEnd type="none" w="med" len="med"/>
                      <a:tailEnd type="none" w="med" len="med"/>
                    </a:lnR>
                    <a:lnT cmpd="sng" algn="ctr" cap="flat" w="9525">
                      <a:solidFill>
                        <a:srgbClr val="3A4A9A"/>
                      </a:solidFill>
                      <a:prstDash val="solid"/>
                      <a:round/>
                      <a:headEnd type="none" w="med" len="med"/>
                      <a:tailEnd type="none" w="med" len="med"/>
                    </a:lnT>
                    <a:lnB cmpd="sng" algn="ctr" cap="flat" w="9525">
                      <a:solidFill>
                        <a:srgbClr val="3A4A9A"/>
                      </a:solidFill>
                      <a:prstDash val="solid"/>
                      <a:round/>
                      <a:headEnd type="none" w="med" len="med"/>
                      <a:tailEnd type="none" w="med" len="med"/>
                    </a:lnB>
                    <a:solidFill>
                      <a:srgbClr val="1C2350"/>
                    </a:solidFill>
                  </a:tcPr>
                </a:tc>
                <a:tc>
                  <a:txBody>
                    <a:bodyPr anchor="t" rtlCol="false"/>
                    <a:lstStyle/>
                    <a:p>
                      <a:pPr algn="l">
                        <a:lnSpc>
                          <a:spcPts val="1559"/>
                        </a:lnSpc>
                        <a:defRPr/>
                      </a:pPr>
                      <a:r>
                        <a:rPr lang="en-US" sz="1299">
                          <a:solidFill>
                            <a:srgbClr val="FFFFFF"/>
                          </a:solidFill>
                          <a:latin typeface="Montserrat"/>
                          <a:ea typeface="Montserrat"/>
                          <a:cs typeface="Montserrat"/>
                          <a:sym typeface="Montserrat"/>
                        </a:rPr>
                        <a:t>Crédito y restricciones de Azure for Students</a:t>
                      </a:r>
                      <a:endParaRPr lang="en-US" sz="1100"/>
                    </a:p>
                  </a:txBody>
                  <a:tcPr marL="91440" marR="91440" marT="91440" marB="91440" anchor="ctr">
                    <a:lnL cmpd="sng" algn="ctr" cap="flat" w="9525">
                      <a:solidFill>
                        <a:srgbClr val="3A4A9A"/>
                      </a:solidFill>
                      <a:prstDash val="solid"/>
                      <a:round/>
                      <a:headEnd type="none" w="med" len="med"/>
                      <a:tailEnd type="none" w="med" len="med"/>
                    </a:lnL>
                    <a:lnR cmpd="sng" algn="ctr" cap="flat" w="9525">
                      <a:solidFill>
                        <a:srgbClr val="3A4A9A"/>
                      </a:solidFill>
                      <a:prstDash val="solid"/>
                      <a:round/>
                      <a:headEnd type="none" w="med" len="med"/>
                      <a:tailEnd type="none" w="med" len="med"/>
                    </a:lnR>
                    <a:lnT cmpd="sng" algn="ctr" cap="flat" w="9525">
                      <a:solidFill>
                        <a:srgbClr val="3A4A9A"/>
                      </a:solidFill>
                      <a:prstDash val="solid"/>
                      <a:round/>
                      <a:headEnd type="none" w="med" len="med"/>
                      <a:tailEnd type="none" w="med" len="med"/>
                    </a:lnT>
                    <a:lnB cmpd="sng" algn="ctr" cap="flat" w="9525">
                      <a:solidFill>
                        <a:srgbClr val="3A4A9A"/>
                      </a:solidFill>
                      <a:prstDash val="solid"/>
                      <a:round/>
                      <a:headEnd type="none" w="med" len="med"/>
                      <a:tailEnd type="none" w="med" len="med"/>
                    </a:lnB>
                    <a:solidFill>
                      <a:srgbClr val="1C2350"/>
                    </a:solidFill>
                  </a:tcPr>
                </a:tc>
              </a:tr>
            </a:tbl>
          </a:graphicData>
        </a:graphic>
      </p:graphicFrame>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24384000" cy="13716000"/>
          </a:xfrm>
        </p:grpSpPr>
        <p:sp>
          <p:nvSpPr>
            <p:cNvPr name="Freeform 3" id="3" descr="fondo9_62.jpg"/>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lnTo>
                    <a:pt x="0" y="0"/>
                  </a:lnTo>
                  <a:close/>
                </a:path>
              </a:pathLst>
            </a:custGeom>
            <a:blipFill>
              <a:blip r:embed="rId2"/>
              <a:stretch>
                <a:fillRect l="0" t="-666" r="0" b="-666"/>
              </a:stretch>
            </a:blipFill>
          </p:spPr>
        </p:sp>
      </p:grpSp>
      <p:sp>
        <p:nvSpPr>
          <p:cNvPr name="TextBox 4" id="4"/>
          <p:cNvSpPr txBox="true"/>
          <p:nvPr/>
        </p:nvSpPr>
        <p:spPr>
          <a:xfrm rot="0">
            <a:off x="914400" y="355473"/>
            <a:ext cx="16459200" cy="760095"/>
          </a:xfrm>
          <a:prstGeom prst="rect">
            <a:avLst/>
          </a:prstGeom>
        </p:spPr>
        <p:txBody>
          <a:bodyPr anchor="t" rtlCol="false" tIns="0" lIns="0" bIns="0" rIns="0">
            <a:spAutoFit/>
          </a:bodyPr>
          <a:lstStyle/>
          <a:p>
            <a:pPr algn="ctr">
              <a:lnSpc>
                <a:spcPts val="3960"/>
              </a:lnSpc>
            </a:pPr>
            <a:r>
              <a:rPr lang="en-US" sz="3000">
                <a:solidFill>
                  <a:srgbClr val="FFFFFF"/>
                </a:solidFill>
                <a:latin typeface="Montserrat Light"/>
                <a:ea typeface="Montserrat Light"/>
                <a:cs typeface="Montserrat Light"/>
                <a:sym typeface="Montserrat Light"/>
              </a:rPr>
              <a:t>METODOLOGÍA APLICADA</a:t>
            </a:r>
          </a:p>
        </p:txBody>
      </p:sp>
      <p:sp>
        <p:nvSpPr>
          <p:cNvPr name="TextBox 5" id="5"/>
          <p:cNvSpPr txBox="true"/>
          <p:nvPr/>
        </p:nvSpPr>
        <p:spPr>
          <a:xfrm rot="0">
            <a:off x="914400" y="912495"/>
            <a:ext cx="16459200" cy="1144905"/>
          </a:xfrm>
          <a:prstGeom prst="rect">
            <a:avLst/>
          </a:prstGeom>
        </p:spPr>
        <p:txBody>
          <a:bodyPr anchor="t" rtlCol="false" tIns="0" lIns="0" bIns="0" rIns="0">
            <a:spAutoFit/>
          </a:bodyPr>
          <a:lstStyle/>
          <a:p>
            <a:pPr algn="ctr">
              <a:lnSpc>
                <a:spcPts val="6863"/>
              </a:lnSpc>
            </a:pPr>
            <a:r>
              <a:rPr lang="en-US" sz="5199" b="true">
                <a:solidFill>
                  <a:srgbClr val="FFFFFF"/>
                </a:solidFill>
                <a:latin typeface="Montserrat Bold"/>
                <a:ea typeface="Montserrat Bold"/>
                <a:cs typeface="Montserrat Bold"/>
                <a:sym typeface="Montserrat Bold"/>
              </a:rPr>
              <a:t>SCRUM ADAPTADO</a:t>
            </a:r>
          </a:p>
        </p:txBody>
      </p:sp>
      <p:sp>
        <p:nvSpPr>
          <p:cNvPr name="AutoShape 6" id="6"/>
          <p:cNvSpPr/>
          <p:nvPr/>
        </p:nvSpPr>
        <p:spPr>
          <a:xfrm rot="7920">
            <a:off x="895331" y="4146233"/>
            <a:ext cx="16497348" cy="0"/>
          </a:xfrm>
          <a:prstGeom prst="line">
            <a:avLst/>
          </a:prstGeom>
          <a:ln cap="rnd" w="28575">
            <a:solidFill>
              <a:srgbClr val="2B41B5"/>
            </a:solidFill>
            <a:prstDash val="solid"/>
            <a:headEnd type="none" len="sm" w="sm"/>
            <a:tailEnd type="triangle" len="med" w="lg"/>
          </a:ln>
        </p:spPr>
      </p:sp>
      <p:grpSp>
        <p:nvGrpSpPr>
          <p:cNvPr name="Group 7" id="7"/>
          <p:cNvGrpSpPr/>
          <p:nvPr/>
        </p:nvGrpSpPr>
        <p:grpSpPr>
          <a:xfrm rot="0">
            <a:off x="1444752" y="2331720"/>
            <a:ext cx="1133856" cy="984190"/>
            <a:chOff x="0" y="0"/>
            <a:chExt cx="1511808" cy="1312253"/>
          </a:xfrm>
        </p:grpSpPr>
        <p:sp>
          <p:nvSpPr>
            <p:cNvPr name="Freeform 8" id="8" descr="image10.png"/>
            <p:cNvSpPr/>
            <p:nvPr/>
          </p:nvSpPr>
          <p:spPr>
            <a:xfrm flipH="false" flipV="false" rot="0">
              <a:off x="0" y="0"/>
              <a:ext cx="1511808" cy="1312291"/>
            </a:xfrm>
            <a:custGeom>
              <a:avLst/>
              <a:gdLst/>
              <a:ahLst/>
              <a:cxnLst/>
              <a:rect r="r" b="b" t="t" l="l"/>
              <a:pathLst>
                <a:path h="1312291" w="1511808">
                  <a:moveTo>
                    <a:pt x="0" y="0"/>
                  </a:moveTo>
                  <a:lnTo>
                    <a:pt x="1511808" y="0"/>
                  </a:lnTo>
                  <a:lnTo>
                    <a:pt x="1511808" y="1312291"/>
                  </a:lnTo>
                  <a:lnTo>
                    <a:pt x="0" y="1312291"/>
                  </a:lnTo>
                  <a:lnTo>
                    <a:pt x="0" y="0"/>
                  </a:lnTo>
                  <a:close/>
                </a:path>
              </a:pathLst>
            </a:custGeom>
            <a:blipFill>
              <a:blip r:embed="rId3"/>
              <a:stretch>
                <a:fillRect l="0" t="0" r="0" b="2"/>
              </a:stretch>
            </a:blipFill>
          </p:spPr>
        </p:sp>
      </p:grpSp>
      <p:grpSp>
        <p:nvGrpSpPr>
          <p:cNvPr name="Group 9" id="9"/>
          <p:cNvGrpSpPr/>
          <p:nvPr/>
        </p:nvGrpSpPr>
        <p:grpSpPr>
          <a:xfrm rot="0">
            <a:off x="1444752" y="2195655"/>
            <a:ext cx="1133856" cy="984190"/>
            <a:chOff x="0" y="0"/>
            <a:chExt cx="1511808" cy="1312253"/>
          </a:xfrm>
        </p:grpSpPr>
        <p:sp>
          <p:nvSpPr>
            <p:cNvPr name="Freeform 10" id="10"/>
            <p:cNvSpPr/>
            <p:nvPr/>
          </p:nvSpPr>
          <p:spPr>
            <a:xfrm flipH="false" flipV="false" rot="0">
              <a:off x="0" y="0"/>
              <a:ext cx="1511808" cy="1312249"/>
            </a:xfrm>
            <a:custGeom>
              <a:avLst/>
              <a:gdLst/>
              <a:ahLst/>
              <a:cxnLst/>
              <a:rect r="r" b="b" t="t" l="l"/>
              <a:pathLst>
                <a:path h="1312249" w="1511808">
                  <a:moveTo>
                    <a:pt x="0" y="0"/>
                  </a:moveTo>
                  <a:lnTo>
                    <a:pt x="1511808" y="0"/>
                  </a:lnTo>
                  <a:lnTo>
                    <a:pt x="1511808" y="1312249"/>
                  </a:lnTo>
                  <a:lnTo>
                    <a:pt x="0" y="1312249"/>
                  </a:lnTo>
                  <a:close/>
                </a:path>
              </a:pathLst>
            </a:custGeom>
            <a:blipFill>
              <a:blip r:embed="rId4">
                <a:alphaModFix amt="0"/>
              </a:blip>
              <a:stretch>
                <a:fillRect l="-61367" t="0" r="-61367" b="0"/>
              </a:stretch>
            </a:blipFill>
          </p:spPr>
        </p:sp>
        <p:sp>
          <p:nvSpPr>
            <p:cNvPr name="TextBox 11" id="11"/>
            <p:cNvSpPr txBox="true"/>
            <p:nvPr/>
          </p:nvSpPr>
          <p:spPr>
            <a:xfrm>
              <a:off x="0" y="-28575"/>
              <a:ext cx="1511808" cy="1340828"/>
            </a:xfrm>
            <a:prstGeom prst="rect">
              <a:avLst/>
            </a:prstGeom>
          </p:spPr>
          <p:txBody>
            <a:bodyPr anchor="ctr" rtlCol="false" tIns="0" lIns="0" bIns="0" rIns="0"/>
            <a:lstStyle/>
            <a:p>
              <a:pPr algn="ctr">
                <a:lnSpc>
                  <a:spcPts val="3432"/>
                </a:lnSpc>
              </a:pPr>
              <a:r>
                <a:rPr lang="en-US" sz="2600" b="true">
                  <a:solidFill>
                    <a:srgbClr val="FFFFFF"/>
                  </a:solidFill>
                  <a:latin typeface="Montserrat Bold"/>
                  <a:ea typeface="Montserrat Bold"/>
                  <a:cs typeface="Montserrat Bold"/>
                  <a:sym typeface="Montserrat Bold"/>
                </a:rPr>
                <a:t>1</a:t>
              </a:r>
            </a:p>
          </p:txBody>
        </p:sp>
      </p:grpSp>
      <p:grpSp>
        <p:nvGrpSpPr>
          <p:cNvPr name="Group 12" id="12"/>
          <p:cNvGrpSpPr/>
          <p:nvPr/>
        </p:nvGrpSpPr>
        <p:grpSpPr>
          <a:xfrm rot="0">
            <a:off x="1892808" y="4041648"/>
            <a:ext cx="237744" cy="237744"/>
            <a:chOff x="0" y="0"/>
            <a:chExt cx="316992" cy="316992"/>
          </a:xfrm>
        </p:grpSpPr>
        <p:sp>
          <p:nvSpPr>
            <p:cNvPr name="Freeform 13" id="13"/>
            <p:cNvSpPr/>
            <p:nvPr/>
          </p:nvSpPr>
          <p:spPr>
            <a:xfrm flipH="false" flipV="false" rot="0">
              <a:off x="0" y="0"/>
              <a:ext cx="316992" cy="316992"/>
            </a:xfrm>
            <a:custGeom>
              <a:avLst/>
              <a:gdLst/>
              <a:ahLst/>
              <a:cxnLst/>
              <a:rect r="r" b="b" t="t" l="l"/>
              <a:pathLst>
                <a:path h="316992" w="316992">
                  <a:moveTo>
                    <a:pt x="0" y="158496"/>
                  </a:moveTo>
                  <a:cubicBezTo>
                    <a:pt x="0" y="70993"/>
                    <a:pt x="70993" y="0"/>
                    <a:pt x="158496" y="0"/>
                  </a:cubicBezTo>
                  <a:cubicBezTo>
                    <a:pt x="245999" y="0"/>
                    <a:pt x="316992" y="70993"/>
                    <a:pt x="316992" y="158496"/>
                  </a:cubicBezTo>
                  <a:cubicBezTo>
                    <a:pt x="316992" y="245999"/>
                    <a:pt x="245999" y="316992"/>
                    <a:pt x="158496" y="316992"/>
                  </a:cubicBezTo>
                  <a:cubicBezTo>
                    <a:pt x="70993" y="316992"/>
                    <a:pt x="0" y="245999"/>
                    <a:pt x="0" y="158496"/>
                  </a:cubicBezTo>
                  <a:close/>
                </a:path>
              </a:pathLst>
            </a:custGeom>
            <a:solidFill>
              <a:srgbClr val="2B41B5"/>
            </a:solidFill>
          </p:spPr>
        </p:sp>
      </p:grpSp>
      <p:sp>
        <p:nvSpPr>
          <p:cNvPr name="TextBox 14" id="14"/>
          <p:cNvSpPr txBox="true"/>
          <p:nvPr/>
        </p:nvSpPr>
        <p:spPr>
          <a:xfrm rot="0">
            <a:off x="457200" y="4415790"/>
            <a:ext cx="3108960" cy="430530"/>
          </a:xfrm>
          <a:prstGeom prst="rect">
            <a:avLst/>
          </a:prstGeom>
        </p:spPr>
        <p:txBody>
          <a:bodyPr anchor="t" rtlCol="false" tIns="0" lIns="0" bIns="0" rIns="0">
            <a:spAutoFit/>
          </a:bodyPr>
          <a:lstStyle/>
          <a:p>
            <a:pPr algn="ctr">
              <a:lnSpc>
                <a:spcPts val="2376"/>
              </a:lnSpc>
            </a:pPr>
            <a:r>
              <a:rPr lang="en-US" sz="1800" b="true">
                <a:solidFill>
                  <a:srgbClr val="FFFFFF"/>
                </a:solidFill>
                <a:latin typeface="Montserrat Bold"/>
                <a:ea typeface="Montserrat Bold"/>
                <a:cs typeface="Montserrat Bold"/>
                <a:sym typeface="Montserrat Bold"/>
              </a:rPr>
              <a:t>Sprint</a:t>
            </a:r>
          </a:p>
        </p:txBody>
      </p:sp>
      <p:sp>
        <p:nvSpPr>
          <p:cNvPr name="TextBox 15" id="15"/>
          <p:cNvSpPr txBox="true"/>
          <p:nvPr/>
        </p:nvSpPr>
        <p:spPr>
          <a:xfrm rot="0">
            <a:off x="457200" y="4872990"/>
            <a:ext cx="3108960" cy="842010"/>
          </a:xfrm>
          <a:prstGeom prst="rect">
            <a:avLst/>
          </a:prstGeom>
        </p:spPr>
        <p:txBody>
          <a:bodyPr anchor="t" rtlCol="false" tIns="0" lIns="0" bIns="0" rIns="0">
            <a:spAutoFit/>
          </a:bodyPr>
          <a:lstStyle/>
          <a:p>
            <a:pPr algn="ctr">
              <a:lnSpc>
                <a:spcPts val="1980"/>
              </a:lnSpc>
            </a:pPr>
            <a:r>
              <a:rPr lang="en-US" sz="1500">
                <a:solidFill>
                  <a:srgbClr val="C9D2F0"/>
                </a:solidFill>
                <a:latin typeface="Montserrat"/>
                <a:ea typeface="Montserrat"/>
                <a:cs typeface="Montserrat"/>
                <a:sym typeface="Montserrat"/>
              </a:rPr>
              <a:t>de 2 semanas</a:t>
            </a:r>
          </a:p>
        </p:txBody>
      </p:sp>
      <p:grpSp>
        <p:nvGrpSpPr>
          <p:cNvPr name="Group 16" id="16"/>
          <p:cNvGrpSpPr/>
          <p:nvPr/>
        </p:nvGrpSpPr>
        <p:grpSpPr>
          <a:xfrm rot="0">
            <a:off x="5010912" y="2331720"/>
            <a:ext cx="1133856" cy="984190"/>
            <a:chOff x="0" y="0"/>
            <a:chExt cx="1511808" cy="1312253"/>
          </a:xfrm>
        </p:grpSpPr>
        <p:sp>
          <p:nvSpPr>
            <p:cNvPr name="Freeform 17" id="17" descr="image10.png"/>
            <p:cNvSpPr/>
            <p:nvPr/>
          </p:nvSpPr>
          <p:spPr>
            <a:xfrm flipH="false" flipV="false" rot="0">
              <a:off x="0" y="0"/>
              <a:ext cx="1511808" cy="1312291"/>
            </a:xfrm>
            <a:custGeom>
              <a:avLst/>
              <a:gdLst/>
              <a:ahLst/>
              <a:cxnLst/>
              <a:rect r="r" b="b" t="t" l="l"/>
              <a:pathLst>
                <a:path h="1312291" w="1511808">
                  <a:moveTo>
                    <a:pt x="0" y="0"/>
                  </a:moveTo>
                  <a:lnTo>
                    <a:pt x="1511808" y="0"/>
                  </a:lnTo>
                  <a:lnTo>
                    <a:pt x="1511808" y="1312291"/>
                  </a:lnTo>
                  <a:lnTo>
                    <a:pt x="0" y="1312291"/>
                  </a:lnTo>
                  <a:lnTo>
                    <a:pt x="0" y="0"/>
                  </a:lnTo>
                  <a:close/>
                </a:path>
              </a:pathLst>
            </a:custGeom>
            <a:blipFill>
              <a:blip r:embed="rId3"/>
              <a:stretch>
                <a:fillRect l="0" t="0" r="0" b="2"/>
              </a:stretch>
            </a:blipFill>
          </p:spPr>
        </p:sp>
      </p:grpSp>
      <p:grpSp>
        <p:nvGrpSpPr>
          <p:cNvPr name="Group 18" id="18"/>
          <p:cNvGrpSpPr/>
          <p:nvPr/>
        </p:nvGrpSpPr>
        <p:grpSpPr>
          <a:xfrm rot="0">
            <a:off x="5010912" y="2195655"/>
            <a:ext cx="1133856" cy="984190"/>
            <a:chOff x="0" y="0"/>
            <a:chExt cx="1511808" cy="1312253"/>
          </a:xfrm>
        </p:grpSpPr>
        <p:sp>
          <p:nvSpPr>
            <p:cNvPr name="Freeform 19" id="19"/>
            <p:cNvSpPr/>
            <p:nvPr/>
          </p:nvSpPr>
          <p:spPr>
            <a:xfrm flipH="false" flipV="false" rot="0">
              <a:off x="0" y="0"/>
              <a:ext cx="1511808" cy="1312249"/>
            </a:xfrm>
            <a:custGeom>
              <a:avLst/>
              <a:gdLst/>
              <a:ahLst/>
              <a:cxnLst/>
              <a:rect r="r" b="b" t="t" l="l"/>
              <a:pathLst>
                <a:path h="1312249" w="1511808">
                  <a:moveTo>
                    <a:pt x="0" y="0"/>
                  </a:moveTo>
                  <a:lnTo>
                    <a:pt x="1511808" y="0"/>
                  </a:lnTo>
                  <a:lnTo>
                    <a:pt x="1511808" y="1312249"/>
                  </a:lnTo>
                  <a:lnTo>
                    <a:pt x="0" y="1312249"/>
                  </a:lnTo>
                  <a:close/>
                </a:path>
              </a:pathLst>
            </a:custGeom>
            <a:blipFill>
              <a:blip r:embed="rId4">
                <a:alphaModFix amt="0"/>
              </a:blip>
              <a:stretch>
                <a:fillRect l="-61367" t="0" r="-61367" b="0"/>
              </a:stretch>
            </a:blipFill>
          </p:spPr>
        </p:sp>
        <p:sp>
          <p:nvSpPr>
            <p:cNvPr name="TextBox 20" id="20"/>
            <p:cNvSpPr txBox="true"/>
            <p:nvPr/>
          </p:nvSpPr>
          <p:spPr>
            <a:xfrm>
              <a:off x="0" y="-28575"/>
              <a:ext cx="1511808" cy="1340828"/>
            </a:xfrm>
            <a:prstGeom prst="rect">
              <a:avLst/>
            </a:prstGeom>
          </p:spPr>
          <p:txBody>
            <a:bodyPr anchor="ctr" rtlCol="false" tIns="0" lIns="0" bIns="0" rIns="0"/>
            <a:lstStyle/>
            <a:p>
              <a:pPr algn="ctr">
                <a:lnSpc>
                  <a:spcPts val="3432"/>
                </a:lnSpc>
              </a:pPr>
              <a:r>
                <a:rPr lang="en-US" sz="2600" b="true">
                  <a:solidFill>
                    <a:srgbClr val="FFFFFF"/>
                  </a:solidFill>
                  <a:latin typeface="Montserrat Bold"/>
                  <a:ea typeface="Montserrat Bold"/>
                  <a:cs typeface="Montserrat Bold"/>
                  <a:sym typeface="Montserrat Bold"/>
                </a:rPr>
                <a:t>2</a:t>
              </a:r>
            </a:p>
          </p:txBody>
        </p:sp>
      </p:grpSp>
      <p:grpSp>
        <p:nvGrpSpPr>
          <p:cNvPr name="Group 21" id="21"/>
          <p:cNvGrpSpPr/>
          <p:nvPr/>
        </p:nvGrpSpPr>
        <p:grpSpPr>
          <a:xfrm rot="0">
            <a:off x="5458968" y="4041648"/>
            <a:ext cx="237744" cy="237744"/>
            <a:chOff x="0" y="0"/>
            <a:chExt cx="316992" cy="316992"/>
          </a:xfrm>
        </p:grpSpPr>
        <p:sp>
          <p:nvSpPr>
            <p:cNvPr name="Freeform 22" id="22"/>
            <p:cNvSpPr/>
            <p:nvPr/>
          </p:nvSpPr>
          <p:spPr>
            <a:xfrm flipH="false" flipV="false" rot="0">
              <a:off x="0" y="0"/>
              <a:ext cx="316992" cy="316992"/>
            </a:xfrm>
            <a:custGeom>
              <a:avLst/>
              <a:gdLst/>
              <a:ahLst/>
              <a:cxnLst/>
              <a:rect r="r" b="b" t="t" l="l"/>
              <a:pathLst>
                <a:path h="316992" w="316992">
                  <a:moveTo>
                    <a:pt x="0" y="158496"/>
                  </a:moveTo>
                  <a:cubicBezTo>
                    <a:pt x="0" y="70993"/>
                    <a:pt x="70993" y="0"/>
                    <a:pt x="158496" y="0"/>
                  </a:cubicBezTo>
                  <a:cubicBezTo>
                    <a:pt x="245999" y="0"/>
                    <a:pt x="316992" y="70993"/>
                    <a:pt x="316992" y="158496"/>
                  </a:cubicBezTo>
                  <a:cubicBezTo>
                    <a:pt x="316992" y="245999"/>
                    <a:pt x="245999" y="316992"/>
                    <a:pt x="158496" y="316992"/>
                  </a:cubicBezTo>
                  <a:cubicBezTo>
                    <a:pt x="70993" y="316992"/>
                    <a:pt x="0" y="245999"/>
                    <a:pt x="0" y="158496"/>
                  </a:cubicBezTo>
                  <a:close/>
                </a:path>
              </a:pathLst>
            </a:custGeom>
            <a:solidFill>
              <a:srgbClr val="2B41B5"/>
            </a:solidFill>
          </p:spPr>
        </p:sp>
      </p:grpSp>
      <p:sp>
        <p:nvSpPr>
          <p:cNvPr name="TextBox 23" id="23"/>
          <p:cNvSpPr txBox="true"/>
          <p:nvPr/>
        </p:nvSpPr>
        <p:spPr>
          <a:xfrm rot="0">
            <a:off x="4023360" y="4415790"/>
            <a:ext cx="3108960" cy="430530"/>
          </a:xfrm>
          <a:prstGeom prst="rect">
            <a:avLst/>
          </a:prstGeom>
        </p:spPr>
        <p:txBody>
          <a:bodyPr anchor="t" rtlCol="false" tIns="0" lIns="0" bIns="0" rIns="0">
            <a:spAutoFit/>
          </a:bodyPr>
          <a:lstStyle/>
          <a:p>
            <a:pPr algn="ctr">
              <a:lnSpc>
                <a:spcPts val="2376"/>
              </a:lnSpc>
            </a:pPr>
            <a:r>
              <a:rPr lang="en-US" sz="1800" b="true">
                <a:solidFill>
                  <a:srgbClr val="FFFFFF"/>
                </a:solidFill>
                <a:latin typeface="Montserrat Bold"/>
                <a:ea typeface="Montserrat Bold"/>
                <a:cs typeface="Montserrat Bold"/>
                <a:sym typeface="Montserrat Bold"/>
              </a:rPr>
              <a:t>Seguimiento</a:t>
            </a:r>
          </a:p>
        </p:txBody>
      </p:sp>
      <p:sp>
        <p:nvSpPr>
          <p:cNvPr name="TextBox 24" id="24"/>
          <p:cNvSpPr txBox="true"/>
          <p:nvPr/>
        </p:nvSpPr>
        <p:spPr>
          <a:xfrm rot="0">
            <a:off x="4023360" y="4872990"/>
            <a:ext cx="3108960" cy="842010"/>
          </a:xfrm>
          <a:prstGeom prst="rect">
            <a:avLst/>
          </a:prstGeom>
        </p:spPr>
        <p:txBody>
          <a:bodyPr anchor="t" rtlCol="false" tIns="0" lIns="0" bIns="0" rIns="0">
            <a:spAutoFit/>
          </a:bodyPr>
          <a:lstStyle/>
          <a:p>
            <a:pPr algn="ctr">
              <a:lnSpc>
                <a:spcPts val="1980"/>
              </a:lnSpc>
            </a:pPr>
            <a:r>
              <a:rPr lang="en-US" sz="1500">
                <a:solidFill>
                  <a:srgbClr val="C9D2F0"/>
                </a:solidFill>
                <a:latin typeface="Montserrat"/>
                <a:ea typeface="Montserrat"/>
                <a:cs typeface="Montserrat"/>
                <a:sym typeface="Montserrat"/>
              </a:rPr>
              <a:t>semanal del equipo</a:t>
            </a:r>
          </a:p>
        </p:txBody>
      </p:sp>
      <p:grpSp>
        <p:nvGrpSpPr>
          <p:cNvPr name="Group 25" id="25"/>
          <p:cNvGrpSpPr/>
          <p:nvPr/>
        </p:nvGrpSpPr>
        <p:grpSpPr>
          <a:xfrm rot="0">
            <a:off x="8577072" y="2331720"/>
            <a:ext cx="1133856" cy="984190"/>
            <a:chOff x="0" y="0"/>
            <a:chExt cx="1511808" cy="1312253"/>
          </a:xfrm>
        </p:grpSpPr>
        <p:sp>
          <p:nvSpPr>
            <p:cNvPr name="Freeform 26" id="26" descr="image10.png"/>
            <p:cNvSpPr/>
            <p:nvPr/>
          </p:nvSpPr>
          <p:spPr>
            <a:xfrm flipH="false" flipV="false" rot="0">
              <a:off x="0" y="0"/>
              <a:ext cx="1511808" cy="1312291"/>
            </a:xfrm>
            <a:custGeom>
              <a:avLst/>
              <a:gdLst/>
              <a:ahLst/>
              <a:cxnLst/>
              <a:rect r="r" b="b" t="t" l="l"/>
              <a:pathLst>
                <a:path h="1312291" w="1511808">
                  <a:moveTo>
                    <a:pt x="0" y="0"/>
                  </a:moveTo>
                  <a:lnTo>
                    <a:pt x="1511808" y="0"/>
                  </a:lnTo>
                  <a:lnTo>
                    <a:pt x="1511808" y="1312291"/>
                  </a:lnTo>
                  <a:lnTo>
                    <a:pt x="0" y="1312291"/>
                  </a:lnTo>
                  <a:lnTo>
                    <a:pt x="0" y="0"/>
                  </a:lnTo>
                  <a:close/>
                </a:path>
              </a:pathLst>
            </a:custGeom>
            <a:blipFill>
              <a:blip r:embed="rId3"/>
              <a:stretch>
                <a:fillRect l="0" t="0" r="0" b="2"/>
              </a:stretch>
            </a:blipFill>
          </p:spPr>
        </p:sp>
      </p:grpSp>
      <p:grpSp>
        <p:nvGrpSpPr>
          <p:cNvPr name="Group 27" id="27"/>
          <p:cNvGrpSpPr/>
          <p:nvPr/>
        </p:nvGrpSpPr>
        <p:grpSpPr>
          <a:xfrm rot="0">
            <a:off x="8577072" y="2195655"/>
            <a:ext cx="1133856" cy="984190"/>
            <a:chOff x="0" y="0"/>
            <a:chExt cx="1511808" cy="1312253"/>
          </a:xfrm>
        </p:grpSpPr>
        <p:sp>
          <p:nvSpPr>
            <p:cNvPr name="Freeform 28" id="28"/>
            <p:cNvSpPr/>
            <p:nvPr/>
          </p:nvSpPr>
          <p:spPr>
            <a:xfrm flipH="false" flipV="false" rot="0">
              <a:off x="0" y="0"/>
              <a:ext cx="1511808" cy="1312249"/>
            </a:xfrm>
            <a:custGeom>
              <a:avLst/>
              <a:gdLst/>
              <a:ahLst/>
              <a:cxnLst/>
              <a:rect r="r" b="b" t="t" l="l"/>
              <a:pathLst>
                <a:path h="1312249" w="1511808">
                  <a:moveTo>
                    <a:pt x="0" y="0"/>
                  </a:moveTo>
                  <a:lnTo>
                    <a:pt x="1511808" y="0"/>
                  </a:lnTo>
                  <a:lnTo>
                    <a:pt x="1511808" y="1312249"/>
                  </a:lnTo>
                  <a:lnTo>
                    <a:pt x="0" y="1312249"/>
                  </a:lnTo>
                  <a:close/>
                </a:path>
              </a:pathLst>
            </a:custGeom>
            <a:blipFill>
              <a:blip r:embed="rId4">
                <a:alphaModFix amt="0"/>
              </a:blip>
              <a:stretch>
                <a:fillRect l="-61367" t="0" r="-61367" b="0"/>
              </a:stretch>
            </a:blipFill>
          </p:spPr>
        </p:sp>
        <p:sp>
          <p:nvSpPr>
            <p:cNvPr name="TextBox 29" id="29"/>
            <p:cNvSpPr txBox="true"/>
            <p:nvPr/>
          </p:nvSpPr>
          <p:spPr>
            <a:xfrm>
              <a:off x="0" y="-28575"/>
              <a:ext cx="1511808" cy="1340828"/>
            </a:xfrm>
            <a:prstGeom prst="rect">
              <a:avLst/>
            </a:prstGeom>
          </p:spPr>
          <p:txBody>
            <a:bodyPr anchor="ctr" rtlCol="false" tIns="0" lIns="0" bIns="0" rIns="0"/>
            <a:lstStyle/>
            <a:p>
              <a:pPr algn="ctr">
                <a:lnSpc>
                  <a:spcPts val="3432"/>
                </a:lnSpc>
              </a:pPr>
              <a:r>
                <a:rPr lang="en-US" sz="2600" b="true">
                  <a:solidFill>
                    <a:srgbClr val="FFFFFF"/>
                  </a:solidFill>
                  <a:latin typeface="Montserrat Bold"/>
                  <a:ea typeface="Montserrat Bold"/>
                  <a:cs typeface="Montserrat Bold"/>
                  <a:sym typeface="Montserrat Bold"/>
                </a:rPr>
                <a:t>3</a:t>
              </a:r>
            </a:p>
          </p:txBody>
        </p:sp>
      </p:grpSp>
      <p:grpSp>
        <p:nvGrpSpPr>
          <p:cNvPr name="Group 30" id="30"/>
          <p:cNvGrpSpPr/>
          <p:nvPr/>
        </p:nvGrpSpPr>
        <p:grpSpPr>
          <a:xfrm rot="0">
            <a:off x="9025128" y="4041648"/>
            <a:ext cx="237744" cy="237744"/>
            <a:chOff x="0" y="0"/>
            <a:chExt cx="316992" cy="316992"/>
          </a:xfrm>
        </p:grpSpPr>
        <p:sp>
          <p:nvSpPr>
            <p:cNvPr name="Freeform 31" id="31"/>
            <p:cNvSpPr/>
            <p:nvPr/>
          </p:nvSpPr>
          <p:spPr>
            <a:xfrm flipH="false" flipV="false" rot="0">
              <a:off x="0" y="0"/>
              <a:ext cx="316992" cy="316992"/>
            </a:xfrm>
            <a:custGeom>
              <a:avLst/>
              <a:gdLst/>
              <a:ahLst/>
              <a:cxnLst/>
              <a:rect r="r" b="b" t="t" l="l"/>
              <a:pathLst>
                <a:path h="316992" w="316992">
                  <a:moveTo>
                    <a:pt x="0" y="158496"/>
                  </a:moveTo>
                  <a:cubicBezTo>
                    <a:pt x="0" y="70993"/>
                    <a:pt x="70993" y="0"/>
                    <a:pt x="158496" y="0"/>
                  </a:cubicBezTo>
                  <a:cubicBezTo>
                    <a:pt x="245999" y="0"/>
                    <a:pt x="316992" y="70993"/>
                    <a:pt x="316992" y="158496"/>
                  </a:cubicBezTo>
                  <a:cubicBezTo>
                    <a:pt x="316992" y="245999"/>
                    <a:pt x="245999" y="316992"/>
                    <a:pt x="158496" y="316992"/>
                  </a:cubicBezTo>
                  <a:cubicBezTo>
                    <a:pt x="70993" y="316992"/>
                    <a:pt x="0" y="245999"/>
                    <a:pt x="0" y="158496"/>
                  </a:cubicBezTo>
                  <a:close/>
                </a:path>
              </a:pathLst>
            </a:custGeom>
            <a:solidFill>
              <a:srgbClr val="2B41B5"/>
            </a:solidFill>
          </p:spPr>
        </p:sp>
      </p:grpSp>
      <p:sp>
        <p:nvSpPr>
          <p:cNvPr name="TextBox 32" id="32"/>
          <p:cNvSpPr txBox="true"/>
          <p:nvPr/>
        </p:nvSpPr>
        <p:spPr>
          <a:xfrm rot="0">
            <a:off x="7589520" y="4415790"/>
            <a:ext cx="3108960" cy="430530"/>
          </a:xfrm>
          <a:prstGeom prst="rect">
            <a:avLst/>
          </a:prstGeom>
        </p:spPr>
        <p:txBody>
          <a:bodyPr anchor="t" rtlCol="false" tIns="0" lIns="0" bIns="0" rIns="0">
            <a:spAutoFit/>
          </a:bodyPr>
          <a:lstStyle/>
          <a:p>
            <a:pPr algn="ctr">
              <a:lnSpc>
                <a:spcPts val="2376"/>
              </a:lnSpc>
            </a:pPr>
            <a:r>
              <a:rPr lang="en-US" sz="1800" b="true">
                <a:solidFill>
                  <a:srgbClr val="FFFFFF"/>
                </a:solidFill>
                <a:latin typeface="Montserrat Bold"/>
                <a:ea typeface="Montserrat Bold"/>
                <a:cs typeface="Montserrat Bold"/>
                <a:sym typeface="Montserrat Bold"/>
              </a:rPr>
              <a:t>Reunión</a:t>
            </a:r>
          </a:p>
        </p:txBody>
      </p:sp>
      <p:sp>
        <p:nvSpPr>
          <p:cNvPr name="TextBox 33" id="33"/>
          <p:cNvSpPr txBox="true"/>
          <p:nvPr/>
        </p:nvSpPr>
        <p:spPr>
          <a:xfrm rot="0">
            <a:off x="7589520" y="4872990"/>
            <a:ext cx="3108960" cy="842010"/>
          </a:xfrm>
          <a:prstGeom prst="rect">
            <a:avLst/>
          </a:prstGeom>
        </p:spPr>
        <p:txBody>
          <a:bodyPr anchor="t" rtlCol="false" tIns="0" lIns="0" bIns="0" rIns="0">
            <a:spAutoFit/>
          </a:bodyPr>
          <a:lstStyle/>
          <a:p>
            <a:pPr algn="ctr">
              <a:lnSpc>
                <a:spcPts val="1980"/>
              </a:lnSpc>
            </a:pPr>
            <a:r>
              <a:rPr lang="en-US" sz="1500">
                <a:solidFill>
                  <a:srgbClr val="C9D2F0"/>
                </a:solidFill>
                <a:latin typeface="Montserrat"/>
                <a:ea typeface="Montserrat"/>
                <a:cs typeface="Montserrat"/>
                <a:sym typeface="Montserrat"/>
              </a:rPr>
              <a:t>semanal con la docente</a:t>
            </a:r>
          </a:p>
        </p:txBody>
      </p:sp>
      <p:grpSp>
        <p:nvGrpSpPr>
          <p:cNvPr name="Group 34" id="34"/>
          <p:cNvGrpSpPr/>
          <p:nvPr/>
        </p:nvGrpSpPr>
        <p:grpSpPr>
          <a:xfrm rot="0">
            <a:off x="12143232" y="2331720"/>
            <a:ext cx="1133856" cy="984190"/>
            <a:chOff x="0" y="0"/>
            <a:chExt cx="1511808" cy="1312253"/>
          </a:xfrm>
        </p:grpSpPr>
        <p:sp>
          <p:nvSpPr>
            <p:cNvPr name="Freeform 35" id="35" descr="image10.png"/>
            <p:cNvSpPr/>
            <p:nvPr/>
          </p:nvSpPr>
          <p:spPr>
            <a:xfrm flipH="false" flipV="false" rot="0">
              <a:off x="0" y="0"/>
              <a:ext cx="1511808" cy="1312291"/>
            </a:xfrm>
            <a:custGeom>
              <a:avLst/>
              <a:gdLst/>
              <a:ahLst/>
              <a:cxnLst/>
              <a:rect r="r" b="b" t="t" l="l"/>
              <a:pathLst>
                <a:path h="1312291" w="1511808">
                  <a:moveTo>
                    <a:pt x="0" y="0"/>
                  </a:moveTo>
                  <a:lnTo>
                    <a:pt x="1511808" y="0"/>
                  </a:lnTo>
                  <a:lnTo>
                    <a:pt x="1511808" y="1312291"/>
                  </a:lnTo>
                  <a:lnTo>
                    <a:pt x="0" y="1312291"/>
                  </a:lnTo>
                  <a:lnTo>
                    <a:pt x="0" y="0"/>
                  </a:lnTo>
                  <a:close/>
                </a:path>
              </a:pathLst>
            </a:custGeom>
            <a:blipFill>
              <a:blip r:embed="rId3"/>
              <a:stretch>
                <a:fillRect l="0" t="0" r="0" b="2"/>
              </a:stretch>
            </a:blipFill>
          </p:spPr>
        </p:sp>
      </p:grpSp>
      <p:grpSp>
        <p:nvGrpSpPr>
          <p:cNvPr name="Group 36" id="36"/>
          <p:cNvGrpSpPr/>
          <p:nvPr/>
        </p:nvGrpSpPr>
        <p:grpSpPr>
          <a:xfrm rot="0">
            <a:off x="12143232" y="2195655"/>
            <a:ext cx="1133856" cy="984190"/>
            <a:chOff x="0" y="0"/>
            <a:chExt cx="1511808" cy="1312253"/>
          </a:xfrm>
        </p:grpSpPr>
        <p:sp>
          <p:nvSpPr>
            <p:cNvPr name="Freeform 37" id="37"/>
            <p:cNvSpPr/>
            <p:nvPr/>
          </p:nvSpPr>
          <p:spPr>
            <a:xfrm flipH="false" flipV="false" rot="0">
              <a:off x="0" y="0"/>
              <a:ext cx="1511808" cy="1312249"/>
            </a:xfrm>
            <a:custGeom>
              <a:avLst/>
              <a:gdLst/>
              <a:ahLst/>
              <a:cxnLst/>
              <a:rect r="r" b="b" t="t" l="l"/>
              <a:pathLst>
                <a:path h="1312249" w="1511808">
                  <a:moveTo>
                    <a:pt x="0" y="0"/>
                  </a:moveTo>
                  <a:lnTo>
                    <a:pt x="1511808" y="0"/>
                  </a:lnTo>
                  <a:lnTo>
                    <a:pt x="1511808" y="1312249"/>
                  </a:lnTo>
                  <a:lnTo>
                    <a:pt x="0" y="1312249"/>
                  </a:lnTo>
                  <a:close/>
                </a:path>
              </a:pathLst>
            </a:custGeom>
            <a:blipFill>
              <a:blip r:embed="rId4">
                <a:alphaModFix amt="0"/>
              </a:blip>
              <a:stretch>
                <a:fillRect l="-61367" t="0" r="-61367" b="0"/>
              </a:stretch>
            </a:blipFill>
          </p:spPr>
        </p:sp>
        <p:sp>
          <p:nvSpPr>
            <p:cNvPr name="TextBox 38" id="38"/>
            <p:cNvSpPr txBox="true"/>
            <p:nvPr/>
          </p:nvSpPr>
          <p:spPr>
            <a:xfrm>
              <a:off x="0" y="-28575"/>
              <a:ext cx="1511808" cy="1340828"/>
            </a:xfrm>
            <a:prstGeom prst="rect">
              <a:avLst/>
            </a:prstGeom>
          </p:spPr>
          <p:txBody>
            <a:bodyPr anchor="ctr" rtlCol="false" tIns="0" lIns="0" bIns="0" rIns="0"/>
            <a:lstStyle/>
            <a:p>
              <a:pPr algn="ctr">
                <a:lnSpc>
                  <a:spcPts val="3432"/>
                </a:lnSpc>
              </a:pPr>
              <a:r>
                <a:rPr lang="en-US" sz="2600" b="true">
                  <a:solidFill>
                    <a:srgbClr val="FFFFFF"/>
                  </a:solidFill>
                  <a:latin typeface="Montserrat Bold"/>
                  <a:ea typeface="Montserrat Bold"/>
                  <a:cs typeface="Montserrat Bold"/>
                  <a:sym typeface="Montserrat Bold"/>
                </a:rPr>
                <a:t>4</a:t>
              </a:r>
            </a:p>
          </p:txBody>
        </p:sp>
      </p:grpSp>
      <p:grpSp>
        <p:nvGrpSpPr>
          <p:cNvPr name="Group 39" id="39"/>
          <p:cNvGrpSpPr/>
          <p:nvPr/>
        </p:nvGrpSpPr>
        <p:grpSpPr>
          <a:xfrm rot="0">
            <a:off x="12591288" y="4041648"/>
            <a:ext cx="237744" cy="237744"/>
            <a:chOff x="0" y="0"/>
            <a:chExt cx="316992" cy="316992"/>
          </a:xfrm>
        </p:grpSpPr>
        <p:sp>
          <p:nvSpPr>
            <p:cNvPr name="Freeform 40" id="40"/>
            <p:cNvSpPr/>
            <p:nvPr/>
          </p:nvSpPr>
          <p:spPr>
            <a:xfrm flipH="false" flipV="false" rot="0">
              <a:off x="0" y="0"/>
              <a:ext cx="316992" cy="316992"/>
            </a:xfrm>
            <a:custGeom>
              <a:avLst/>
              <a:gdLst/>
              <a:ahLst/>
              <a:cxnLst/>
              <a:rect r="r" b="b" t="t" l="l"/>
              <a:pathLst>
                <a:path h="316992" w="316992">
                  <a:moveTo>
                    <a:pt x="0" y="158496"/>
                  </a:moveTo>
                  <a:cubicBezTo>
                    <a:pt x="0" y="70993"/>
                    <a:pt x="70993" y="0"/>
                    <a:pt x="158496" y="0"/>
                  </a:cubicBezTo>
                  <a:cubicBezTo>
                    <a:pt x="245999" y="0"/>
                    <a:pt x="316992" y="70993"/>
                    <a:pt x="316992" y="158496"/>
                  </a:cubicBezTo>
                  <a:cubicBezTo>
                    <a:pt x="316992" y="245999"/>
                    <a:pt x="245999" y="316992"/>
                    <a:pt x="158496" y="316992"/>
                  </a:cubicBezTo>
                  <a:cubicBezTo>
                    <a:pt x="70993" y="316992"/>
                    <a:pt x="0" y="245999"/>
                    <a:pt x="0" y="158496"/>
                  </a:cubicBezTo>
                  <a:close/>
                </a:path>
              </a:pathLst>
            </a:custGeom>
            <a:solidFill>
              <a:srgbClr val="2B41B5"/>
            </a:solidFill>
          </p:spPr>
        </p:sp>
      </p:grpSp>
      <p:sp>
        <p:nvSpPr>
          <p:cNvPr name="TextBox 41" id="41"/>
          <p:cNvSpPr txBox="true"/>
          <p:nvPr/>
        </p:nvSpPr>
        <p:spPr>
          <a:xfrm rot="0">
            <a:off x="11155680" y="4415790"/>
            <a:ext cx="3108960" cy="430530"/>
          </a:xfrm>
          <a:prstGeom prst="rect">
            <a:avLst/>
          </a:prstGeom>
        </p:spPr>
        <p:txBody>
          <a:bodyPr anchor="t" rtlCol="false" tIns="0" lIns="0" bIns="0" rIns="0">
            <a:spAutoFit/>
          </a:bodyPr>
          <a:lstStyle/>
          <a:p>
            <a:pPr algn="ctr">
              <a:lnSpc>
                <a:spcPts val="2376"/>
              </a:lnSpc>
            </a:pPr>
            <a:r>
              <a:rPr lang="en-US" sz="1800" b="true">
                <a:solidFill>
                  <a:srgbClr val="FFFFFF"/>
                </a:solidFill>
                <a:latin typeface="Montserrat Bold"/>
                <a:ea typeface="Montserrat Bold"/>
                <a:cs typeface="Montserrat Bold"/>
                <a:sym typeface="Montserrat Bold"/>
              </a:rPr>
              <a:t>Revisión</a:t>
            </a:r>
          </a:p>
        </p:txBody>
      </p:sp>
      <p:sp>
        <p:nvSpPr>
          <p:cNvPr name="TextBox 42" id="42"/>
          <p:cNvSpPr txBox="true"/>
          <p:nvPr/>
        </p:nvSpPr>
        <p:spPr>
          <a:xfrm rot="0">
            <a:off x="11155680" y="4872990"/>
            <a:ext cx="3108960" cy="842010"/>
          </a:xfrm>
          <a:prstGeom prst="rect">
            <a:avLst/>
          </a:prstGeom>
        </p:spPr>
        <p:txBody>
          <a:bodyPr anchor="t" rtlCol="false" tIns="0" lIns="0" bIns="0" rIns="0">
            <a:spAutoFit/>
          </a:bodyPr>
          <a:lstStyle/>
          <a:p>
            <a:pPr algn="ctr">
              <a:lnSpc>
                <a:spcPts val="1980"/>
              </a:lnSpc>
            </a:pPr>
            <a:r>
              <a:rPr lang="en-US" sz="1500">
                <a:solidFill>
                  <a:srgbClr val="C9D2F0"/>
                </a:solidFill>
                <a:latin typeface="Montserrat"/>
                <a:ea typeface="Montserrat"/>
                <a:cs typeface="Montserrat"/>
                <a:sym typeface="Montserrat"/>
              </a:rPr>
              <a:t>por sprint, con el mandante en los hitos</a:t>
            </a:r>
          </a:p>
        </p:txBody>
      </p:sp>
      <p:grpSp>
        <p:nvGrpSpPr>
          <p:cNvPr name="Group 43" id="43"/>
          <p:cNvGrpSpPr/>
          <p:nvPr/>
        </p:nvGrpSpPr>
        <p:grpSpPr>
          <a:xfrm rot="0">
            <a:off x="15709392" y="2331720"/>
            <a:ext cx="1133856" cy="984190"/>
            <a:chOff x="0" y="0"/>
            <a:chExt cx="1511808" cy="1312253"/>
          </a:xfrm>
        </p:grpSpPr>
        <p:sp>
          <p:nvSpPr>
            <p:cNvPr name="Freeform 44" id="44" descr="image10.png"/>
            <p:cNvSpPr/>
            <p:nvPr/>
          </p:nvSpPr>
          <p:spPr>
            <a:xfrm flipH="false" flipV="false" rot="0">
              <a:off x="0" y="0"/>
              <a:ext cx="1511808" cy="1312291"/>
            </a:xfrm>
            <a:custGeom>
              <a:avLst/>
              <a:gdLst/>
              <a:ahLst/>
              <a:cxnLst/>
              <a:rect r="r" b="b" t="t" l="l"/>
              <a:pathLst>
                <a:path h="1312291" w="1511808">
                  <a:moveTo>
                    <a:pt x="0" y="0"/>
                  </a:moveTo>
                  <a:lnTo>
                    <a:pt x="1511808" y="0"/>
                  </a:lnTo>
                  <a:lnTo>
                    <a:pt x="1511808" y="1312291"/>
                  </a:lnTo>
                  <a:lnTo>
                    <a:pt x="0" y="1312291"/>
                  </a:lnTo>
                  <a:lnTo>
                    <a:pt x="0" y="0"/>
                  </a:lnTo>
                  <a:close/>
                </a:path>
              </a:pathLst>
            </a:custGeom>
            <a:blipFill>
              <a:blip r:embed="rId3"/>
              <a:stretch>
                <a:fillRect l="0" t="0" r="0" b="2"/>
              </a:stretch>
            </a:blipFill>
          </p:spPr>
        </p:sp>
      </p:grpSp>
      <p:grpSp>
        <p:nvGrpSpPr>
          <p:cNvPr name="Group 45" id="45"/>
          <p:cNvGrpSpPr/>
          <p:nvPr/>
        </p:nvGrpSpPr>
        <p:grpSpPr>
          <a:xfrm rot="0">
            <a:off x="15709392" y="2195655"/>
            <a:ext cx="1133856" cy="984190"/>
            <a:chOff x="0" y="0"/>
            <a:chExt cx="1511808" cy="1312253"/>
          </a:xfrm>
        </p:grpSpPr>
        <p:sp>
          <p:nvSpPr>
            <p:cNvPr name="Freeform 46" id="46"/>
            <p:cNvSpPr/>
            <p:nvPr/>
          </p:nvSpPr>
          <p:spPr>
            <a:xfrm flipH="false" flipV="false" rot="0">
              <a:off x="0" y="0"/>
              <a:ext cx="1511808" cy="1312249"/>
            </a:xfrm>
            <a:custGeom>
              <a:avLst/>
              <a:gdLst/>
              <a:ahLst/>
              <a:cxnLst/>
              <a:rect r="r" b="b" t="t" l="l"/>
              <a:pathLst>
                <a:path h="1312249" w="1511808">
                  <a:moveTo>
                    <a:pt x="0" y="0"/>
                  </a:moveTo>
                  <a:lnTo>
                    <a:pt x="1511808" y="0"/>
                  </a:lnTo>
                  <a:lnTo>
                    <a:pt x="1511808" y="1312249"/>
                  </a:lnTo>
                  <a:lnTo>
                    <a:pt x="0" y="1312249"/>
                  </a:lnTo>
                  <a:close/>
                </a:path>
              </a:pathLst>
            </a:custGeom>
            <a:blipFill>
              <a:blip r:embed="rId4">
                <a:alphaModFix amt="0"/>
              </a:blip>
              <a:stretch>
                <a:fillRect l="-61367" t="0" r="-61367" b="0"/>
              </a:stretch>
            </a:blipFill>
          </p:spPr>
        </p:sp>
        <p:sp>
          <p:nvSpPr>
            <p:cNvPr name="TextBox 47" id="47"/>
            <p:cNvSpPr txBox="true"/>
            <p:nvPr/>
          </p:nvSpPr>
          <p:spPr>
            <a:xfrm>
              <a:off x="0" y="-28575"/>
              <a:ext cx="1511808" cy="1340828"/>
            </a:xfrm>
            <a:prstGeom prst="rect">
              <a:avLst/>
            </a:prstGeom>
          </p:spPr>
          <p:txBody>
            <a:bodyPr anchor="ctr" rtlCol="false" tIns="0" lIns="0" bIns="0" rIns="0"/>
            <a:lstStyle/>
            <a:p>
              <a:pPr algn="ctr">
                <a:lnSpc>
                  <a:spcPts val="3432"/>
                </a:lnSpc>
              </a:pPr>
              <a:r>
                <a:rPr lang="en-US" sz="2600" b="true">
                  <a:solidFill>
                    <a:srgbClr val="FFFFFF"/>
                  </a:solidFill>
                  <a:latin typeface="Montserrat Bold"/>
                  <a:ea typeface="Montserrat Bold"/>
                  <a:cs typeface="Montserrat Bold"/>
                  <a:sym typeface="Montserrat Bold"/>
                </a:rPr>
                <a:t>5</a:t>
              </a:r>
            </a:p>
          </p:txBody>
        </p:sp>
      </p:grpSp>
      <p:grpSp>
        <p:nvGrpSpPr>
          <p:cNvPr name="Group 48" id="48"/>
          <p:cNvGrpSpPr/>
          <p:nvPr/>
        </p:nvGrpSpPr>
        <p:grpSpPr>
          <a:xfrm rot="0">
            <a:off x="16157448" y="4041648"/>
            <a:ext cx="237744" cy="237744"/>
            <a:chOff x="0" y="0"/>
            <a:chExt cx="316992" cy="316992"/>
          </a:xfrm>
        </p:grpSpPr>
        <p:sp>
          <p:nvSpPr>
            <p:cNvPr name="Freeform 49" id="49"/>
            <p:cNvSpPr/>
            <p:nvPr/>
          </p:nvSpPr>
          <p:spPr>
            <a:xfrm flipH="false" flipV="false" rot="0">
              <a:off x="0" y="0"/>
              <a:ext cx="316992" cy="316992"/>
            </a:xfrm>
            <a:custGeom>
              <a:avLst/>
              <a:gdLst/>
              <a:ahLst/>
              <a:cxnLst/>
              <a:rect r="r" b="b" t="t" l="l"/>
              <a:pathLst>
                <a:path h="316992" w="316992">
                  <a:moveTo>
                    <a:pt x="0" y="158496"/>
                  </a:moveTo>
                  <a:cubicBezTo>
                    <a:pt x="0" y="70993"/>
                    <a:pt x="70993" y="0"/>
                    <a:pt x="158496" y="0"/>
                  </a:cubicBezTo>
                  <a:cubicBezTo>
                    <a:pt x="245999" y="0"/>
                    <a:pt x="316992" y="70993"/>
                    <a:pt x="316992" y="158496"/>
                  </a:cubicBezTo>
                  <a:cubicBezTo>
                    <a:pt x="316992" y="245999"/>
                    <a:pt x="245999" y="316992"/>
                    <a:pt x="158496" y="316992"/>
                  </a:cubicBezTo>
                  <a:cubicBezTo>
                    <a:pt x="70993" y="316992"/>
                    <a:pt x="0" y="245999"/>
                    <a:pt x="0" y="158496"/>
                  </a:cubicBezTo>
                  <a:close/>
                </a:path>
              </a:pathLst>
            </a:custGeom>
            <a:solidFill>
              <a:srgbClr val="2B41B5"/>
            </a:solidFill>
          </p:spPr>
        </p:sp>
      </p:grpSp>
      <p:sp>
        <p:nvSpPr>
          <p:cNvPr name="TextBox 50" id="50"/>
          <p:cNvSpPr txBox="true"/>
          <p:nvPr/>
        </p:nvSpPr>
        <p:spPr>
          <a:xfrm rot="0">
            <a:off x="14721840" y="4415790"/>
            <a:ext cx="3108960" cy="430530"/>
          </a:xfrm>
          <a:prstGeom prst="rect">
            <a:avLst/>
          </a:prstGeom>
        </p:spPr>
        <p:txBody>
          <a:bodyPr anchor="t" rtlCol="false" tIns="0" lIns="0" bIns="0" rIns="0">
            <a:spAutoFit/>
          </a:bodyPr>
          <a:lstStyle/>
          <a:p>
            <a:pPr algn="ctr">
              <a:lnSpc>
                <a:spcPts val="2376"/>
              </a:lnSpc>
            </a:pPr>
            <a:r>
              <a:rPr lang="en-US" sz="1800" b="true">
                <a:solidFill>
                  <a:srgbClr val="FFFFFF"/>
                </a:solidFill>
                <a:latin typeface="Montserrat Bold"/>
                <a:ea typeface="Montserrat Bold"/>
                <a:cs typeface="Montserrat Bold"/>
                <a:sym typeface="Montserrat Bold"/>
              </a:rPr>
              <a:t>Retrospectiva</a:t>
            </a:r>
          </a:p>
        </p:txBody>
      </p:sp>
      <p:sp>
        <p:nvSpPr>
          <p:cNvPr name="TextBox 51" id="51"/>
          <p:cNvSpPr txBox="true"/>
          <p:nvPr/>
        </p:nvSpPr>
        <p:spPr>
          <a:xfrm rot="0">
            <a:off x="14721840" y="4872990"/>
            <a:ext cx="3108960" cy="842010"/>
          </a:xfrm>
          <a:prstGeom prst="rect">
            <a:avLst/>
          </a:prstGeom>
        </p:spPr>
        <p:txBody>
          <a:bodyPr anchor="t" rtlCol="false" tIns="0" lIns="0" bIns="0" rIns="0">
            <a:spAutoFit/>
          </a:bodyPr>
          <a:lstStyle/>
          <a:p>
            <a:pPr algn="ctr">
              <a:lnSpc>
                <a:spcPts val="1980"/>
              </a:lnSpc>
            </a:pPr>
            <a:r>
              <a:rPr lang="en-US" sz="1500">
                <a:solidFill>
                  <a:srgbClr val="C9D2F0"/>
                </a:solidFill>
                <a:latin typeface="Montserrat"/>
                <a:ea typeface="Montserrat"/>
                <a:cs typeface="Montserrat"/>
                <a:sym typeface="Montserrat"/>
              </a:rPr>
              <a:t>por sprint</a:t>
            </a:r>
          </a:p>
        </p:txBody>
      </p:sp>
      <p:grpSp>
        <p:nvGrpSpPr>
          <p:cNvPr name="Group 52" id="52"/>
          <p:cNvGrpSpPr/>
          <p:nvPr/>
        </p:nvGrpSpPr>
        <p:grpSpPr>
          <a:xfrm rot="0">
            <a:off x="731520" y="5943600"/>
            <a:ext cx="8503920" cy="3246120"/>
            <a:chOff x="0" y="0"/>
            <a:chExt cx="11338560" cy="4328160"/>
          </a:xfrm>
        </p:grpSpPr>
        <p:sp>
          <p:nvSpPr>
            <p:cNvPr name="Freeform 53" id="53"/>
            <p:cNvSpPr/>
            <p:nvPr/>
          </p:nvSpPr>
          <p:spPr>
            <a:xfrm flipH="false" flipV="false" rot="0">
              <a:off x="0" y="0"/>
              <a:ext cx="11338561" cy="4328160"/>
            </a:xfrm>
            <a:custGeom>
              <a:avLst/>
              <a:gdLst/>
              <a:ahLst/>
              <a:cxnLst/>
              <a:rect r="r" b="b" t="t" l="l"/>
              <a:pathLst>
                <a:path h="4328160" w="11338561">
                  <a:moveTo>
                    <a:pt x="0" y="519430"/>
                  </a:moveTo>
                  <a:cubicBezTo>
                    <a:pt x="0" y="232537"/>
                    <a:pt x="232537" y="0"/>
                    <a:pt x="519430" y="0"/>
                  </a:cubicBezTo>
                  <a:lnTo>
                    <a:pt x="10819130" y="0"/>
                  </a:lnTo>
                  <a:cubicBezTo>
                    <a:pt x="11106024" y="0"/>
                    <a:pt x="11338561" y="232537"/>
                    <a:pt x="11338561" y="519430"/>
                  </a:cubicBezTo>
                  <a:lnTo>
                    <a:pt x="11338561" y="3808730"/>
                  </a:lnTo>
                  <a:cubicBezTo>
                    <a:pt x="11338561" y="4095623"/>
                    <a:pt x="11106024" y="4328160"/>
                    <a:pt x="10819130" y="4328160"/>
                  </a:cubicBezTo>
                  <a:lnTo>
                    <a:pt x="519430" y="4328160"/>
                  </a:lnTo>
                  <a:cubicBezTo>
                    <a:pt x="232537" y="4328160"/>
                    <a:pt x="0" y="4095623"/>
                    <a:pt x="0" y="3808730"/>
                  </a:cubicBezTo>
                  <a:close/>
                </a:path>
              </a:pathLst>
            </a:custGeom>
            <a:solidFill>
              <a:srgbClr val="15193A"/>
            </a:solidFill>
          </p:spPr>
        </p:sp>
      </p:grpSp>
      <p:sp>
        <p:nvSpPr>
          <p:cNvPr name="TextBox 54" id="54"/>
          <p:cNvSpPr txBox="true"/>
          <p:nvPr/>
        </p:nvSpPr>
        <p:spPr>
          <a:xfrm rot="0">
            <a:off x="1051560" y="6134100"/>
            <a:ext cx="7863840" cy="3512820"/>
          </a:xfrm>
          <a:prstGeom prst="rect">
            <a:avLst/>
          </a:prstGeom>
        </p:spPr>
        <p:txBody>
          <a:bodyPr anchor="t" rtlCol="false" tIns="0" lIns="0" bIns="0" rIns="0">
            <a:spAutoFit/>
          </a:bodyPr>
          <a:lstStyle/>
          <a:p>
            <a:pPr algn="l">
              <a:lnSpc>
                <a:spcPts val="2548"/>
              </a:lnSpc>
            </a:pPr>
            <a:r>
              <a:rPr lang="en-US" sz="1800" b="true">
                <a:solidFill>
                  <a:srgbClr val="FFFFFF"/>
                </a:solidFill>
                <a:latin typeface="Montserrat Bold"/>
                <a:ea typeface="Montserrat Bold"/>
                <a:cs typeface="Montserrat Bold"/>
                <a:sym typeface="Montserrat Bold"/>
              </a:rPr>
              <a:t>Evidencia de aplicación</a:t>
            </a:r>
          </a:p>
          <a:p>
            <a:pPr algn="l">
              <a:lnSpc>
                <a:spcPts val="2124"/>
              </a:lnSpc>
            </a:pPr>
            <a:r>
              <a:rPr lang="en-US" sz="1500">
                <a:solidFill>
                  <a:srgbClr val="FFFFFF"/>
                </a:solidFill>
                <a:latin typeface="Montserrat"/>
                <a:ea typeface="Montserrat"/>
                <a:cs typeface="Montserrat"/>
                <a:sym typeface="Montserrat"/>
              </a:rPr>
              <a:t>Trabajo en ramas por funcionalidad </a:t>
            </a:r>
            <a:r>
              <a:rPr lang="en-US" sz="1500" b="true">
                <a:solidFill>
                  <a:srgbClr val="FFFFFF"/>
                </a:solidFill>
                <a:latin typeface="Montserrat Bold"/>
                <a:ea typeface="Montserrat Bold"/>
                <a:cs typeface="Montserrat Bold"/>
                <a:sym typeface="Montserrat Bold"/>
              </a:rPr>
              <a:t>(requerimientos-gonzalo y correcciones-revision)</a:t>
            </a:r>
            <a:r>
              <a:rPr lang="en-US" sz="1500">
                <a:solidFill>
                  <a:srgbClr val="FFFFFF"/>
                </a:solidFill>
                <a:latin typeface="Montserrat"/>
                <a:ea typeface="Montserrat"/>
                <a:cs typeface="Montserrat"/>
                <a:sym typeface="Montserrat"/>
              </a:rPr>
              <a:t> fusionadas a main después de pasar las 339 pruebas.</a:t>
            </a:r>
          </a:p>
          <a:p>
            <a:pPr algn="l">
              <a:lnSpc>
                <a:spcPts val="2124"/>
              </a:lnSpc>
            </a:pPr>
            <a:r>
              <a:rPr lang="en-US" sz="1500" b="true">
                <a:solidFill>
                  <a:srgbClr val="FFFFFF"/>
                </a:solidFill>
                <a:latin typeface="Montserrat Bold"/>
                <a:ea typeface="Montserrat Bold"/>
                <a:cs typeface="Montserrat Bold"/>
                <a:sym typeface="Montserrat Bold"/>
              </a:rPr>
              <a:t>Incremento entregado: </a:t>
            </a:r>
            <a:r>
              <a:rPr lang="en-US" sz="1500">
                <a:solidFill>
                  <a:srgbClr val="FFFFFF"/>
                </a:solidFill>
                <a:latin typeface="Montserrat"/>
                <a:ea typeface="Montserrat"/>
                <a:cs typeface="Montserrat"/>
                <a:sym typeface="Montserrat"/>
              </a:rPr>
              <a:t>el MVP funcionando (consola y portal), que se muestra en la demo.</a:t>
            </a:r>
          </a:p>
          <a:p>
            <a:pPr algn="l">
              <a:lnSpc>
                <a:spcPts val="2124"/>
              </a:lnSpc>
            </a:pPr>
            <a:r>
              <a:rPr lang="en-US" sz="1500" b="true">
                <a:solidFill>
                  <a:srgbClr val="FFFFFF"/>
                </a:solidFill>
                <a:latin typeface="Montserrat Bold"/>
                <a:ea typeface="Montserrat Bold"/>
                <a:cs typeface="Montserrat Bold"/>
                <a:sym typeface="Montserrat Bold"/>
              </a:rPr>
              <a:t>Seguimiento: </a:t>
            </a:r>
            <a:r>
              <a:rPr lang="en-US" sz="1500">
                <a:solidFill>
                  <a:srgbClr val="FFFFFF"/>
                </a:solidFill>
                <a:latin typeface="Montserrat"/>
                <a:ea typeface="Montserrat"/>
                <a:cs typeface="Montserrat"/>
                <a:sym typeface="Montserrat"/>
              </a:rPr>
              <a:t>reuniones semanales y el historial de commits; no se usó tablero.</a:t>
            </a:r>
          </a:p>
        </p:txBody>
      </p:sp>
      <p:grpSp>
        <p:nvGrpSpPr>
          <p:cNvPr name="Group 55" id="55"/>
          <p:cNvGrpSpPr/>
          <p:nvPr/>
        </p:nvGrpSpPr>
        <p:grpSpPr>
          <a:xfrm rot="0">
            <a:off x="9601200" y="5943600"/>
            <a:ext cx="6537960" cy="3566160"/>
            <a:chOff x="0" y="0"/>
            <a:chExt cx="8717280" cy="4754880"/>
          </a:xfrm>
        </p:grpSpPr>
        <p:sp>
          <p:nvSpPr>
            <p:cNvPr name="Freeform 56" id="56" descr="gitlog.png"/>
            <p:cNvSpPr/>
            <p:nvPr/>
          </p:nvSpPr>
          <p:spPr>
            <a:xfrm flipH="false" flipV="false" rot="0">
              <a:off x="0" y="0"/>
              <a:ext cx="8717280" cy="4754880"/>
            </a:xfrm>
            <a:custGeom>
              <a:avLst/>
              <a:gdLst/>
              <a:ahLst/>
              <a:cxnLst/>
              <a:rect r="r" b="b" t="t" l="l"/>
              <a:pathLst>
                <a:path h="4754880" w="8717280">
                  <a:moveTo>
                    <a:pt x="0" y="0"/>
                  </a:moveTo>
                  <a:lnTo>
                    <a:pt x="8717280" y="0"/>
                  </a:lnTo>
                  <a:lnTo>
                    <a:pt x="8717280" y="4754880"/>
                  </a:lnTo>
                  <a:lnTo>
                    <a:pt x="0" y="4754880"/>
                  </a:lnTo>
                  <a:lnTo>
                    <a:pt x="0" y="0"/>
                  </a:lnTo>
                  <a:close/>
                </a:path>
              </a:pathLst>
            </a:custGeom>
            <a:blipFill>
              <a:blip r:embed="rId5"/>
              <a:stretch>
                <a:fillRect l="0" t="0" r="0" b="0"/>
              </a:stretch>
            </a:blipFill>
          </p:spPr>
        </p:sp>
      </p:grpSp>
      <p:sp>
        <p:nvSpPr>
          <p:cNvPr name="TextBox 57" id="57"/>
          <p:cNvSpPr txBox="true"/>
          <p:nvPr/>
        </p:nvSpPr>
        <p:spPr>
          <a:xfrm rot="0">
            <a:off x="9601200" y="9536430"/>
            <a:ext cx="6537960" cy="293370"/>
          </a:xfrm>
          <a:prstGeom prst="rect">
            <a:avLst/>
          </a:prstGeom>
        </p:spPr>
        <p:txBody>
          <a:bodyPr anchor="t" rtlCol="false" tIns="0" lIns="0" bIns="0" rIns="0">
            <a:spAutoFit/>
          </a:bodyPr>
          <a:lstStyle/>
          <a:p>
            <a:pPr algn="ctr">
              <a:lnSpc>
                <a:spcPts val="1319"/>
              </a:lnSpc>
            </a:pPr>
            <a:r>
              <a:rPr lang="en-US" sz="999">
                <a:solidFill>
                  <a:srgbClr val="C9D2F0"/>
                </a:solidFill>
                <a:latin typeface="Montserrat"/>
                <a:ea typeface="Montserrat"/>
                <a:cs typeface="Montserrat"/>
                <a:sym typeface="Montserrat"/>
              </a:rPr>
              <a:t>Historial de ramas del repositorio (git log --graph)</a:t>
            </a:r>
          </a:p>
        </p:txBody>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24384000" cy="13716000"/>
          </a:xfrm>
        </p:grpSpPr>
        <p:sp>
          <p:nvSpPr>
            <p:cNvPr name="Freeform 3" id="3" descr="fondo46_62.jpg"/>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lnTo>
                    <a:pt x="0" y="0"/>
                  </a:lnTo>
                  <a:close/>
                </a:path>
              </a:pathLst>
            </a:custGeom>
            <a:blipFill>
              <a:blip r:embed="rId2"/>
              <a:stretch>
                <a:fillRect l="0" t="-666" r="0" b="-666"/>
              </a:stretch>
            </a:blipFill>
          </p:spPr>
        </p:sp>
      </p:grpSp>
      <p:sp>
        <p:nvSpPr>
          <p:cNvPr name="TextBox 4" id="4"/>
          <p:cNvSpPr txBox="true"/>
          <p:nvPr/>
        </p:nvSpPr>
        <p:spPr>
          <a:xfrm rot="0">
            <a:off x="914400" y="355473"/>
            <a:ext cx="16459200" cy="760095"/>
          </a:xfrm>
          <a:prstGeom prst="rect">
            <a:avLst/>
          </a:prstGeom>
        </p:spPr>
        <p:txBody>
          <a:bodyPr anchor="t" rtlCol="false" tIns="0" lIns="0" bIns="0" rIns="0">
            <a:spAutoFit/>
          </a:bodyPr>
          <a:lstStyle/>
          <a:p>
            <a:pPr algn="ctr">
              <a:lnSpc>
                <a:spcPts val="3960"/>
              </a:lnSpc>
            </a:pPr>
            <a:r>
              <a:rPr lang="en-US" sz="3000">
                <a:solidFill>
                  <a:srgbClr val="FFFFFF"/>
                </a:solidFill>
                <a:latin typeface="Montserrat Light"/>
                <a:ea typeface="Montserrat Light"/>
                <a:cs typeface="Montserrat Light"/>
                <a:sym typeface="Montserrat Light"/>
              </a:rPr>
              <a:t>ESTADO DEL</a:t>
            </a:r>
          </a:p>
        </p:txBody>
      </p:sp>
      <p:sp>
        <p:nvSpPr>
          <p:cNvPr name="TextBox 5" id="5"/>
          <p:cNvSpPr txBox="true"/>
          <p:nvPr/>
        </p:nvSpPr>
        <p:spPr>
          <a:xfrm rot="0">
            <a:off x="914400" y="912495"/>
            <a:ext cx="16459200" cy="1144905"/>
          </a:xfrm>
          <a:prstGeom prst="rect">
            <a:avLst/>
          </a:prstGeom>
        </p:spPr>
        <p:txBody>
          <a:bodyPr anchor="t" rtlCol="false" tIns="0" lIns="0" bIns="0" rIns="0">
            <a:spAutoFit/>
          </a:bodyPr>
          <a:lstStyle/>
          <a:p>
            <a:pPr algn="ctr">
              <a:lnSpc>
                <a:spcPts val="6863"/>
              </a:lnSpc>
            </a:pPr>
            <a:r>
              <a:rPr lang="en-US" sz="5199" b="true">
                <a:solidFill>
                  <a:srgbClr val="FFFFFF"/>
                </a:solidFill>
                <a:latin typeface="Montserrat Bold"/>
                <a:ea typeface="Montserrat Bold"/>
                <a:cs typeface="Montserrat Bold"/>
                <a:sym typeface="Montserrat Bold"/>
              </a:rPr>
              <a:t>PLAN DE TRABAJO</a:t>
            </a:r>
          </a:p>
        </p:txBody>
      </p:sp>
      <p:graphicFrame>
        <p:nvGraphicFramePr>
          <p:cNvPr name="Table 6" id="6"/>
          <p:cNvGraphicFramePr>
            <a:graphicFrameLocks noGrp="true"/>
          </p:cNvGraphicFramePr>
          <p:nvPr/>
        </p:nvGraphicFramePr>
        <p:xfrm>
          <a:off x="731520" y="2331720"/>
          <a:ext cx="11150600" cy="7467600"/>
        </p:xfrm>
        <a:graphic>
          <a:graphicData uri="http://schemas.openxmlformats.org/drawingml/2006/table">
            <a:tbl>
              <a:tblPr/>
              <a:tblGrid>
                <a:gridCol w="6577260"/>
                <a:gridCol w="4573340"/>
              </a:tblGrid>
              <a:tr h="533400">
                <a:tc>
                  <a:txBody>
                    <a:bodyPr anchor="t" rtlCol="false"/>
                    <a:lstStyle/>
                    <a:p>
                      <a:pPr algn="l">
                        <a:lnSpc>
                          <a:spcPts val="1500"/>
                        </a:lnSpc>
                        <a:defRPr/>
                      </a:pPr>
                      <a:r>
                        <a:rPr lang="en-US" sz="1250" b="true">
                          <a:solidFill>
                            <a:srgbClr val="FFFFFF"/>
                          </a:solidFill>
                          <a:latin typeface="Montserrat Bold"/>
                          <a:ea typeface="Montserrat Bold"/>
                          <a:cs typeface="Montserrat Bold"/>
                          <a:sym typeface="Montserrat Bold"/>
                        </a:rPr>
                        <a:t>Actividad</a:t>
                      </a:r>
                      <a:endParaRPr lang="en-US" sz="1100"/>
                    </a:p>
                  </a:txBody>
                  <a:tcPr marL="91440" marR="91440" marT="91440" marB="91440" anchor="ctr">
                    <a:lnL cmpd="sng" algn="ctr" cap="flat" w="9525">
                      <a:solidFill>
                        <a:srgbClr val="3A4A9A"/>
                      </a:solidFill>
                      <a:prstDash val="solid"/>
                      <a:round/>
                      <a:headEnd type="none" w="med" len="med"/>
                      <a:tailEnd type="none" w="med" len="med"/>
                    </a:lnL>
                    <a:lnR cmpd="sng" algn="ctr" cap="flat" w="9525">
                      <a:solidFill>
                        <a:srgbClr val="3A4A9A"/>
                      </a:solidFill>
                      <a:prstDash val="solid"/>
                      <a:round/>
                      <a:headEnd type="none" w="med" len="med"/>
                      <a:tailEnd type="none" w="med" len="med"/>
                    </a:lnR>
                    <a:lnT cmpd="sng" algn="ctr" cap="flat" w="9525">
                      <a:solidFill>
                        <a:srgbClr val="3A4A9A"/>
                      </a:solidFill>
                      <a:prstDash val="solid"/>
                      <a:round/>
                      <a:headEnd type="none" w="med" len="med"/>
                      <a:tailEnd type="none" w="med" len="med"/>
                    </a:lnT>
                    <a:lnB cmpd="sng" algn="ctr" cap="flat" w="9525">
                      <a:solidFill>
                        <a:srgbClr val="3A4A9A"/>
                      </a:solidFill>
                      <a:prstDash val="solid"/>
                      <a:round/>
                      <a:headEnd type="none" w="med" len="med"/>
                      <a:tailEnd type="none" w="med" len="med"/>
                    </a:lnB>
                    <a:solidFill>
                      <a:srgbClr val="2B41B5"/>
                    </a:solidFill>
                  </a:tcPr>
                </a:tc>
                <a:tc>
                  <a:txBody>
                    <a:bodyPr anchor="t" rtlCol="false"/>
                    <a:lstStyle/>
                    <a:p>
                      <a:pPr algn="l">
                        <a:lnSpc>
                          <a:spcPts val="1500"/>
                        </a:lnSpc>
                        <a:defRPr/>
                      </a:pPr>
                      <a:r>
                        <a:rPr lang="en-US" sz="1250" b="true">
                          <a:solidFill>
                            <a:srgbClr val="FFFFFF"/>
                          </a:solidFill>
                          <a:latin typeface="Montserrat Bold"/>
                          <a:ea typeface="Montserrat Bold"/>
                          <a:cs typeface="Montserrat Bold"/>
                          <a:sym typeface="Montserrat Bold"/>
                        </a:rPr>
                        <a:t>Estado</a:t>
                      </a:r>
                      <a:endParaRPr lang="en-US" sz="1100"/>
                    </a:p>
                  </a:txBody>
                  <a:tcPr marL="91440" marR="91440" marT="91440" marB="91440" anchor="ctr">
                    <a:lnL cmpd="sng" algn="ctr" cap="flat" w="9525">
                      <a:solidFill>
                        <a:srgbClr val="3A4A9A"/>
                      </a:solidFill>
                      <a:prstDash val="solid"/>
                      <a:round/>
                      <a:headEnd type="none" w="med" len="med"/>
                      <a:tailEnd type="none" w="med" len="med"/>
                    </a:lnL>
                    <a:lnR cmpd="sng" algn="ctr" cap="flat" w="9525">
                      <a:solidFill>
                        <a:srgbClr val="3A4A9A"/>
                      </a:solidFill>
                      <a:prstDash val="solid"/>
                      <a:round/>
                      <a:headEnd type="none" w="med" len="med"/>
                      <a:tailEnd type="none" w="med" len="med"/>
                    </a:lnR>
                    <a:lnT cmpd="sng" algn="ctr" cap="flat" w="9525">
                      <a:solidFill>
                        <a:srgbClr val="3A4A9A"/>
                      </a:solidFill>
                      <a:prstDash val="solid"/>
                      <a:round/>
                      <a:headEnd type="none" w="med" len="med"/>
                      <a:tailEnd type="none" w="med" len="med"/>
                    </a:lnT>
                    <a:lnB cmpd="sng" algn="ctr" cap="flat" w="9525">
                      <a:solidFill>
                        <a:srgbClr val="3A4A9A"/>
                      </a:solidFill>
                      <a:prstDash val="solid"/>
                      <a:round/>
                      <a:headEnd type="none" w="med" len="med"/>
                      <a:tailEnd type="none" w="med" len="med"/>
                    </a:lnB>
                    <a:solidFill>
                      <a:srgbClr val="2B41B5"/>
                    </a:solidFill>
                  </a:tcPr>
                </a:tc>
              </a:tr>
              <a:tr h="533400">
                <a:tc>
                  <a:txBody>
                    <a:bodyPr anchor="t" rtlCol="false"/>
                    <a:lstStyle/>
                    <a:p>
                      <a:pPr algn="l">
                        <a:lnSpc>
                          <a:spcPts val="1500"/>
                        </a:lnSpc>
                        <a:defRPr/>
                      </a:pPr>
                      <a:r>
                        <a:rPr lang="en-US" sz="1250">
                          <a:solidFill>
                            <a:srgbClr val="FFFFFF"/>
                          </a:solidFill>
                          <a:latin typeface="Montserrat"/>
                          <a:ea typeface="Montserrat"/>
                          <a:cs typeface="Montserrat"/>
                          <a:sym typeface="Montserrat"/>
                        </a:rPr>
                        <a:t>Levantamiento de requerimientos y análisis de la base</a:t>
                      </a:r>
                      <a:endParaRPr lang="en-US" sz="1100"/>
                    </a:p>
                  </a:txBody>
                  <a:tcPr marL="91440" marR="91440" marT="91440" marB="91440" anchor="ctr">
                    <a:lnL cmpd="sng" algn="ctr" cap="flat" w="9525">
                      <a:solidFill>
                        <a:srgbClr val="3A4A9A"/>
                      </a:solidFill>
                      <a:prstDash val="solid"/>
                      <a:round/>
                      <a:headEnd type="none" w="med" len="med"/>
                      <a:tailEnd type="none" w="med" len="med"/>
                    </a:lnL>
                    <a:lnR cmpd="sng" algn="ctr" cap="flat" w="9525">
                      <a:solidFill>
                        <a:srgbClr val="3A4A9A"/>
                      </a:solidFill>
                      <a:prstDash val="solid"/>
                      <a:round/>
                      <a:headEnd type="none" w="med" len="med"/>
                      <a:tailEnd type="none" w="med" len="med"/>
                    </a:lnR>
                    <a:lnT cmpd="sng" algn="ctr" cap="flat" w="9525">
                      <a:solidFill>
                        <a:srgbClr val="3A4A9A"/>
                      </a:solidFill>
                      <a:prstDash val="solid"/>
                      <a:round/>
                      <a:headEnd type="none" w="med" len="med"/>
                      <a:tailEnd type="none" w="med" len="med"/>
                    </a:lnT>
                    <a:lnB cmpd="sng" algn="ctr" cap="flat" w="9525">
                      <a:solidFill>
                        <a:srgbClr val="3A4A9A"/>
                      </a:solidFill>
                      <a:prstDash val="solid"/>
                      <a:round/>
                      <a:headEnd type="none" w="med" len="med"/>
                      <a:tailEnd type="none" w="med" len="med"/>
                    </a:lnB>
                    <a:solidFill>
                      <a:srgbClr val="15193A"/>
                    </a:solidFill>
                  </a:tcPr>
                </a:tc>
                <a:tc>
                  <a:txBody>
                    <a:bodyPr anchor="t" rtlCol="false"/>
                    <a:lstStyle/>
                    <a:p>
                      <a:pPr algn="l">
                        <a:lnSpc>
                          <a:spcPts val="1500"/>
                        </a:lnSpc>
                        <a:defRPr/>
                      </a:pPr>
                      <a:r>
                        <a:rPr lang="en-US" sz="1250">
                          <a:solidFill>
                            <a:srgbClr val="4ADE80"/>
                          </a:solidFill>
                          <a:latin typeface="Montserrat"/>
                          <a:ea typeface="Montserrat"/>
                          <a:cs typeface="Montserrat"/>
                          <a:sym typeface="Montserrat"/>
                        </a:rPr>
                        <a:t>Completado</a:t>
                      </a:r>
                      <a:endParaRPr lang="en-US" sz="1100"/>
                    </a:p>
                  </a:txBody>
                  <a:tcPr marL="91440" marR="91440" marT="91440" marB="91440" anchor="ctr">
                    <a:lnL cmpd="sng" algn="ctr" cap="flat" w="9525">
                      <a:solidFill>
                        <a:srgbClr val="3A4A9A"/>
                      </a:solidFill>
                      <a:prstDash val="solid"/>
                      <a:round/>
                      <a:headEnd type="none" w="med" len="med"/>
                      <a:tailEnd type="none" w="med" len="med"/>
                    </a:lnL>
                    <a:lnR cmpd="sng" algn="ctr" cap="flat" w="9525">
                      <a:solidFill>
                        <a:srgbClr val="3A4A9A"/>
                      </a:solidFill>
                      <a:prstDash val="solid"/>
                      <a:round/>
                      <a:headEnd type="none" w="med" len="med"/>
                      <a:tailEnd type="none" w="med" len="med"/>
                    </a:lnR>
                    <a:lnT cmpd="sng" algn="ctr" cap="flat" w="9525">
                      <a:solidFill>
                        <a:srgbClr val="3A4A9A"/>
                      </a:solidFill>
                      <a:prstDash val="solid"/>
                      <a:round/>
                      <a:headEnd type="none" w="med" len="med"/>
                      <a:tailEnd type="none" w="med" len="med"/>
                    </a:lnT>
                    <a:lnB cmpd="sng" algn="ctr" cap="flat" w="9525">
                      <a:solidFill>
                        <a:srgbClr val="3A4A9A"/>
                      </a:solidFill>
                      <a:prstDash val="solid"/>
                      <a:round/>
                      <a:headEnd type="none" w="med" len="med"/>
                      <a:tailEnd type="none" w="med" len="med"/>
                    </a:lnB>
                    <a:solidFill>
                      <a:srgbClr val="15193A"/>
                    </a:solidFill>
                  </a:tcPr>
                </a:tc>
              </a:tr>
              <a:tr h="533400">
                <a:tc>
                  <a:txBody>
                    <a:bodyPr anchor="t" rtlCol="false"/>
                    <a:lstStyle/>
                    <a:p>
                      <a:pPr algn="l">
                        <a:lnSpc>
                          <a:spcPts val="1500"/>
                        </a:lnSpc>
                        <a:defRPr/>
                      </a:pPr>
                      <a:r>
                        <a:rPr lang="en-US" sz="1250">
                          <a:solidFill>
                            <a:srgbClr val="FFFFFF"/>
                          </a:solidFill>
                          <a:latin typeface="Montserrat"/>
                          <a:ea typeface="Montserrat"/>
                          <a:cs typeface="Montserrat"/>
                          <a:sym typeface="Montserrat"/>
                        </a:rPr>
                        <a:t>Informe y presentación de Fase 1</a:t>
                      </a:r>
                      <a:endParaRPr lang="en-US" sz="1100"/>
                    </a:p>
                  </a:txBody>
                  <a:tcPr marL="91440" marR="91440" marT="91440" marB="91440" anchor="ctr">
                    <a:lnL cmpd="sng" algn="ctr" cap="flat" w="9525">
                      <a:solidFill>
                        <a:srgbClr val="3A4A9A"/>
                      </a:solidFill>
                      <a:prstDash val="solid"/>
                      <a:round/>
                      <a:headEnd type="none" w="med" len="med"/>
                      <a:tailEnd type="none" w="med" len="med"/>
                    </a:lnL>
                    <a:lnR cmpd="sng" algn="ctr" cap="flat" w="9525">
                      <a:solidFill>
                        <a:srgbClr val="3A4A9A"/>
                      </a:solidFill>
                      <a:prstDash val="solid"/>
                      <a:round/>
                      <a:headEnd type="none" w="med" len="med"/>
                      <a:tailEnd type="none" w="med" len="med"/>
                    </a:lnR>
                    <a:lnT cmpd="sng" algn="ctr" cap="flat" w="9525">
                      <a:solidFill>
                        <a:srgbClr val="3A4A9A"/>
                      </a:solidFill>
                      <a:prstDash val="solid"/>
                      <a:round/>
                      <a:headEnd type="none" w="med" len="med"/>
                      <a:tailEnd type="none" w="med" len="med"/>
                    </a:lnT>
                    <a:lnB cmpd="sng" algn="ctr" cap="flat" w="9525">
                      <a:solidFill>
                        <a:srgbClr val="3A4A9A"/>
                      </a:solidFill>
                      <a:prstDash val="solid"/>
                      <a:round/>
                      <a:headEnd type="none" w="med" len="med"/>
                      <a:tailEnd type="none" w="med" len="med"/>
                    </a:lnB>
                    <a:solidFill>
                      <a:srgbClr val="1C2350"/>
                    </a:solidFill>
                  </a:tcPr>
                </a:tc>
                <a:tc>
                  <a:txBody>
                    <a:bodyPr anchor="t" rtlCol="false"/>
                    <a:lstStyle/>
                    <a:p>
                      <a:pPr algn="l">
                        <a:lnSpc>
                          <a:spcPts val="1500"/>
                        </a:lnSpc>
                        <a:defRPr/>
                      </a:pPr>
                      <a:r>
                        <a:rPr lang="en-US" sz="1250">
                          <a:solidFill>
                            <a:srgbClr val="4ADE80"/>
                          </a:solidFill>
                          <a:latin typeface="Montserrat"/>
                          <a:ea typeface="Montserrat"/>
                          <a:cs typeface="Montserrat"/>
                          <a:sym typeface="Montserrat"/>
                        </a:rPr>
                        <a:t>Completado</a:t>
                      </a:r>
                      <a:endParaRPr lang="en-US" sz="1100"/>
                    </a:p>
                  </a:txBody>
                  <a:tcPr marL="91440" marR="91440" marT="91440" marB="91440" anchor="ctr">
                    <a:lnL cmpd="sng" algn="ctr" cap="flat" w="9525">
                      <a:solidFill>
                        <a:srgbClr val="3A4A9A"/>
                      </a:solidFill>
                      <a:prstDash val="solid"/>
                      <a:round/>
                      <a:headEnd type="none" w="med" len="med"/>
                      <a:tailEnd type="none" w="med" len="med"/>
                    </a:lnL>
                    <a:lnR cmpd="sng" algn="ctr" cap="flat" w="9525">
                      <a:solidFill>
                        <a:srgbClr val="3A4A9A"/>
                      </a:solidFill>
                      <a:prstDash val="solid"/>
                      <a:round/>
                      <a:headEnd type="none" w="med" len="med"/>
                      <a:tailEnd type="none" w="med" len="med"/>
                    </a:lnR>
                    <a:lnT cmpd="sng" algn="ctr" cap="flat" w="9525">
                      <a:solidFill>
                        <a:srgbClr val="3A4A9A"/>
                      </a:solidFill>
                      <a:prstDash val="solid"/>
                      <a:round/>
                      <a:headEnd type="none" w="med" len="med"/>
                      <a:tailEnd type="none" w="med" len="med"/>
                    </a:lnT>
                    <a:lnB cmpd="sng" algn="ctr" cap="flat" w="9525">
                      <a:solidFill>
                        <a:srgbClr val="3A4A9A"/>
                      </a:solidFill>
                      <a:prstDash val="solid"/>
                      <a:round/>
                      <a:headEnd type="none" w="med" len="med"/>
                      <a:tailEnd type="none" w="med" len="med"/>
                    </a:lnB>
                    <a:solidFill>
                      <a:srgbClr val="1C2350"/>
                    </a:solidFill>
                  </a:tcPr>
                </a:tc>
              </a:tr>
              <a:tr h="533400">
                <a:tc>
                  <a:txBody>
                    <a:bodyPr anchor="t" rtlCol="false"/>
                    <a:lstStyle/>
                    <a:p>
                      <a:pPr algn="l">
                        <a:lnSpc>
                          <a:spcPts val="1500"/>
                        </a:lnSpc>
                        <a:defRPr/>
                      </a:pPr>
                      <a:r>
                        <a:rPr lang="en-US" sz="1250">
                          <a:solidFill>
                            <a:srgbClr val="FFFFFF"/>
                          </a:solidFill>
                          <a:latin typeface="Montserrat"/>
                          <a:ea typeface="Montserrat"/>
                          <a:cs typeface="Montserrat"/>
                          <a:sym typeface="Montserrat"/>
                        </a:rPr>
                        <a:t>Extensión del modelo de datos</a:t>
                      </a:r>
                      <a:endParaRPr lang="en-US" sz="1100"/>
                    </a:p>
                  </a:txBody>
                  <a:tcPr marL="91440" marR="91440" marT="91440" marB="91440" anchor="ctr">
                    <a:lnL cmpd="sng" algn="ctr" cap="flat" w="9525">
                      <a:solidFill>
                        <a:srgbClr val="3A4A9A"/>
                      </a:solidFill>
                      <a:prstDash val="solid"/>
                      <a:round/>
                      <a:headEnd type="none" w="med" len="med"/>
                      <a:tailEnd type="none" w="med" len="med"/>
                    </a:lnL>
                    <a:lnR cmpd="sng" algn="ctr" cap="flat" w="9525">
                      <a:solidFill>
                        <a:srgbClr val="3A4A9A"/>
                      </a:solidFill>
                      <a:prstDash val="solid"/>
                      <a:round/>
                      <a:headEnd type="none" w="med" len="med"/>
                      <a:tailEnd type="none" w="med" len="med"/>
                    </a:lnR>
                    <a:lnT cmpd="sng" algn="ctr" cap="flat" w="9525">
                      <a:solidFill>
                        <a:srgbClr val="3A4A9A"/>
                      </a:solidFill>
                      <a:prstDash val="solid"/>
                      <a:round/>
                      <a:headEnd type="none" w="med" len="med"/>
                      <a:tailEnd type="none" w="med" len="med"/>
                    </a:lnT>
                    <a:lnB cmpd="sng" algn="ctr" cap="flat" w="9525">
                      <a:solidFill>
                        <a:srgbClr val="3A4A9A"/>
                      </a:solidFill>
                      <a:prstDash val="solid"/>
                      <a:round/>
                      <a:headEnd type="none" w="med" len="med"/>
                      <a:tailEnd type="none" w="med" len="med"/>
                    </a:lnB>
                    <a:solidFill>
                      <a:srgbClr val="15193A"/>
                    </a:solidFill>
                  </a:tcPr>
                </a:tc>
                <a:tc>
                  <a:txBody>
                    <a:bodyPr anchor="t" rtlCol="false"/>
                    <a:lstStyle/>
                    <a:p>
                      <a:pPr algn="l">
                        <a:lnSpc>
                          <a:spcPts val="1500"/>
                        </a:lnSpc>
                        <a:defRPr/>
                      </a:pPr>
                      <a:r>
                        <a:rPr lang="en-US" sz="1250">
                          <a:solidFill>
                            <a:srgbClr val="8FA8FF"/>
                          </a:solidFill>
                          <a:latin typeface="Montserrat"/>
                          <a:ea typeface="Montserrat"/>
                          <a:cs typeface="Montserrat"/>
                          <a:sym typeface="Montserrat"/>
                        </a:rPr>
                        <a:t>Ajustada</a:t>
                      </a:r>
                      <a:endParaRPr lang="en-US" sz="1100"/>
                    </a:p>
                  </a:txBody>
                  <a:tcPr marL="91440" marR="91440" marT="91440" marB="91440" anchor="ctr">
                    <a:lnL cmpd="sng" algn="ctr" cap="flat" w="9525">
                      <a:solidFill>
                        <a:srgbClr val="3A4A9A"/>
                      </a:solidFill>
                      <a:prstDash val="solid"/>
                      <a:round/>
                      <a:headEnd type="none" w="med" len="med"/>
                      <a:tailEnd type="none" w="med" len="med"/>
                    </a:lnL>
                    <a:lnR cmpd="sng" algn="ctr" cap="flat" w="9525">
                      <a:solidFill>
                        <a:srgbClr val="3A4A9A"/>
                      </a:solidFill>
                      <a:prstDash val="solid"/>
                      <a:round/>
                      <a:headEnd type="none" w="med" len="med"/>
                      <a:tailEnd type="none" w="med" len="med"/>
                    </a:lnR>
                    <a:lnT cmpd="sng" algn="ctr" cap="flat" w="9525">
                      <a:solidFill>
                        <a:srgbClr val="3A4A9A"/>
                      </a:solidFill>
                      <a:prstDash val="solid"/>
                      <a:round/>
                      <a:headEnd type="none" w="med" len="med"/>
                      <a:tailEnd type="none" w="med" len="med"/>
                    </a:lnT>
                    <a:lnB cmpd="sng" algn="ctr" cap="flat" w="9525">
                      <a:solidFill>
                        <a:srgbClr val="3A4A9A"/>
                      </a:solidFill>
                      <a:prstDash val="solid"/>
                      <a:round/>
                      <a:headEnd type="none" w="med" len="med"/>
                      <a:tailEnd type="none" w="med" len="med"/>
                    </a:lnB>
                    <a:solidFill>
                      <a:srgbClr val="15193A"/>
                    </a:solidFill>
                  </a:tcPr>
                </a:tc>
              </a:tr>
              <a:tr h="533400">
                <a:tc>
                  <a:txBody>
                    <a:bodyPr anchor="t" rtlCol="false"/>
                    <a:lstStyle/>
                    <a:p>
                      <a:pPr algn="l">
                        <a:lnSpc>
                          <a:spcPts val="1500"/>
                        </a:lnSpc>
                        <a:defRPr/>
                      </a:pPr>
                      <a:r>
                        <a:rPr lang="en-US" sz="1250">
                          <a:solidFill>
                            <a:srgbClr val="FFFFFF"/>
                          </a:solidFill>
                          <a:latin typeface="Montserrat"/>
                          <a:ea typeface="Montserrat"/>
                          <a:cs typeface="Montserrat"/>
                          <a:sym typeface="Montserrat"/>
                        </a:rPr>
                        <a:t>API de administración</a:t>
                      </a:r>
                      <a:endParaRPr lang="en-US" sz="1100"/>
                    </a:p>
                  </a:txBody>
                  <a:tcPr marL="91440" marR="91440" marT="91440" marB="91440" anchor="ctr">
                    <a:lnL cmpd="sng" algn="ctr" cap="flat" w="9525">
                      <a:solidFill>
                        <a:srgbClr val="3A4A9A"/>
                      </a:solidFill>
                      <a:prstDash val="solid"/>
                      <a:round/>
                      <a:headEnd type="none" w="med" len="med"/>
                      <a:tailEnd type="none" w="med" len="med"/>
                    </a:lnL>
                    <a:lnR cmpd="sng" algn="ctr" cap="flat" w="9525">
                      <a:solidFill>
                        <a:srgbClr val="3A4A9A"/>
                      </a:solidFill>
                      <a:prstDash val="solid"/>
                      <a:round/>
                      <a:headEnd type="none" w="med" len="med"/>
                      <a:tailEnd type="none" w="med" len="med"/>
                    </a:lnR>
                    <a:lnT cmpd="sng" algn="ctr" cap="flat" w="9525">
                      <a:solidFill>
                        <a:srgbClr val="3A4A9A"/>
                      </a:solidFill>
                      <a:prstDash val="solid"/>
                      <a:round/>
                      <a:headEnd type="none" w="med" len="med"/>
                      <a:tailEnd type="none" w="med" len="med"/>
                    </a:lnT>
                    <a:lnB cmpd="sng" algn="ctr" cap="flat" w="9525">
                      <a:solidFill>
                        <a:srgbClr val="3A4A9A"/>
                      </a:solidFill>
                      <a:prstDash val="solid"/>
                      <a:round/>
                      <a:headEnd type="none" w="med" len="med"/>
                      <a:tailEnd type="none" w="med" len="med"/>
                    </a:lnB>
                    <a:solidFill>
                      <a:srgbClr val="1C2350"/>
                    </a:solidFill>
                  </a:tcPr>
                </a:tc>
                <a:tc>
                  <a:txBody>
                    <a:bodyPr anchor="t" rtlCol="false"/>
                    <a:lstStyle/>
                    <a:p>
                      <a:pPr algn="l">
                        <a:lnSpc>
                          <a:spcPts val="1500"/>
                        </a:lnSpc>
                        <a:defRPr/>
                      </a:pPr>
                      <a:r>
                        <a:rPr lang="en-US" sz="1250">
                          <a:solidFill>
                            <a:srgbClr val="4ADE80"/>
                          </a:solidFill>
                          <a:latin typeface="Montserrat"/>
                          <a:ea typeface="Montserrat"/>
                          <a:cs typeface="Montserrat"/>
                          <a:sym typeface="Montserrat"/>
                        </a:rPr>
                        <a:t>Completado</a:t>
                      </a:r>
                      <a:endParaRPr lang="en-US" sz="1100"/>
                    </a:p>
                  </a:txBody>
                  <a:tcPr marL="91440" marR="91440" marT="91440" marB="91440" anchor="ctr">
                    <a:lnL cmpd="sng" algn="ctr" cap="flat" w="9525">
                      <a:solidFill>
                        <a:srgbClr val="3A4A9A"/>
                      </a:solidFill>
                      <a:prstDash val="solid"/>
                      <a:round/>
                      <a:headEnd type="none" w="med" len="med"/>
                      <a:tailEnd type="none" w="med" len="med"/>
                    </a:lnL>
                    <a:lnR cmpd="sng" algn="ctr" cap="flat" w="9525">
                      <a:solidFill>
                        <a:srgbClr val="3A4A9A"/>
                      </a:solidFill>
                      <a:prstDash val="solid"/>
                      <a:round/>
                      <a:headEnd type="none" w="med" len="med"/>
                      <a:tailEnd type="none" w="med" len="med"/>
                    </a:lnR>
                    <a:lnT cmpd="sng" algn="ctr" cap="flat" w="9525">
                      <a:solidFill>
                        <a:srgbClr val="3A4A9A"/>
                      </a:solidFill>
                      <a:prstDash val="solid"/>
                      <a:round/>
                      <a:headEnd type="none" w="med" len="med"/>
                      <a:tailEnd type="none" w="med" len="med"/>
                    </a:lnT>
                    <a:lnB cmpd="sng" algn="ctr" cap="flat" w="9525">
                      <a:solidFill>
                        <a:srgbClr val="3A4A9A"/>
                      </a:solidFill>
                      <a:prstDash val="solid"/>
                      <a:round/>
                      <a:headEnd type="none" w="med" len="med"/>
                      <a:tailEnd type="none" w="med" len="med"/>
                    </a:lnB>
                    <a:solidFill>
                      <a:srgbClr val="1C2350"/>
                    </a:solidFill>
                  </a:tcPr>
                </a:tc>
              </a:tr>
              <a:tr h="533400">
                <a:tc>
                  <a:txBody>
                    <a:bodyPr anchor="t" rtlCol="false"/>
                    <a:lstStyle/>
                    <a:p>
                      <a:pPr algn="l">
                        <a:lnSpc>
                          <a:spcPts val="1500"/>
                        </a:lnSpc>
                        <a:defRPr/>
                      </a:pPr>
                      <a:r>
                        <a:rPr lang="en-US" sz="1250">
                          <a:solidFill>
                            <a:srgbClr val="FFFFFF"/>
                          </a:solidFill>
                          <a:latin typeface="Montserrat"/>
                          <a:ea typeface="Montserrat"/>
                          <a:cs typeface="Montserrat"/>
                          <a:sym typeface="Montserrat"/>
                        </a:rPr>
                        <a:t>Suscripciones y ciclo de cobro</a:t>
                      </a:r>
                      <a:endParaRPr lang="en-US" sz="1100"/>
                    </a:p>
                  </a:txBody>
                  <a:tcPr marL="91440" marR="91440" marT="91440" marB="91440" anchor="ctr">
                    <a:lnL cmpd="sng" algn="ctr" cap="flat" w="9525">
                      <a:solidFill>
                        <a:srgbClr val="3A4A9A"/>
                      </a:solidFill>
                      <a:prstDash val="solid"/>
                      <a:round/>
                      <a:headEnd type="none" w="med" len="med"/>
                      <a:tailEnd type="none" w="med" len="med"/>
                    </a:lnL>
                    <a:lnR cmpd="sng" algn="ctr" cap="flat" w="9525">
                      <a:solidFill>
                        <a:srgbClr val="3A4A9A"/>
                      </a:solidFill>
                      <a:prstDash val="solid"/>
                      <a:round/>
                      <a:headEnd type="none" w="med" len="med"/>
                      <a:tailEnd type="none" w="med" len="med"/>
                    </a:lnR>
                    <a:lnT cmpd="sng" algn="ctr" cap="flat" w="9525">
                      <a:solidFill>
                        <a:srgbClr val="3A4A9A"/>
                      </a:solidFill>
                      <a:prstDash val="solid"/>
                      <a:round/>
                      <a:headEnd type="none" w="med" len="med"/>
                      <a:tailEnd type="none" w="med" len="med"/>
                    </a:lnT>
                    <a:lnB cmpd="sng" algn="ctr" cap="flat" w="9525">
                      <a:solidFill>
                        <a:srgbClr val="3A4A9A"/>
                      </a:solidFill>
                      <a:prstDash val="solid"/>
                      <a:round/>
                      <a:headEnd type="none" w="med" len="med"/>
                      <a:tailEnd type="none" w="med" len="med"/>
                    </a:lnB>
                    <a:solidFill>
                      <a:srgbClr val="15193A"/>
                    </a:solidFill>
                  </a:tcPr>
                </a:tc>
                <a:tc>
                  <a:txBody>
                    <a:bodyPr anchor="t" rtlCol="false"/>
                    <a:lstStyle/>
                    <a:p>
                      <a:pPr algn="l">
                        <a:lnSpc>
                          <a:spcPts val="1500"/>
                        </a:lnSpc>
                        <a:defRPr/>
                      </a:pPr>
                      <a:r>
                        <a:rPr lang="en-US" sz="1250">
                          <a:solidFill>
                            <a:srgbClr val="4ADE80"/>
                          </a:solidFill>
                          <a:latin typeface="Montserrat"/>
                          <a:ea typeface="Montserrat"/>
                          <a:cs typeface="Montserrat"/>
                          <a:sym typeface="Montserrat"/>
                        </a:rPr>
                        <a:t>Completado</a:t>
                      </a:r>
                      <a:endParaRPr lang="en-US" sz="1100"/>
                    </a:p>
                  </a:txBody>
                  <a:tcPr marL="91440" marR="91440" marT="91440" marB="91440" anchor="ctr">
                    <a:lnL cmpd="sng" algn="ctr" cap="flat" w="9525">
                      <a:solidFill>
                        <a:srgbClr val="3A4A9A"/>
                      </a:solidFill>
                      <a:prstDash val="solid"/>
                      <a:round/>
                      <a:headEnd type="none" w="med" len="med"/>
                      <a:tailEnd type="none" w="med" len="med"/>
                    </a:lnL>
                    <a:lnR cmpd="sng" algn="ctr" cap="flat" w="9525">
                      <a:solidFill>
                        <a:srgbClr val="3A4A9A"/>
                      </a:solidFill>
                      <a:prstDash val="solid"/>
                      <a:round/>
                      <a:headEnd type="none" w="med" len="med"/>
                      <a:tailEnd type="none" w="med" len="med"/>
                    </a:lnR>
                    <a:lnT cmpd="sng" algn="ctr" cap="flat" w="9525">
                      <a:solidFill>
                        <a:srgbClr val="3A4A9A"/>
                      </a:solidFill>
                      <a:prstDash val="solid"/>
                      <a:round/>
                      <a:headEnd type="none" w="med" len="med"/>
                      <a:tailEnd type="none" w="med" len="med"/>
                    </a:lnT>
                    <a:lnB cmpd="sng" algn="ctr" cap="flat" w="9525">
                      <a:solidFill>
                        <a:srgbClr val="3A4A9A"/>
                      </a:solidFill>
                      <a:prstDash val="solid"/>
                      <a:round/>
                      <a:headEnd type="none" w="med" len="med"/>
                      <a:tailEnd type="none" w="med" len="med"/>
                    </a:lnB>
                    <a:solidFill>
                      <a:srgbClr val="15193A"/>
                    </a:solidFill>
                  </a:tcPr>
                </a:tc>
              </a:tr>
              <a:tr h="533400">
                <a:tc>
                  <a:txBody>
                    <a:bodyPr anchor="t" rtlCol="false"/>
                    <a:lstStyle/>
                    <a:p>
                      <a:pPr algn="l">
                        <a:lnSpc>
                          <a:spcPts val="1500"/>
                        </a:lnSpc>
                        <a:defRPr/>
                      </a:pPr>
                      <a:r>
                        <a:rPr lang="en-US" sz="1250">
                          <a:solidFill>
                            <a:srgbClr val="FFFFFF"/>
                          </a:solidFill>
                          <a:latin typeface="Montserrat"/>
                          <a:ea typeface="Montserrat"/>
                          <a:cs typeface="Montserrat"/>
                          <a:sym typeface="Montserrat"/>
                        </a:rPr>
                        <a:t>Facturación y conciliación de pagos</a:t>
                      </a:r>
                      <a:endParaRPr lang="en-US" sz="1100"/>
                    </a:p>
                  </a:txBody>
                  <a:tcPr marL="91440" marR="91440" marT="91440" marB="91440" anchor="ctr">
                    <a:lnL cmpd="sng" algn="ctr" cap="flat" w="9525">
                      <a:solidFill>
                        <a:srgbClr val="3A4A9A"/>
                      </a:solidFill>
                      <a:prstDash val="solid"/>
                      <a:round/>
                      <a:headEnd type="none" w="med" len="med"/>
                      <a:tailEnd type="none" w="med" len="med"/>
                    </a:lnL>
                    <a:lnR cmpd="sng" algn="ctr" cap="flat" w="9525">
                      <a:solidFill>
                        <a:srgbClr val="3A4A9A"/>
                      </a:solidFill>
                      <a:prstDash val="solid"/>
                      <a:round/>
                      <a:headEnd type="none" w="med" len="med"/>
                      <a:tailEnd type="none" w="med" len="med"/>
                    </a:lnR>
                    <a:lnT cmpd="sng" algn="ctr" cap="flat" w="9525">
                      <a:solidFill>
                        <a:srgbClr val="3A4A9A"/>
                      </a:solidFill>
                      <a:prstDash val="solid"/>
                      <a:round/>
                      <a:headEnd type="none" w="med" len="med"/>
                      <a:tailEnd type="none" w="med" len="med"/>
                    </a:lnT>
                    <a:lnB cmpd="sng" algn="ctr" cap="flat" w="9525">
                      <a:solidFill>
                        <a:srgbClr val="3A4A9A"/>
                      </a:solidFill>
                      <a:prstDash val="solid"/>
                      <a:round/>
                      <a:headEnd type="none" w="med" len="med"/>
                      <a:tailEnd type="none" w="med" len="med"/>
                    </a:lnB>
                    <a:solidFill>
                      <a:srgbClr val="1C2350"/>
                    </a:solidFill>
                  </a:tcPr>
                </a:tc>
                <a:tc>
                  <a:txBody>
                    <a:bodyPr anchor="t" rtlCol="false"/>
                    <a:lstStyle/>
                    <a:p>
                      <a:pPr algn="l">
                        <a:lnSpc>
                          <a:spcPts val="1500"/>
                        </a:lnSpc>
                        <a:defRPr/>
                      </a:pPr>
                      <a:r>
                        <a:rPr lang="en-US" sz="1250">
                          <a:solidFill>
                            <a:srgbClr val="8FA8FF"/>
                          </a:solidFill>
                          <a:latin typeface="Montserrat"/>
                          <a:ea typeface="Montserrat"/>
                          <a:cs typeface="Montserrat"/>
                          <a:sym typeface="Montserrat"/>
                        </a:rPr>
                        <a:t>Ajustada</a:t>
                      </a:r>
                      <a:endParaRPr lang="en-US" sz="1100"/>
                    </a:p>
                  </a:txBody>
                  <a:tcPr marL="91440" marR="91440" marT="91440" marB="91440" anchor="ctr">
                    <a:lnL cmpd="sng" algn="ctr" cap="flat" w="9525">
                      <a:solidFill>
                        <a:srgbClr val="3A4A9A"/>
                      </a:solidFill>
                      <a:prstDash val="solid"/>
                      <a:round/>
                      <a:headEnd type="none" w="med" len="med"/>
                      <a:tailEnd type="none" w="med" len="med"/>
                    </a:lnL>
                    <a:lnR cmpd="sng" algn="ctr" cap="flat" w="9525">
                      <a:solidFill>
                        <a:srgbClr val="3A4A9A"/>
                      </a:solidFill>
                      <a:prstDash val="solid"/>
                      <a:round/>
                      <a:headEnd type="none" w="med" len="med"/>
                      <a:tailEnd type="none" w="med" len="med"/>
                    </a:lnR>
                    <a:lnT cmpd="sng" algn="ctr" cap="flat" w="9525">
                      <a:solidFill>
                        <a:srgbClr val="3A4A9A"/>
                      </a:solidFill>
                      <a:prstDash val="solid"/>
                      <a:round/>
                      <a:headEnd type="none" w="med" len="med"/>
                      <a:tailEnd type="none" w="med" len="med"/>
                    </a:lnT>
                    <a:lnB cmpd="sng" algn="ctr" cap="flat" w="9525">
                      <a:solidFill>
                        <a:srgbClr val="3A4A9A"/>
                      </a:solidFill>
                      <a:prstDash val="solid"/>
                      <a:round/>
                      <a:headEnd type="none" w="med" len="med"/>
                      <a:tailEnd type="none" w="med" len="med"/>
                    </a:lnB>
                    <a:solidFill>
                      <a:srgbClr val="1C2350"/>
                    </a:solidFill>
                  </a:tcPr>
                </a:tc>
              </a:tr>
              <a:tr h="533400">
                <a:tc>
                  <a:txBody>
                    <a:bodyPr anchor="t" rtlCol="false"/>
                    <a:lstStyle/>
                    <a:p>
                      <a:pPr algn="l">
                        <a:lnSpc>
                          <a:spcPts val="1500"/>
                        </a:lnSpc>
                        <a:defRPr/>
                      </a:pPr>
                      <a:r>
                        <a:rPr lang="en-US" sz="1250">
                          <a:solidFill>
                            <a:srgbClr val="FFFFFF"/>
                          </a:solidFill>
                          <a:latin typeface="Montserrat"/>
                          <a:ea typeface="Montserrat"/>
                          <a:cs typeface="Montserrat"/>
                          <a:sym typeface="Montserrat"/>
                        </a:rPr>
                        <a:t>Frontend de la consola interna</a:t>
                      </a:r>
                      <a:endParaRPr lang="en-US" sz="1100"/>
                    </a:p>
                  </a:txBody>
                  <a:tcPr marL="91440" marR="91440" marT="91440" marB="91440" anchor="ctr">
                    <a:lnL cmpd="sng" algn="ctr" cap="flat" w="9525">
                      <a:solidFill>
                        <a:srgbClr val="3A4A9A"/>
                      </a:solidFill>
                      <a:prstDash val="solid"/>
                      <a:round/>
                      <a:headEnd type="none" w="med" len="med"/>
                      <a:tailEnd type="none" w="med" len="med"/>
                    </a:lnL>
                    <a:lnR cmpd="sng" algn="ctr" cap="flat" w="9525">
                      <a:solidFill>
                        <a:srgbClr val="3A4A9A"/>
                      </a:solidFill>
                      <a:prstDash val="solid"/>
                      <a:round/>
                      <a:headEnd type="none" w="med" len="med"/>
                      <a:tailEnd type="none" w="med" len="med"/>
                    </a:lnR>
                    <a:lnT cmpd="sng" algn="ctr" cap="flat" w="9525">
                      <a:solidFill>
                        <a:srgbClr val="3A4A9A"/>
                      </a:solidFill>
                      <a:prstDash val="solid"/>
                      <a:round/>
                      <a:headEnd type="none" w="med" len="med"/>
                      <a:tailEnd type="none" w="med" len="med"/>
                    </a:lnT>
                    <a:lnB cmpd="sng" algn="ctr" cap="flat" w="9525">
                      <a:solidFill>
                        <a:srgbClr val="3A4A9A"/>
                      </a:solidFill>
                      <a:prstDash val="solid"/>
                      <a:round/>
                      <a:headEnd type="none" w="med" len="med"/>
                      <a:tailEnd type="none" w="med" len="med"/>
                    </a:lnB>
                    <a:solidFill>
                      <a:srgbClr val="15193A"/>
                    </a:solidFill>
                  </a:tcPr>
                </a:tc>
                <a:tc>
                  <a:txBody>
                    <a:bodyPr anchor="t" rtlCol="false"/>
                    <a:lstStyle/>
                    <a:p>
                      <a:pPr algn="l">
                        <a:lnSpc>
                          <a:spcPts val="1500"/>
                        </a:lnSpc>
                        <a:defRPr/>
                      </a:pPr>
                      <a:r>
                        <a:rPr lang="en-US" sz="1250">
                          <a:solidFill>
                            <a:srgbClr val="FBA94C"/>
                          </a:solidFill>
                          <a:latin typeface="Montserrat"/>
                          <a:ea typeface="Montserrat"/>
                          <a:cs typeface="Montserrat"/>
                          <a:sym typeface="Montserrat"/>
                        </a:rPr>
                        <a:t>En curso</a:t>
                      </a:r>
                      <a:endParaRPr lang="en-US" sz="1100"/>
                    </a:p>
                  </a:txBody>
                  <a:tcPr marL="91440" marR="91440" marT="91440" marB="91440" anchor="ctr">
                    <a:lnL cmpd="sng" algn="ctr" cap="flat" w="9525">
                      <a:solidFill>
                        <a:srgbClr val="3A4A9A"/>
                      </a:solidFill>
                      <a:prstDash val="solid"/>
                      <a:round/>
                      <a:headEnd type="none" w="med" len="med"/>
                      <a:tailEnd type="none" w="med" len="med"/>
                    </a:lnL>
                    <a:lnR cmpd="sng" algn="ctr" cap="flat" w="9525">
                      <a:solidFill>
                        <a:srgbClr val="3A4A9A"/>
                      </a:solidFill>
                      <a:prstDash val="solid"/>
                      <a:round/>
                      <a:headEnd type="none" w="med" len="med"/>
                      <a:tailEnd type="none" w="med" len="med"/>
                    </a:lnR>
                    <a:lnT cmpd="sng" algn="ctr" cap="flat" w="9525">
                      <a:solidFill>
                        <a:srgbClr val="3A4A9A"/>
                      </a:solidFill>
                      <a:prstDash val="solid"/>
                      <a:round/>
                      <a:headEnd type="none" w="med" len="med"/>
                      <a:tailEnd type="none" w="med" len="med"/>
                    </a:lnT>
                    <a:lnB cmpd="sng" algn="ctr" cap="flat" w="9525">
                      <a:solidFill>
                        <a:srgbClr val="3A4A9A"/>
                      </a:solidFill>
                      <a:prstDash val="solid"/>
                      <a:round/>
                      <a:headEnd type="none" w="med" len="med"/>
                      <a:tailEnd type="none" w="med" len="med"/>
                    </a:lnB>
                    <a:solidFill>
                      <a:srgbClr val="15193A"/>
                    </a:solidFill>
                  </a:tcPr>
                </a:tc>
              </a:tr>
              <a:tr h="533400">
                <a:tc>
                  <a:txBody>
                    <a:bodyPr anchor="t" rtlCol="false"/>
                    <a:lstStyle/>
                    <a:p>
                      <a:pPr algn="l">
                        <a:lnSpc>
                          <a:spcPts val="1500"/>
                        </a:lnSpc>
                        <a:defRPr/>
                      </a:pPr>
                      <a:r>
                        <a:rPr lang="en-US" sz="1250">
                          <a:solidFill>
                            <a:srgbClr val="FFFFFF"/>
                          </a:solidFill>
                          <a:latin typeface="Montserrat"/>
                          <a:ea typeface="Montserrat"/>
                          <a:cs typeface="Montserrat"/>
                          <a:sym typeface="Montserrat"/>
                        </a:rPr>
                        <a:t>Frontend del portal: suscripción y pagos</a:t>
                      </a:r>
                      <a:endParaRPr lang="en-US" sz="1100"/>
                    </a:p>
                  </a:txBody>
                  <a:tcPr marL="91440" marR="91440" marT="91440" marB="91440" anchor="ctr">
                    <a:lnL cmpd="sng" algn="ctr" cap="flat" w="9525">
                      <a:solidFill>
                        <a:srgbClr val="3A4A9A"/>
                      </a:solidFill>
                      <a:prstDash val="solid"/>
                      <a:round/>
                      <a:headEnd type="none" w="med" len="med"/>
                      <a:tailEnd type="none" w="med" len="med"/>
                    </a:lnL>
                    <a:lnR cmpd="sng" algn="ctr" cap="flat" w="9525">
                      <a:solidFill>
                        <a:srgbClr val="3A4A9A"/>
                      </a:solidFill>
                      <a:prstDash val="solid"/>
                      <a:round/>
                      <a:headEnd type="none" w="med" len="med"/>
                      <a:tailEnd type="none" w="med" len="med"/>
                    </a:lnR>
                    <a:lnT cmpd="sng" algn="ctr" cap="flat" w="9525">
                      <a:solidFill>
                        <a:srgbClr val="3A4A9A"/>
                      </a:solidFill>
                      <a:prstDash val="solid"/>
                      <a:round/>
                      <a:headEnd type="none" w="med" len="med"/>
                      <a:tailEnd type="none" w="med" len="med"/>
                    </a:lnT>
                    <a:lnB cmpd="sng" algn="ctr" cap="flat" w="9525">
                      <a:solidFill>
                        <a:srgbClr val="3A4A9A"/>
                      </a:solidFill>
                      <a:prstDash val="solid"/>
                      <a:round/>
                      <a:headEnd type="none" w="med" len="med"/>
                      <a:tailEnd type="none" w="med" len="med"/>
                    </a:lnB>
                    <a:solidFill>
                      <a:srgbClr val="1C2350"/>
                    </a:solidFill>
                  </a:tcPr>
                </a:tc>
                <a:tc>
                  <a:txBody>
                    <a:bodyPr anchor="t" rtlCol="false"/>
                    <a:lstStyle/>
                    <a:p>
                      <a:pPr algn="l">
                        <a:lnSpc>
                          <a:spcPts val="1500"/>
                        </a:lnSpc>
                        <a:defRPr/>
                      </a:pPr>
                      <a:r>
                        <a:rPr lang="en-US" sz="1250">
                          <a:solidFill>
                            <a:srgbClr val="4ADE80"/>
                          </a:solidFill>
                          <a:latin typeface="Montserrat"/>
                          <a:ea typeface="Montserrat"/>
                          <a:cs typeface="Montserrat"/>
                          <a:sym typeface="Montserrat"/>
                        </a:rPr>
                        <a:t>Completado</a:t>
                      </a:r>
                      <a:endParaRPr lang="en-US" sz="1100"/>
                    </a:p>
                  </a:txBody>
                  <a:tcPr marL="91440" marR="91440" marT="91440" marB="91440" anchor="ctr">
                    <a:lnL cmpd="sng" algn="ctr" cap="flat" w="9525">
                      <a:solidFill>
                        <a:srgbClr val="3A4A9A"/>
                      </a:solidFill>
                      <a:prstDash val="solid"/>
                      <a:round/>
                      <a:headEnd type="none" w="med" len="med"/>
                      <a:tailEnd type="none" w="med" len="med"/>
                    </a:lnL>
                    <a:lnR cmpd="sng" algn="ctr" cap="flat" w="9525">
                      <a:solidFill>
                        <a:srgbClr val="3A4A9A"/>
                      </a:solidFill>
                      <a:prstDash val="solid"/>
                      <a:round/>
                      <a:headEnd type="none" w="med" len="med"/>
                      <a:tailEnd type="none" w="med" len="med"/>
                    </a:lnR>
                    <a:lnT cmpd="sng" algn="ctr" cap="flat" w="9525">
                      <a:solidFill>
                        <a:srgbClr val="3A4A9A"/>
                      </a:solidFill>
                      <a:prstDash val="solid"/>
                      <a:round/>
                      <a:headEnd type="none" w="med" len="med"/>
                      <a:tailEnd type="none" w="med" len="med"/>
                    </a:lnT>
                    <a:lnB cmpd="sng" algn="ctr" cap="flat" w="9525">
                      <a:solidFill>
                        <a:srgbClr val="3A4A9A"/>
                      </a:solidFill>
                      <a:prstDash val="solid"/>
                      <a:round/>
                      <a:headEnd type="none" w="med" len="med"/>
                      <a:tailEnd type="none" w="med" len="med"/>
                    </a:lnB>
                    <a:solidFill>
                      <a:srgbClr val="1C2350"/>
                    </a:solidFill>
                  </a:tcPr>
                </a:tc>
              </a:tr>
              <a:tr h="533400">
                <a:tc>
                  <a:txBody>
                    <a:bodyPr anchor="t" rtlCol="false"/>
                    <a:lstStyle/>
                    <a:p>
                      <a:pPr algn="l">
                        <a:lnSpc>
                          <a:spcPts val="1500"/>
                        </a:lnSpc>
                        <a:defRPr/>
                      </a:pPr>
                      <a:r>
                        <a:rPr lang="en-US" sz="1250">
                          <a:solidFill>
                            <a:srgbClr val="FFFFFF"/>
                          </a:solidFill>
                          <a:latin typeface="Montserrat"/>
                          <a:ea typeface="Montserrat"/>
                          <a:cs typeface="Montserrat"/>
                          <a:sym typeface="Montserrat"/>
                        </a:rPr>
                        <a:t>Auditoría de accesos y acceso con motivo</a:t>
                      </a:r>
                      <a:endParaRPr lang="en-US" sz="1100"/>
                    </a:p>
                  </a:txBody>
                  <a:tcPr marL="91440" marR="91440" marT="91440" marB="91440" anchor="ctr">
                    <a:lnL cmpd="sng" algn="ctr" cap="flat" w="9525">
                      <a:solidFill>
                        <a:srgbClr val="3A4A9A"/>
                      </a:solidFill>
                      <a:prstDash val="solid"/>
                      <a:round/>
                      <a:headEnd type="none" w="med" len="med"/>
                      <a:tailEnd type="none" w="med" len="med"/>
                    </a:lnL>
                    <a:lnR cmpd="sng" algn="ctr" cap="flat" w="9525">
                      <a:solidFill>
                        <a:srgbClr val="3A4A9A"/>
                      </a:solidFill>
                      <a:prstDash val="solid"/>
                      <a:round/>
                      <a:headEnd type="none" w="med" len="med"/>
                      <a:tailEnd type="none" w="med" len="med"/>
                    </a:lnR>
                    <a:lnT cmpd="sng" algn="ctr" cap="flat" w="9525">
                      <a:solidFill>
                        <a:srgbClr val="3A4A9A"/>
                      </a:solidFill>
                      <a:prstDash val="solid"/>
                      <a:round/>
                      <a:headEnd type="none" w="med" len="med"/>
                      <a:tailEnd type="none" w="med" len="med"/>
                    </a:lnT>
                    <a:lnB cmpd="sng" algn="ctr" cap="flat" w="9525">
                      <a:solidFill>
                        <a:srgbClr val="3A4A9A"/>
                      </a:solidFill>
                      <a:prstDash val="solid"/>
                      <a:round/>
                      <a:headEnd type="none" w="med" len="med"/>
                      <a:tailEnd type="none" w="med" len="med"/>
                    </a:lnB>
                    <a:solidFill>
                      <a:srgbClr val="15193A"/>
                    </a:solidFill>
                  </a:tcPr>
                </a:tc>
                <a:tc>
                  <a:txBody>
                    <a:bodyPr anchor="t" rtlCol="false"/>
                    <a:lstStyle/>
                    <a:p>
                      <a:pPr algn="l">
                        <a:lnSpc>
                          <a:spcPts val="1500"/>
                        </a:lnSpc>
                        <a:defRPr/>
                      </a:pPr>
                      <a:r>
                        <a:rPr lang="en-US" sz="1250">
                          <a:solidFill>
                            <a:srgbClr val="4ADE80"/>
                          </a:solidFill>
                          <a:latin typeface="Montserrat"/>
                          <a:ea typeface="Montserrat"/>
                          <a:cs typeface="Montserrat"/>
                          <a:sym typeface="Montserrat"/>
                        </a:rPr>
                        <a:t>Completado</a:t>
                      </a:r>
                      <a:endParaRPr lang="en-US" sz="1100"/>
                    </a:p>
                  </a:txBody>
                  <a:tcPr marL="91440" marR="91440" marT="91440" marB="91440" anchor="ctr">
                    <a:lnL cmpd="sng" algn="ctr" cap="flat" w="9525">
                      <a:solidFill>
                        <a:srgbClr val="3A4A9A"/>
                      </a:solidFill>
                      <a:prstDash val="solid"/>
                      <a:round/>
                      <a:headEnd type="none" w="med" len="med"/>
                      <a:tailEnd type="none" w="med" len="med"/>
                    </a:lnL>
                    <a:lnR cmpd="sng" algn="ctr" cap="flat" w="9525">
                      <a:solidFill>
                        <a:srgbClr val="3A4A9A"/>
                      </a:solidFill>
                      <a:prstDash val="solid"/>
                      <a:round/>
                      <a:headEnd type="none" w="med" len="med"/>
                      <a:tailEnd type="none" w="med" len="med"/>
                    </a:lnR>
                    <a:lnT cmpd="sng" algn="ctr" cap="flat" w="9525">
                      <a:solidFill>
                        <a:srgbClr val="3A4A9A"/>
                      </a:solidFill>
                      <a:prstDash val="solid"/>
                      <a:round/>
                      <a:headEnd type="none" w="med" len="med"/>
                      <a:tailEnd type="none" w="med" len="med"/>
                    </a:lnT>
                    <a:lnB cmpd="sng" algn="ctr" cap="flat" w="9525">
                      <a:solidFill>
                        <a:srgbClr val="3A4A9A"/>
                      </a:solidFill>
                      <a:prstDash val="solid"/>
                      <a:round/>
                      <a:headEnd type="none" w="med" len="med"/>
                      <a:tailEnd type="none" w="med" len="med"/>
                    </a:lnB>
                    <a:solidFill>
                      <a:srgbClr val="15193A"/>
                    </a:solidFill>
                  </a:tcPr>
                </a:tc>
              </a:tr>
              <a:tr h="533400">
                <a:tc>
                  <a:txBody>
                    <a:bodyPr anchor="t" rtlCol="false"/>
                    <a:lstStyle/>
                    <a:p>
                      <a:pPr algn="l">
                        <a:lnSpc>
                          <a:spcPts val="1500"/>
                        </a:lnSpc>
                        <a:defRPr/>
                      </a:pPr>
                      <a:r>
                        <a:rPr lang="en-US" sz="1250">
                          <a:solidFill>
                            <a:srgbClr val="FFFFFF"/>
                          </a:solidFill>
                          <a:latin typeface="Montserrat"/>
                          <a:ea typeface="Montserrat"/>
                          <a:cs typeface="Montserrat"/>
                          <a:sym typeface="Montserrat"/>
                        </a:rPr>
                        <a:t>Contenedores y despliegue</a:t>
                      </a:r>
                      <a:endParaRPr lang="en-US" sz="1100"/>
                    </a:p>
                  </a:txBody>
                  <a:tcPr marL="91440" marR="91440" marT="91440" marB="91440" anchor="ctr">
                    <a:lnL cmpd="sng" algn="ctr" cap="flat" w="9525">
                      <a:solidFill>
                        <a:srgbClr val="3A4A9A"/>
                      </a:solidFill>
                      <a:prstDash val="solid"/>
                      <a:round/>
                      <a:headEnd type="none" w="med" len="med"/>
                      <a:tailEnd type="none" w="med" len="med"/>
                    </a:lnL>
                    <a:lnR cmpd="sng" algn="ctr" cap="flat" w="9525">
                      <a:solidFill>
                        <a:srgbClr val="3A4A9A"/>
                      </a:solidFill>
                      <a:prstDash val="solid"/>
                      <a:round/>
                      <a:headEnd type="none" w="med" len="med"/>
                      <a:tailEnd type="none" w="med" len="med"/>
                    </a:lnR>
                    <a:lnT cmpd="sng" algn="ctr" cap="flat" w="9525">
                      <a:solidFill>
                        <a:srgbClr val="3A4A9A"/>
                      </a:solidFill>
                      <a:prstDash val="solid"/>
                      <a:round/>
                      <a:headEnd type="none" w="med" len="med"/>
                      <a:tailEnd type="none" w="med" len="med"/>
                    </a:lnT>
                    <a:lnB cmpd="sng" algn="ctr" cap="flat" w="9525">
                      <a:solidFill>
                        <a:srgbClr val="3A4A9A"/>
                      </a:solidFill>
                      <a:prstDash val="solid"/>
                      <a:round/>
                      <a:headEnd type="none" w="med" len="med"/>
                      <a:tailEnd type="none" w="med" len="med"/>
                    </a:lnB>
                    <a:solidFill>
                      <a:srgbClr val="1C2350"/>
                    </a:solidFill>
                  </a:tcPr>
                </a:tc>
                <a:tc>
                  <a:txBody>
                    <a:bodyPr anchor="t" rtlCol="false"/>
                    <a:lstStyle/>
                    <a:p>
                      <a:pPr algn="l">
                        <a:lnSpc>
                          <a:spcPts val="1500"/>
                        </a:lnSpc>
                        <a:defRPr/>
                      </a:pPr>
                      <a:r>
                        <a:rPr lang="en-US" sz="1250">
                          <a:solidFill>
                            <a:srgbClr val="FBA94C"/>
                          </a:solidFill>
                          <a:latin typeface="Montserrat"/>
                          <a:ea typeface="Montserrat"/>
                          <a:cs typeface="Montserrat"/>
                          <a:sym typeface="Montserrat"/>
                        </a:rPr>
                        <a:t>En curso</a:t>
                      </a:r>
                      <a:endParaRPr lang="en-US" sz="1100"/>
                    </a:p>
                  </a:txBody>
                  <a:tcPr marL="91440" marR="91440" marT="91440" marB="91440" anchor="ctr">
                    <a:lnL cmpd="sng" algn="ctr" cap="flat" w="9525">
                      <a:solidFill>
                        <a:srgbClr val="3A4A9A"/>
                      </a:solidFill>
                      <a:prstDash val="solid"/>
                      <a:round/>
                      <a:headEnd type="none" w="med" len="med"/>
                      <a:tailEnd type="none" w="med" len="med"/>
                    </a:lnL>
                    <a:lnR cmpd="sng" algn="ctr" cap="flat" w="9525">
                      <a:solidFill>
                        <a:srgbClr val="3A4A9A"/>
                      </a:solidFill>
                      <a:prstDash val="solid"/>
                      <a:round/>
                      <a:headEnd type="none" w="med" len="med"/>
                      <a:tailEnd type="none" w="med" len="med"/>
                    </a:lnR>
                    <a:lnT cmpd="sng" algn="ctr" cap="flat" w="9525">
                      <a:solidFill>
                        <a:srgbClr val="3A4A9A"/>
                      </a:solidFill>
                      <a:prstDash val="solid"/>
                      <a:round/>
                      <a:headEnd type="none" w="med" len="med"/>
                      <a:tailEnd type="none" w="med" len="med"/>
                    </a:lnT>
                    <a:lnB cmpd="sng" algn="ctr" cap="flat" w="9525">
                      <a:solidFill>
                        <a:srgbClr val="3A4A9A"/>
                      </a:solidFill>
                      <a:prstDash val="solid"/>
                      <a:round/>
                      <a:headEnd type="none" w="med" len="med"/>
                      <a:tailEnd type="none" w="med" len="med"/>
                    </a:lnB>
                    <a:solidFill>
                      <a:srgbClr val="1C2350"/>
                    </a:solidFill>
                  </a:tcPr>
                </a:tc>
              </a:tr>
              <a:tr h="533400">
                <a:tc>
                  <a:txBody>
                    <a:bodyPr anchor="t" rtlCol="false"/>
                    <a:lstStyle/>
                    <a:p>
                      <a:pPr algn="l">
                        <a:lnSpc>
                          <a:spcPts val="1500"/>
                        </a:lnSpc>
                        <a:defRPr/>
                      </a:pPr>
                      <a:r>
                        <a:rPr lang="en-US" sz="1250">
                          <a:solidFill>
                            <a:srgbClr val="FFFFFF"/>
                          </a:solidFill>
                          <a:latin typeface="Montserrat"/>
                          <a:ea typeface="Montserrat"/>
                          <a:cs typeface="Montserrat"/>
                          <a:sym typeface="Montserrat"/>
                        </a:rPr>
                        <a:t>Integración y pruebas del sistema completo</a:t>
                      </a:r>
                      <a:endParaRPr lang="en-US" sz="1100"/>
                    </a:p>
                  </a:txBody>
                  <a:tcPr marL="91440" marR="91440" marT="91440" marB="91440" anchor="ctr">
                    <a:lnL cmpd="sng" algn="ctr" cap="flat" w="9525">
                      <a:solidFill>
                        <a:srgbClr val="3A4A9A"/>
                      </a:solidFill>
                      <a:prstDash val="solid"/>
                      <a:round/>
                      <a:headEnd type="none" w="med" len="med"/>
                      <a:tailEnd type="none" w="med" len="med"/>
                    </a:lnL>
                    <a:lnR cmpd="sng" algn="ctr" cap="flat" w="9525">
                      <a:solidFill>
                        <a:srgbClr val="3A4A9A"/>
                      </a:solidFill>
                      <a:prstDash val="solid"/>
                      <a:round/>
                      <a:headEnd type="none" w="med" len="med"/>
                      <a:tailEnd type="none" w="med" len="med"/>
                    </a:lnR>
                    <a:lnT cmpd="sng" algn="ctr" cap="flat" w="9525">
                      <a:solidFill>
                        <a:srgbClr val="3A4A9A"/>
                      </a:solidFill>
                      <a:prstDash val="solid"/>
                      <a:round/>
                      <a:headEnd type="none" w="med" len="med"/>
                      <a:tailEnd type="none" w="med" len="med"/>
                    </a:lnT>
                    <a:lnB cmpd="sng" algn="ctr" cap="flat" w="9525">
                      <a:solidFill>
                        <a:srgbClr val="3A4A9A"/>
                      </a:solidFill>
                      <a:prstDash val="solid"/>
                      <a:round/>
                      <a:headEnd type="none" w="med" len="med"/>
                      <a:tailEnd type="none" w="med" len="med"/>
                    </a:lnB>
                    <a:solidFill>
                      <a:srgbClr val="15193A"/>
                    </a:solidFill>
                  </a:tcPr>
                </a:tc>
                <a:tc>
                  <a:txBody>
                    <a:bodyPr anchor="t" rtlCol="false"/>
                    <a:lstStyle/>
                    <a:p>
                      <a:pPr algn="l">
                        <a:lnSpc>
                          <a:spcPts val="1500"/>
                        </a:lnSpc>
                        <a:defRPr/>
                      </a:pPr>
                      <a:r>
                        <a:rPr lang="en-US" sz="1250">
                          <a:solidFill>
                            <a:srgbClr val="8A93B8"/>
                          </a:solidFill>
                          <a:latin typeface="Montserrat"/>
                          <a:ea typeface="Montserrat"/>
                          <a:cs typeface="Montserrat"/>
                          <a:sym typeface="Montserrat"/>
                        </a:rPr>
                        <a:t>No iniciado</a:t>
                      </a:r>
                      <a:endParaRPr lang="en-US" sz="1100"/>
                    </a:p>
                  </a:txBody>
                  <a:tcPr marL="91440" marR="91440" marT="91440" marB="91440" anchor="ctr">
                    <a:lnL cmpd="sng" algn="ctr" cap="flat" w="9525">
                      <a:solidFill>
                        <a:srgbClr val="3A4A9A"/>
                      </a:solidFill>
                      <a:prstDash val="solid"/>
                      <a:round/>
                      <a:headEnd type="none" w="med" len="med"/>
                      <a:tailEnd type="none" w="med" len="med"/>
                    </a:lnL>
                    <a:lnR cmpd="sng" algn="ctr" cap="flat" w="9525">
                      <a:solidFill>
                        <a:srgbClr val="3A4A9A"/>
                      </a:solidFill>
                      <a:prstDash val="solid"/>
                      <a:round/>
                      <a:headEnd type="none" w="med" len="med"/>
                      <a:tailEnd type="none" w="med" len="med"/>
                    </a:lnR>
                    <a:lnT cmpd="sng" algn="ctr" cap="flat" w="9525">
                      <a:solidFill>
                        <a:srgbClr val="3A4A9A"/>
                      </a:solidFill>
                      <a:prstDash val="solid"/>
                      <a:round/>
                      <a:headEnd type="none" w="med" len="med"/>
                      <a:tailEnd type="none" w="med" len="med"/>
                    </a:lnT>
                    <a:lnB cmpd="sng" algn="ctr" cap="flat" w="9525">
                      <a:solidFill>
                        <a:srgbClr val="3A4A9A"/>
                      </a:solidFill>
                      <a:prstDash val="solid"/>
                      <a:round/>
                      <a:headEnd type="none" w="med" len="med"/>
                      <a:tailEnd type="none" w="med" len="med"/>
                    </a:lnB>
                    <a:solidFill>
                      <a:srgbClr val="15193A"/>
                    </a:solidFill>
                  </a:tcPr>
                </a:tc>
              </a:tr>
              <a:tr h="533400">
                <a:tc>
                  <a:txBody>
                    <a:bodyPr anchor="t" rtlCol="false"/>
                    <a:lstStyle/>
                    <a:p>
                      <a:pPr algn="l">
                        <a:lnSpc>
                          <a:spcPts val="1500"/>
                        </a:lnSpc>
                        <a:defRPr/>
                      </a:pPr>
                      <a:r>
                        <a:rPr lang="en-US" sz="1250">
                          <a:solidFill>
                            <a:srgbClr val="FFFFFF"/>
                          </a:solidFill>
                          <a:latin typeface="Montserrat"/>
                          <a:ea typeface="Montserrat"/>
                          <a:cs typeface="Montserrat"/>
                          <a:sym typeface="Montserrat"/>
                        </a:rPr>
                        <a:t>Informe final, documentación y preparación de la demo</a:t>
                      </a:r>
                      <a:endParaRPr lang="en-US" sz="1100"/>
                    </a:p>
                  </a:txBody>
                  <a:tcPr marL="91440" marR="91440" marT="91440" marB="91440" anchor="ctr">
                    <a:lnL cmpd="sng" algn="ctr" cap="flat" w="9525">
                      <a:solidFill>
                        <a:srgbClr val="3A4A9A"/>
                      </a:solidFill>
                      <a:prstDash val="solid"/>
                      <a:round/>
                      <a:headEnd type="none" w="med" len="med"/>
                      <a:tailEnd type="none" w="med" len="med"/>
                    </a:lnL>
                    <a:lnR cmpd="sng" algn="ctr" cap="flat" w="9525">
                      <a:solidFill>
                        <a:srgbClr val="3A4A9A"/>
                      </a:solidFill>
                      <a:prstDash val="solid"/>
                      <a:round/>
                      <a:headEnd type="none" w="med" len="med"/>
                      <a:tailEnd type="none" w="med" len="med"/>
                    </a:lnR>
                    <a:lnT cmpd="sng" algn="ctr" cap="flat" w="9525">
                      <a:solidFill>
                        <a:srgbClr val="3A4A9A"/>
                      </a:solidFill>
                      <a:prstDash val="solid"/>
                      <a:round/>
                      <a:headEnd type="none" w="med" len="med"/>
                      <a:tailEnd type="none" w="med" len="med"/>
                    </a:lnT>
                    <a:lnB cmpd="sng" algn="ctr" cap="flat" w="9525">
                      <a:solidFill>
                        <a:srgbClr val="3A4A9A"/>
                      </a:solidFill>
                      <a:prstDash val="solid"/>
                      <a:round/>
                      <a:headEnd type="none" w="med" len="med"/>
                      <a:tailEnd type="none" w="med" len="med"/>
                    </a:lnB>
                    <a:solidFill>
                      <a:srgbClr val="1C2350"/>
                    </a:solidFill>
                  </a:tcPr>
                </a:tc>
                <a:tc>
                  <a:txBody>
                    <a:bodyPr anchor="t" rtlCol="false"/>
                    <a:lstStyle/>
                    <a:p>
                      <a:pPr algn="l">
                        <a:lnSpc>
                          <a:spcPts val="1500"/>
                        </a:lnSpc>
                        <a:defRPr/>
                      </a:pPr>
                      <a:r>
                        <a:rPr lang="en-US" sz="1250">
                          <a:solidFill>
                            <a:srgbClr val="FBA94C"/>
                          </a:solidFill>
                          <a:latin typeface="Montserrat"/>
                          <a:ea typeface="Montserrat"/>
                          <a:cs typeface="Montserrat"/>
                          <a:sym typeface="Montserrat"/>
                        </a:rPr>
                        <a:t>En curso</a:t>
                      </a:r>
                      <a:endParaRPr lang="en-US" sz="1100"/>
                    </a:p>
                  </a:txBody>
                  <a:tcPr marL="91440" marR="91440" marT="91440" marB="91440" anchor="ctr">
                    <a:lnL cmpd="sng" algn="ctr" cap="flat" w="9525">
                      <a:solidFill>
                        <a:srgbClr val="3A4A9A"/>
                      </a:solidFill>
                      <a:prstDash val="solid"/>
                      <a:round/>
                      <a:headEnd type="none" w="med" len="med"/>
                      <a:tailEnd type="none" w="med" len="med"/>
                    </a:lnL>
                    <a:lnR cmpd="sng" algn="ctr" cap="flat" w="9525">
                      <a:solidFill>
                        <a:srgbClr val="3A4A9A"/>
                      </a:solidFill>
                      <a:prstDash val="solid"/>
                      <a:round/>
                      <a:headEnd type="none" w="med" len="med"/>
                      <a:tailEnd type="none" w="med" len="med"/>
                    </a:lnR>
                    <a:lnT cmpd="sng" algn="ctr" cap="flat" w="9525">
                      <a:solidFill>
                        <a:srgbClr val="3A4A9A"/>
                      </a:solidFill>
                      <a:prstDash val="solid"/>
                      <a:round/>
                      <a:headEnd type="none" w="med" len="med"/>
                      <a:tailEnd type="none" w="med" len="med"/>
                    </a:lnT>
                    <a:lnB cmpd="sng" algn="ctr" cap="flat" w="9525">
                      <a:solidFill>
                        <a:srgbClr val="3A4A9A"/>
                      </a:solidFill>
                      <a:prstDash val="solid"/>
                      <a:round/>
                      <a:headEnd type="none" w="med" len="med"/>
                      <a:tailEnd type="none" w="med" len="med"/>
                    </a:lnB>
                    <a:solidFill>
                      <a:srgbClr val="1C2350"/>
                    </a:solidFill>
                  </a:tcPr>
                </a:tc>
              </a:tr>
              <a:tr h="533400">
                <a:tc>
                  <a:txBody>
                    <a:bodyPr anchor="t" rtlCol="false"/>
                    <a:lstStyle/>
                    <a:p>
                      <a:pPr algn="l">
                        <a:lnSpc>
                          <a:spcPts val="1500"/>
                        </a:lnSpc>
                        <a:defRPr/>
                      </a:pPr>
                      <a:r>
                        <a:rPr lang="en-US" sz="1250">
                          <a:solidFill>
                            <a:srgbClr val="FFFFFF"/>
                          </a:solidFill>
                          <a:latin typeface="Montserrat"/>
                          <a:ea typeface="Montserrat"/>
                          <a:cs typeface="Montserrat"/>
                          <a:sym typeface="Montserrat"/>
                        </a:rPr>
                        <a:t>Exposición ante la comisión evaluadora</a:t>
                      </a:r>
                      <a:endParaRPr lang="en-US" sz="1100"/>
                    </a:p>
                  </a:txBody>
                  <a:tcPr marL="91440" marR="91440" marT="91440" marB="91440" anchor="ctr">
                    <a:lnL cmpd="sng" algn="ctr" cap="flat" w="9525">
                      <a:solidFill>
                        <a:srgbClr val="3A4A9A"/>
                      </a:solidFill>
                      <a:prstDash val="solid"/>
                      <a:round/>
                      <a:headEnd type="none" w="med" len="med"/>
                      <a:tailEnd type="none" w="med" len="med"/>
                    </a:lnL>
                    <a:lnR cmpd="sng" algn="ctr" cap="flat" w="9525">
                      <a:solidFill>
                        <a:srgbClr val="3A4A9A"/>
                      </a:solidFill>
                      <a:prstDash val="solid"/>
                      <a:round/>
                      <a:headEnd type="none" w="med" len="med"/>
                      <a:tailEnd type="none" w="med" len="med"/>
                    </a:lnR>
                    <a:lnT cmpd="sng" algn="ctr" cap="flat" w="9525">
                      <a:solidFill>
                        <a:srgbClr val="3A4A9A"/>
                      </a:solidFill>
                      <a:prstDash val="solid"/>
                      <a:round/>
                      <a:headEnd type="none" w="med" len="med"/>
                      <a:tailEnd type="none" w="med" len="med"/>
                    </a:lnT>
                    <a:lnB cmpd="sng" algn="ctr" cap="flat" w="9525">
                      <a:solidFill>
                        <a:srgbClr val="3A4A9A"/>
                      </a:solidFill>
                      <a:prstDash val="solid"/>
                      <a:round/>
                      <a:headEnd type="none" w="med" len="med"/>
                      <a:tailEnd type="none" w="med" len="med"/>
                    </a:lnB>
                    <a:solidFill>
                      <a:srgbClr val="15193A"/>
                    </a:solidFill>
                  </a:tcPr>
                </a:tc>
                <a:tc>
                  <a:txBody>
                    <a:bodyPr anchor="t" rtlCol="false"/>
                    <a:lstStyle/>
                    <a:p>
                      <a:pPr algn="l">
                        <a:lnSpc>
                          <a:spcPts val="1500"/>
                        </a:lnSpc>
                        <a:defRPr/>
                      </a:pPr>
                      <a:r>
                        <a:rPr lang="en-US" sz="1250">
                          <a:solidFill>
                            <a:srgbClr val="8A93B8"/>
                          </a:solidFill>
                          <a:latin typeface="Montserrat"/>
                          <a:ea typeface="Montserrat"/>
                          <a:cs typeface="Montserrat"/>
                          <a:sym typeface="Montserrat"/>
                        </a:rPr>
                        <a:t>No iniciado</a:t>
                      </a:r>
                      <a:endParaRPr lang="en-US" sz="1100"/>
                    </a:p>
                  </a:txBody>
                  <a:tcPr marL="91440" marR="91440" marT="91440" marB="91440" anchor="ctr">
                    <a:lnL cmpd="sng" algn="ctr" cap="flat" w="9525">
                      <a:solidFill>
                        <a:srgbClr val="3A4A9A"/>
                      </a:solidFill>
                      <a:prstDash val="solid"/>
                      <a:round/>
                      <a:headEnd type="none" w="med" len="med"/>
                      <a:tailEnd type="none" w="med" len="med"/>
                    </a:lnL>
                    <a:lnR cmpd="sng" algn="ctr" cap="flat" w="9525">
                      <a:solidFill>
                        <a:srgbClr val="3A4A9A"/>
                      </a:solidFill>
                      <a:prstDash val="solid"/>
                      <a:round/>
                      <a:headEnd type="none" w="med" len="med"/>
                      <a:tailEnd type="none" w="med" len="med"/>
                    </a:lnR>
                    <a:lnT cmpd="sng" algn="ctr" cap="flat" w="9525">
                      <a:solidFill>
                        <a:srgbClr val="3A4A9A"/>
                      </a:solidFill>
                      <a:prstDash val="solid"/>
                      <a:round/>
                      <a:headEnd type="none" w="med" len="med"/>
                      <a:tailEnd type="none" w="med" len="med"/>
                    </a:lnT>
                    <a:lnB cmpd="sng" algn="ctr" cap="flat" w="9525">
                      <a:solidFill>
                        <a:srgbClr val="3A4A9A"/>
                      </a:solidFill>
                      <a:prstDash val="solid"/>
                      <a:round/>
                      <a:headEnd type="none" w="med" len="med"/>
                      <a:tailEnd type="none" w="med" len="med"/>
                    </a:lnB>
                    <a:solidFill>
                      <a:srgbClr val="15193A"/>
                    </a:solidFill>
                  </a:tcPr>
                </a:tc>
              </a:tr>
            </a:tbl>
          </a:graphicData>
        </a:graphic>
      </p:graphicFrame>
      <p:grpSp>
        <p:nvGrpSpPr>
          <p:cNvPr name="Group 7" id="7"/>
          <p:cNvGrpSpPr/>
          <p:nvPr/>
        </p:nvGrpSpPr>
        <p:grpSpPr>
          <a:xfrm rot="0">
            <a:off x="12527280" y="2331720"/>
            <a:ext cx="5029200" cy="1261872"/>
            <a:chOff x="0" y="0"/>
            <a:chExt cx="6705600" cy="1682496"/>
          </a:xfrm>
        </p:grpSpPr>
        <p:sp>
          <p:nvSpPr>
            <p:cNvPr name="Freeform 8" id="8"/>
            <p:cNvSpPr/>
            <p:nvPr/>
          </p:nvSpPr>
          <p:spPr>
            <a:xfrm flipH="false" flipV="false" rot="0">
              <a:off x="0" y="0"/>
              <a:ext cx="6705600" cy="1682496"/>
            </a:xfrm>
            <a:custGeom>
              <a:avLst/>
              <a:gdLst/>
              <a:ahLst/>
              <a:cxnLst/>
              <a:rect r="r" b="b" t="t" l="l"/>
              <a:pathLst>
                <a:path h="1682496" w="6705600">
                  <a:moveTo>
                    <a:pt x="0" y="201930"/>
                  </a:moveTo>
                  <a:cubicBezTo>
                    <a:pt x="0" y="90424"/>
                    <a:pt x="90424" y="0"/>
                    <a:pt x="201930" y="0"/>
                  </a:cubicBezTo>
                  <a:lnTo>
                    <a:pt x="6503670" y="0"/>
                  </a:lnTo>
                  <a:cubicBezTo>
                    <a:pt x="6615176" y="0"/>
                    <a:pt x="6705600" y="90424"/>
                    <a:pt x="6705600" y="201930"/>
                  </a:cubicBezTo>
                  <a:lnTo>
                    <a:pt x="6705600" y="1480566"/>
                  </a:lnTo>
                  <a:cubicBezTo>
                    <a:pt x="6705600" y="1592072"/>
                    <a:pt x="6615176" y="1682496"/>
                    <a:pt x="6503670" y="1682496"/>
                  </a:cubicBezTo>
                  <a:lnTo>
                    <a:pt x="201930" y="1682496"/>
                  </a:lnTo>
                  <a:cubicBezTo>
                    <a:pt x="90424" y="1682496"/>
                    <a:pt x="0" y="1592072"/>
                    <a:pt x="0" y="1480566"/>
                  </a:cubicBezTo>
                  <a:close/>
                </a:path>
              </a:pathLst>
            </a:custGeom>
            <a:solidFill>
              <a:srgbClr val="15193A"/>
            </a:solidFill>
          </p:spPr>
        </p:sp>
      </p:grpSp>
      <p:grpSp>
        <p:nvGrpSpPr>
          <p:cNvPr name="Group 9" id="9"/>
          <p:cNvGrpSpPr/>
          <p:nvPr/>
        </p:nvGrpSpPr>
        <p:grpSpPr>
          <a:xfrm rot="0">
            <a:off x="12755880" y="2331720"/>
            <a:ext cx="1280160" cy="1261872"/>
            <a:chOff x="0" y="0"/>
            <a:chExt cx="1706880" cy="1682496"/>
          </a:xfrm>
        </p:grpSpPr>
        <p:sp>
          <p:nvSpPr>
            <p:cNvPr name="Freeform 10" id="10"/>
            <p:cNvSpPr/>
            <p:nvPr/>
          </p:nvSpPr>
          <p:spPr>
            <a:xfrm flipH="false" flipV="false" rot="0">
              <a:off x="0" y="0"/>
              <a:ext cx="1706880" cy="1682496"/>
            </a:xfrm>
            <a:custGeom>
              <a:avLst/>
              <a:gdLst/>
              <a:ahLst/>
              <a:cxnLst/>
              <a:rect r="r" b="b" t="t" l="l"/>
              <a:pathLst>
                <a:path h="1682496" w="1706880">
                  <a:moveTo>
                    <a:pt x="0" y="0"/>
                  </a:moveTo>
                  <a:lnTo>
                    <a:pt x="1706880" y="0"/>
                  </a:lnTo>
                  <a:lnTo>
                    <a:pt x="1706880" y="1682496"/>
                  </a:lnTo>
                  <a:lnTo>
                    <a:pt x="0" y="1682496"/>
                  </a:lnTo>
                  <a:close/>
                </a:path>
              </a:pathLst>
            </a:custGeom>
            <a:blipFill>
              <a:blip r:embed="rId3">
                <a:alphaModFix amt="0"/>
              </a:blip>
              <a:stretch>
                <a:fillRect l="-76470" t="0" r="-76470" b="0"/>
              </a:stretch>
            </a:blipFill>
          </p:spPr>
        </p:sp>
        <p:sp>
          <p:nvSpPr>
            <p:cNvPr name="TextBox 11" id="11"/>
            <p:cNvSpPr txBox="true"/>
            <p:nvPr/>
          </p:nvSpPr>
          <p:spPr>
            <a:xfrm>
              <a:off x="0" y="-47625"/>
              <a:ext cx="1706880" cy="1730121"/>
            </a:xfrm>
            <a:prstGeom prst="rect">
              <a:avLst/>
            </a:prstGeom>
          </p:spPr>
          <p:txBody>
            <a:bodyPr anchor="ctr" rtlCol="false" tIns="0" lIns="0" bIns="0" rIns="0"/>
            <a:lstStyle/>
            <a:p>
              <a:pPr algn="ctr">
                <a:lnSpc>
                  <a:spcPts val="5808"/>
                </a:lnSpc>
              </a:pPr>
              <a:r>
                <a:rPr lang="en-US" sz="4400" b="true">
                  <a:solidFill>
                    <a:srgbClr val="4ADE80"/>
                  </a:solidFill>
                  <a:latin typeface="Montserrat Bold"/>
                  <a:ea typeface="Montserrat Bold"/>
                  <a:cs typeface="Montserrat Bold"/>
                  <a:sym typeface="Montserrat Bold"/>
                </a:rPr>
                <a:t>6</a:t>
              </a:r>
            </a:p>
          </p:txBody>
        </p:sp>
      </p:grpSp>
      <p:grpSp>
        <p:nvGrpSpPr>
          <p:cNvPr name="Group 12" id="12"/>
          <p:cNvGrpSpPr/>
          <p:nvPr/>
        </p:nvGrpSpPr>
        <p:grpSpPr>
          <a:xfrm rot="0">
            <a:off x="14173200" y="2331720"/>
            <a:ext cx="3291840" cy="1261872"/>
            <a:chOff x="0" y="0"/>
            <a:chExt cx="4389120" cy="1682496"/>
          </a:xfrm>
        </p:grpSpPr>
        <p:sp>
          <p:nvSpPr>
            <p:cNvPr name="Freeform 13" id="13"/>
            <p:cNvSpPr/>
            <p:nvPr/>
          </p:nvSpPr>
          <p:spPr>
            <a:xfrm flipH="false" flipV="false" rot="0">
              <a:off x="0" y="0"/>
              <a:ext cx="4389120" cy="1682496"/>
            </a:xfrm>
            <a:custGeom>
              <a:avLst/>
              <a:gdLst/>
              <a:ahLst/>
              <a:cxnLst/>
              <a:rect r="r" b="b" t="t" l="l"/>
              <a:pathLst>
                <a:path h="1682496" w="4389120">
                  <a:moveTo>
                    <a:pt x="0" y="0"/>
                  </a:moveTo>
                  <a:lnTo>
                    <a:pt x="4389120" y="0"/>
                  </a:lnTo>
                  <a:lnTo>
                    <a:pt x="4389120" y="1682496"/>
                  </a:lnTo>
                  <a:lnTo>
                    <a:pt x="0" y="1682496"/>
                  </a:lnTo>
                  <a:close/>
                </a:path>
              </a:pathLst>
            </a:custGeom>
            <a:blipFill>
              <a:blip r:embed="rId3">
                <a:alphaModFix amt="0"/>
              </a:blip>
              <a:stretch>
                <a:fillRect l="0" t="-830" r="0" b="-830"/>
              </a:stretch>
            </a:blipFill>
          </p:spPr>
        </p:sp>
        <p:sp>
          <p:nvSpPr>
            <p:cNvPr name="TextBox 14" id="14"/>
            <p:cNvSpPr txBox="true"/>
            <p:nvPr/>
          </p:nvSpPr>
          <p:spPr>
            <a:xfrm>
              <a:off x="0" y="-19050"/>
              <a:ext cx="4389120" cy="1701546"/>
            </a:xfrm>
            <a:prstGeom prst="rect">
              <a:avLst/>
            </a:prstGeom>
          </p:spPr>
          <p:txBody>
            <a:bodyPr anchor="ctr" rtlCol="false" tIns="0" lIns="0" bIns="0" rIns="0"/>
            <a:lstStyle/>
            <a:p>
              <a:pPr algn="l">
                <a:lnSpc>
                  <a:spcPts val="2640"/>
                </a:lnSpc>
              </a:pPr>
              <a:r>
                <a:rPr lang="en-US" sz="2000" b="true">
                  <a:solidFill>
                    <a:srgbClr val="FFFFFF"/>
                  </a:solidFill>
                  <a:latin typeface="Montserrat Medium"/>
                  <a:ea typeface="Montserrat Medium"/>
                  <a:cs typeface="Montserrat Medium"/>
                  <a:sym typeface="Montserrat Medium"/>
                </a:rPr>
                <a:t>Completadas</a:t>
              </a:r>
            </a:p>
          </p:txBody>
        </p:sp>
      </p:grpSp>
      <p:grpSp>
        <p:nvGrpSpPr>
          <p:cNvPr name="Group 15" id="15"/>
          <p:cNvGrpSpPr/>
          <p:nvPr/>
        </p:nvGrpSpPr>
        <p:grpSpPr>
          <a:xfrm rot="0">
            <a:off x="12527280" y="3831336"/>
            <a:ext cx="5029200" cy="1261872"/>
            <a:chOff x="0" y="0"/>
            <a:chExt cx="6705600" cy="1682496"/>
          </a:xfrm>
        </p:grpSpPr>
        <p:sp>
          <p:nvSpPr>
            <p:cNvPr name="Freeform 16" id="16"/>
            <p:cNvSpPr/>
            <p:nvPr/>
          </p:nvSpPr>
          <p:spPr>
            <a:xfrm flipH="false" flipV="false" rot="0">
              <a:off x="0" y="0"/>
              <a:ext cx="6705600" cy="1682496"/>
            </a:xfrm>
            <a:custGeom>
              <a:avLst/>
              <a:gdLst/>
              <a:ahLst/>
              <a:cxnLst/>
              <a:rect r="r" b="b" t="t" l="l"/>
              <a:pathLst>
                <a:path h="1682496" w="6705600">
                  <a:moveTo>
                    <a:pt x="0" y="201930"/>
                  </a:moveTo>
                  <a:cubicBezTo>
                    <a:pt x="0" y="90424"/>
                    <a:pt x="90424" y="0"/>
                    <a:pt x="201930" y="0"/>
                  </a:cubicBezTo>
                  <a:lnTo>
                    <a:pt x="6503670" y="0"/>
                  </a:lnTo>
                  <a:cubicBezTo>
                    <a:pt x="6615176" y="0"/>
                    <a:pt x="6705600" y="90424"/>
                    <a:pt x="6705600" y="201930"/>
                  </a:cubicBezTo>
                  <a:lnTo>
                    <a:pt x="6705600" y="1480566"/>
                  </a:lnTo>
                  <a:cubicBezTo>
                    <a:pt x="6705600" y="1592072"/>
                    <a:pt x="6615176" y="1682496"/>
                    <a:pt x="6503670" y="1682496"/>
                  </a:cubicBezTo>
                  <a:lnTo>
                    <a:pt x="201930" y="1682496"/>
                  </a:lnTo>
                  <a:cubicBezTo>
                    <a:pt x="90424" y="1682496"/>
                    <a:pt x="0" y="1592072"/>
                    <a:pt x="0" y="1480566"/>
                  </a:cubicBezTo>
                  <a:close/>
                </a:path>
              </a:pathLst>
            </a:custGeom>
            <a:solidFill>
              <a:srgbClr val="15193A"/>
            </a:solidFill>
          </p:spPr>
        </p:sp>
      </p:grpSp>
      <p:grpSp>
        <p:nvGrpSpPr>
          <p:cNvPr name="Group 17" id="17"/>
          <p:cNvGrpSpPr/>
          <p:nvPr/>
        </p:nvGrpSpPr>
        <p:grpSpPr>
          <a:xfrm rot="0">
            <a:off x="12755880" y="3831336"/>
            <a:ext cx="1280160" cy="1261872"/>
            <a:chOff x="0" y="0"/>
            <a:chExt cx="1706880" cy="1682496"/>
          </a:xfrm>
        </p:grpSpPr>
        <p:sp>
          <p:nvSpPr>
            <p:cNvPr name="Freeform 18" id="18"/>
            <p:cNvSpPr/>
            <p:nvPr/>
          </p:nvSpPr>
          <p:spPr>
            <a:xfrm flipH="false" flipV="false" rot="0">
              <a:off x="0" y="0"/>
              <a:ext cx="1706880" cy="1682496"/>
            </a:xfrm>
            <a:custGeom>
              <a:avLst/>
              <a:gdLst/>
              <a:ahLst/>
              <a:cxnLst/>
              <a:rect r="r" b="b" t="t" l="l"/>
              <a:pathLst>
                <a:path h="1682496" w="1706880">
                  <a:moveTo>
                    <a:pt x="0" y="0"/>
                  </a:moveTo>
                  <a:lnTo>
                    <a:pt x="1706880" y="0"/>
                  </a:lnTo>
                  <a:lnTo>
                    <a:pt x="1706880" y="1682496"/>
                  </a:lnTo>
                  <a:lnTo>
                    <a:pt x="0" y="1682496"/>
                  </a:lnTo>
                  <a:close/>
                </a:path>
              </a:pathLst>
            </a:custGeom>
            <a:blipFill>
              <a:blip r:embed="rId3">
                <a:alphaModFix amt="0"/>
              </a:blip>
              <a:stretch>
                <a:fillRect l="-76470" t="0" r="-76470" b="0"/>
              </a:stretch>
            </a:blipFill>
          </p:spPr>
        </p:sp>
        <p:sp>
          <p:nvSpPr>
            <p:cNvPr name="TextBox 19" id="19"/>
            <p:cNvSpPr txBox="true"/>
            <p:nvPr/>
          </p:nvSpPr>
          <p:spPr>
            <a:xfrm>
              <a:off x="0" y="-47625"/>
              <a:ext cx="1706880" cy="1730121"/>
            </a:xfrm>
            <a:prstGeom prst="rect">
              <a:avLst/>
            </a:prstGeom>
          </p:spPr>
          <p:txBody>
            <a:bodyPr anchor="ctr" rtlCol="false" tIns="0" lIns="0" bIns="0" rIns="0"/>
            <a:lstStyle/>
            <a:p>
              <a:pPr algn="ctr">
                <a:lnSpc>
                  <a:spcPts val="5808"/>
                </a:lnSpc>
              </a:pPr>
              <a:r>
                <a:rPr lang="en-US" sz="4400" b="true">
                  <a:solidFill>
                    <a:srgbClr val="8FA8FF"/>
                  </a:solidFill>
                  <a:latin typeface="Montserrat Bold"/>
                  <a:ea typeface="Montserrat Bold"/>
                  <a:cs typeface="Montserrat Bold"/>
                  <a:sym typeface="Montserrat Bold"/>
                </a:rPr>
                <a:t>2</a:t>
              </a:r>
            </a:p>
          </p:txBody>
        </p:sp>
      </p:grpSp>
      <p:grpSp>
        <p:nvGrpSpPr>
          <p:cNvPr name="Group 20" id="20"/>
          <p:cNvGrpSpPr/>
          <p:nvPr/>
        </p:nvGrpSpPr>
        <p:grpSpPr>
          <a:xfrm rot="0">
            <a:off x="14173200" y="3831336"/>
            <a:ext cx="3291840" cy="1261872"/>
            <a:chOff x="0" y="0"/>
            <a:chExt cx="4389120" cy="1682496"/>
          </a:xfrm>
        </p:grpSpPr>
        <p:sp>
          <p:nvSpPr>
            <p:cNvPr name="Freeform 21" id="21"/>
            <p:cNvSpPr/>
            <p:nvPr/>
          </p:nvSpPr>
          <p:spPr>
            <a:xfrm flipH="false" flipV="false" rot="0">
              <a:off x="0" y="0"/>
              <a:ext cx="4389120" cy="1682496"/>
            </a:xfrm>
            <a:custGeom>
              <a:avLst/>
              <a:gdLst/>
              <a:ahLst/>
              <a:cxnLst/>
              <a:rect r="r" b="b" t="t" l="l"/>
              <a:pathLst>
                <a:path h="1682496" w="4389120">
                  <a:moveTo>
                    <a:pt x="0" y="0"/>
                  </a:moveTo>
                  <a:lnTo>
                    <a:pt x="4389120" y="0"/>
                  </a:lnTo>
                  <a:lnTo>
                    <a:pt x="4389120" y="1682496"/>
                  </a:lnTo>
                  <a:lnTo>
                    <a:pt x="0" y="1682496"/>
                  </a:lnTo>
                  <a:close/>
                </a:path>
              </a:pathLst>
            </a:custGeom>
            <a:blipFill>
              <a:blip r:embed="rId3">
                <a:alphaModFix amt="0"/>
              </a:blip>
              <a:stretch>
                <a:fillRect l="0" t="-830" r="0" b="-830"/>
              </a:stretch>
            </a:blipFill>
          </p:spPr>
        </p:sp>
        <p:sp>
          <p:nvSpPr>
            <p:cNvPr name="TextBox 22" id="22"/>
            <p:cNvSpPr txBox="true"/>
            <p:nvPr/>
          </p:nvSpPr>
          <p:spPr>
            <a:xfrm>
              <a:off x="0" y="-19050"/>
              <a:ext cx="4389120" cy="1701546"/>
            </a:xfrm>
            <a:prstGeom prst="rect">
              <a:avLst/>
            </a:prstGeom>
          </p:spPr>
          <p:txBody>
            <a:bodyPr anchor="ctr" rtlCol="false" tIns="0" lIns="0" bIns="0" rIns="0"/>
            <a:lstStyle/>
            <a:p>
              <a:pPr algn="l">
                <a:lnSpc>
                  <a:spcPts val="2640"/>
                </a:lnSpc>
              </a:pPr>
              <a:r>
                <a:rPr lang="en-US" sz="2000" b="true">
                  <a:solidFill>
                    <a:srgbClr val="FFFFFF"/>
                  </a:solidFill>
                  <a:latin typeface="Montserrat Medium"/>
                  <a:ea typeface="Montserrat Medium"/>
                  <a:cs typeface="Montserrat Medium"/>
                  <a:sym typeface="Montserrat Medium"/>
                </a:rPr>
                <a:t>Ajustadas</a:t>
              </a:r>
            </a:p>
          </p:txBody>
        </p:sp>
      </p:grpSp>
      <p:grpSp>
        <p:nvGrpSpPr>
          <p:cNvPr name="Group 23" id="23"/>
          <p:cNvGrpSpPr/>
          <p:nvPr/>
        </p:nvGrpSpPr>
        <p:grpSpPr>
          <a:xfrm rot="0">
            <a:off x="12527280" y="5330952"/>
            <a:ext cx="5029200" cy="1261872"/>
            <a:chOff x="0" y="0"/>
            <a:chExt cx="6705600" cy="1682496"/>
          </a:xfrm>
        </p:grpSpPr>
        <p:sp>
          <p:nvSpPr>
            <p:cNvPr name="Freeform 24" id="24"/>
            <p:cNvSpPr/>
            <p:nvPr/>
          </p:nvSpPr>
          <p:spPr>
            <a:xfrm flipH="false" flipV="false" rot="0">
              <a:off x="0" y="0"/>
              <a:ext cx="6705600" cy="1682496"/>
            </a:xfrm>
            <a:custGeom>
              <a:avLst/>
              <a:gdLst/>
              <a:ahLst/>
              <a:cxnLst/>
              <a:rect r="r" b="b" t="t" l="l"/>
              <a:pathLst>
                <a:path h="1682496" w="6705600">
                  <a:moveTo>
                    <a:pt x="0" y="201930"/>
                  </a:moveTo>
                  <a:cubicBezTo>
                    <a:pt x="0" y="90424"/>
                    <a:pt x="90424" y="0"/>
                    <a:pt x="201930" y="0"/>
                  </a:cubicBezTo>
                  <a:lnTo>
                    <a:pt x="6503670" y="0"/>
                  </a:lnTo>
                  <a:cubicBezTo>
                    <a:pt x="6615176" y="0"/>
                    <a:pt x="6705600" y="90424"/>
                    <a:pt x="6705600" y="201930"/>
                  </a:cubicBezTo>
                  <a:lnTo>
                    <a:pt x="6705600" y="1480566"/>
                  </a:lnTo>
                  <a:cubicBezTo>
                    <a:pt x="6705600" y="1592072"/>
                    <a:pt x="6615176" y="1682496"/>
                    <a:pt x="6503670" y="1682496"/>
                  </a:cubicBezTo>
                  <a:lnTo>
                    <a:pt x="201930" y="1682496"/>
                  </a:lnTo>
                  <a:cubicBezTo>
                    <a:pt x="90424" y="1682496"/>
                    <a:pt x="0" y="1592072"/>
                    <a:pt x="0" y="1480566"/>
                  </a:cubicBezTo>
                  <a:close/>
                </a:path>
              </a:pathLst>
            </a:custGeom>
            <a:solidFill>
              <a:srgbClr val="15193A"/>
            </a:solidFill>
          </p:spPr>
        </p:sp>
      </p:grpSp>
      <p:grpSp>
        <p:nvGrpSpPr>
          <p:cNvPr name="Group 25" id="25"/>
          <p:cNvGrpSpPr/>
          <p:nvPr/>
        </p:nvGrpSpPr>
        <p:grpSpPr>
          <a:xfrm rot="0">
            <a:off x="12755880" y="5330952"/>
            <a:ext cx="1280160" cy="1261872"/>
            <a:chOff x="0" y="0"/>
            <a:chExt cx="1706880" cy="1682496"/>
          </a:xfrm>
        </p:grpSpPr>
        <p:sp>
          <p:nvSpPr>
            <p:cNvPr name="Freeform 26" id="26"/>
            <p:cNvSpPr/>
            <p:nvPr/>
          </p:nvSpPr>
          <p:spPr>
            <a:xfrm flipH="false" flipV="false" rot="0">
              <a:off x="0" y="0"/>
              <a:ext cx="1706880" cy="1682496"/>
            </a:xfrm>
            <a:custGeom>
              <a:avLst/>
              <a:gdLst/>
              <a:ahLst/>
              <a:cxnLst/>
              <a:rect r="r" b="b" t="t" l="l"/>
              <a:pathLst>
                <a:path h="1682496" w="1706880">
                  <a:moveTo>
                    <a:pt x="0" y="0"/>
                  </a:moveTo>
                  <a:lnTo>
                    <a:pt x="1706880" y="0"/>
                  </a:lnTo>
                  <a:lnTo>
                    <a:pt x="1706880" y="1682496"/>
                  </a:lnTo>
                  <a:lnTo>
                    <a:pt x="0" y="1682496"/>
                  </a:lnTo>
                  <a:close/>
                </a:path>
              </a:pathLst>
            </a:custGeom>
            <a:blipFill>
              <a:blip r:embed="rId3">
                <a:alphaModFix amt="0"/>
              </a:blip>
              <a:stretch>
                <a:fillRect l="-76470" t="0" r="-76470" b="0"/>
              </a:stretch>
            </a:blipFill>
          </p:spPr>
        </p:sp>
        <p:sp>
          <p:nvSpPr>
            <p:cNvPr name="TextBox 27" id="27"/>
            <p:cNvSpPr txBox="true"/>
            <p:nvPr/>
          </p:nvSpPr>
          <p:spPr>
            <a:xfrm>
              <a:off x="0" y="-47625"/>
              <a:ext cx="1706880" cy="1730121"/>
            </a:xfrm>
            <a:prstGeom prst="rect">
              <a:avLst/>
            </a:prstGeom>
          </p:spPr>
          <p:txBody>
            <a:bodyPr anchor="ctr" rtlCol="false" tIns="0" lIns="0" bIns="0" rIns="0"/>
            <a:lstStyle/>
            <a:p>
              <a:pPr algn="ctr">
                <a:lnSpc>
                  <a:spcPts val="5808"/>
                </a:lnSpc>
              </a:pPr>
              <a:r>
                <a:rPr lang="en-US" sz="4400" b="true">
                  <a:solidFill>
                    <a:srgbClr val="FBA94C"/>
                  </a:solidFill>
                  <a:latin typeface="Montserrat Bold"/>
                  <a:ea typeface="Montserrat Bold"/>
                  <a:cs typeface="Montserrat Bold"/>
                  <a:sym typeface="Montserrat Bold"/>
                </a:rPr>
                <a:t>3</a:t>
              </a:r>
            </a:p>
          </p:txBody>
        </p:sp>
      </p:grpSp>
      <p:grpSp>
        <p:nvGrpSpPr>
          <p:cNvPr name="Group 28" id="28"/>
          <p:cNvGrpSpPr/>
          <p:nvPr/>
        </p:nvGrpSpPr>
        <p:grpSpPr>
          <a:xfrm rot="0">
            <a:off x="14173200" y="5330952"/>
            <a:ext cx="3291840" cy="1261872"/>
            <a:chOff x="0" y="0"/>
            <a:chExt cx="4389120" cy="1682496"/>
          </a:xfrm>
        </p:grpSpPr>
        <p:sp>
          <p:nvSpPr>
            <p:cNvPr name="Freeform 29" id="29"/>
            <p:cNvSpPr/>
            <p:nvPr/>
          </p:nvSpPr>
          <p:spPr>
            <a:xfrm flipH="false" flipV="false" rot="0">
              <a:off x="0" y="0"/>
              <a:ext cx="4389120" cy="1682496"/>
            </a:xfrm>
            <a:custGeom>
              <a:avLst/>
              <a:gdLst/>
              <a:ahLst/>
              <a:cxnLst/>
              <a:rect r="r" b="b" t="t" l="l"/>
              <a:pathLst>
                <a:path h="1682496" w="4389120">
                  <a:moveTo>
                    <a:pt x="0" y="0"/>
                  </a:moveTo>
                  <a:lnTo>
                    <a:pt x="4389120" y="0"/>
                  </a:lnTo>
                  <a:lnTo>
                    <a:pt x="4389120" y="1682496"/>
                  </a:lnTo>
                  <a:lnTo>
                    <a:pt x="0" y="1682496"/>
                  </a:lnTo>
                  <a:close/>
                </a:path>
              </a:pathLst>
            </a:custGeom>
            <a:blipFill>
              <a:blip r:embed="rId3">
                <a:alphaModFix amt="0"/>
              </a:blip>
              <a:stretch>
                <a:fillRect l="0" t="-830" r="0" b="-830"/>
              </a:stretch>
            </a:blipFill>
          </p:spPr>
        </p:sp>
        <p:sp>
          <p:nvSpPr>
            <p:cNvPr name="TextBox 30" id="30"/>
            <p:cNvSpPr txBox="true"/>
            <p:nvPr/>
          </p:nvSpPr>
          <p:spPr>
            <a:xfrm>
              <a:off x="0" y="-19050"/>
              <a:ext cx="4389120" cy="1701546"/>
            </a:xfrm>
            <a:prstGeom prst="rect">
              <a:avLst/>
            </a:prstGeom>
          </p:spPr>
          <p:txBody>
            <a:bodyPr anchor="ctr" rtlCol="false" tIns="0" lIns="0" bIns="0" rIns="0"/>
            <a:lstStyle/>
            <a:p>
              <a:pPr algn="l">
                <a:lnSpc>
                  <a:spcPts val="2640"/>
                </a:lnSpc>
              </a:pPr>
              <a:r>
                <a:rPr lang="en-US" sz="2000" b="true">
                  <a:solidFill>
                    <a:srgbClr val="FFFFFF"/>
                  </a:solidFill>
                  <a:latin typeface="Montserrat Medium"/>
                  <a:ea typeface="Montserrat Medium"/>
                  <a:cs typeface="Montserrat Medium"/>
                  <a:sym typeface="Montserrat Medium"/>
                </a:rPr>
                <a:t>En curso</a:t>
              </a:r>
            </a:p>
          </p:txBody>
        </p:sp>
      </p:grpSp>
      <p:grpSp>
        <p:nvGrpSpPr>
          <p:cNvPr name="Group 31" id="31"/>
          <p:cNvGrpSpPr/>
          <p:nvPr/>
        </p:nvGrpSpPr>
        <p:grpSpPr>
          <a:xfrm rot="0">
            <a:off x="12527280" y="6830568"/>
            <a:ext cx="5029200" cy="1261872"/>
            <a:chOff x="0" y="0"/>
            <a:chExt cx="6705600" cy="1682496"/>
          </a:xfrm>
        </p:grpSpPr>
        <p:sp>
          <p:nvSpPr>
            <p:cNvPr name="Freeform 32" id="32"/>
            <p:cNvSpPr/>
            <p:nvPr/>
          </p:nvSpPr>
          <p:spPr>
            <a:xfrm flipH="false" flipV="false" rot="0">
              <a:off x="0" y="0"/>
              <a:ext cx="6705600" cy="1682496"/>
            </a:xfrm>
            <a:custGeom>
              <a:avLst/>
              <a:gdLst/>
              <a:ahLst/>
              <a:cxnLst/>
              <a:rect r="r" b="b" t="t" l="l"/>
              <a:pathLst>
                <a:path h="1682496" w="6705600">
                  <a:moveTo>
                    <a:pt x="0" y="201930"/>
                  </a:moveTo>
                  <a:cubicBezTo>
                    <a:pt x="0" y="90424"/>
                    <a:pt x="90424" y="0"/>
                    <a:pt x="201930" y="0"/>
                  </a:cubicBezTo>
                  <a:lnTo>
                    <a:pt x="6503670" y="0"/>
                  </a:lnTo>
                  <a:cubicBezTo>
                    <a:pt x="6615176" y="0"/>
                    <a:pt x="6705600" y="90424"/>
                    <a:pt x="6705600" y="201930"/>
                  </a:cubicBezTo>
                  <a:lnTo>
                    <a:pt x="6705600" y="1480566"/>
                  </a:lnTo>
                  <a:cubicBezTo>
                    <a:pt x="6705600" y="1592072"/>
                    <a:pt x="6615176" y="1682496"/>
                    <a:pt x="6503670" y="1682496"/>
                  </a:cubicBezTo>
                  <a:lnTo>
                    <a:pt x="201930" y="1682496"/>
                  </a:lnTo>
                  <a:cubicBezTo>
                    <a:pt x="90424" y="1682496"/>
                    <a:pt x="0" y="1592072"/>
                    <a:pt x="0" y="1480566"/>
                  </a:cubicBezTo>
                  <a:close/>
                </a:path>
              </a:pathLst>
            </a:custGeom>
            <a:solidFill>
              <a:srgbClr val="15193A"/>
            </a:solidFill>
          </p:spPr>
        </p:sp>
      </p:grpSp>
      <p:grpSp>
        <p:nvGrpSpPr>
          <p:cNvPr name="Group 33" id="33"/>
          <p:cNvGrpSpPr/>
          <p:nvPr/>
        </p:nvGrpSpPr>
        <p:grpSpPr>
          <a:xfrm rot="0">
            <a:off x="12755880" y="6830568"/>
            <a:ext cx="1280160" cy="1261872"/>
            <a:chOff x="0" y="0"/>
            <a:chExt cx="1706880" cy="1682496"/>
          </a:xfrm>
        </p:grpSpPr>
        <p:sp>
          <p:nvSpPr>
            <p:cNvPr name="Freeform 34" id="34"/>
            <p:cNvSpPr/>
            <p:nvPr/>
          </p:nvSpPr>
          <p:spPr>
            <a:xfrm flipH="false" flipV="false" rot="0">
              <a:off x="0" y="0"/>
              <a:ext cx="1706880" cy="1682496"/>
            </a:xfrm>
            <a:custGeom>
              <a:avLst/>
              <a:gdLst/>
              <a:ahLst/>
              <a:cxnLst/>
              <a:rect r="r" b="b" t="t" l="l"/>
              <a:pathLst>
                <a:path h="1682496" w="1706880">
                  <a:moveTo>
                    <a:pt x="0" y="0"/>
                  </a:moveTo>
                  <a:lnTo>
                    <a:pt x="1706880" y="0"/>
                  </a:lnTo>
                  <a:lnTo>
                    <a:pt x="1706880" y="1682496"/>
                  </a:lnTo>
                  <a:lnTo>
                    <a:pt x="0" y="1682496"/>
                  </a:lnTo>
                  <a:close/>
                </a:path>
              </a:pathLst>
            </a:custGeom>
            <a:blipFill>
              <a:blip r:embed="rId3">
                <a:alphaModFix amt="0"/>
              </a:blip>
              <a:stretch>
                <a:fillRect l="-76470" t="0" r="-76470" b="0"/>
              </a:stretch>
            </a:blipFill>
          </p:spPr>
        </p:sp>
        <p:sp>
          <p:nvSpPr>
            <p:cNvPr name="TextBox 35" id="35"/>
            <p:cNvSpPr txBox="true"/>
            <p:nvPr/>
          </p:nvSpPr>
          <p:spPr>
            <a:xfrm>
              <a:off x="0" y="-47625"/>
              <a:ext cx="1706880" cy="1730121"/>
            </a:xfrm>
            <a:prstGeom prst="rect">
              <a:avLst/>
            </a:prstGeom>
          </p:spPr>
          <p:txBody>
            <a:bodyPr anchor="ctr" rtlCol="false" tIns="0" lIns="0" bIns="0" rIns="0"/>
            <a:lstStyle/>
            <a:p>
              <a:pPr algn="ctr">
                <a:lnSpc>
                  <a:spcPts val="5808"/>
                </a:lnSpc>
              </a:pPr>
              <a:r>
                <a:rPr lang="en-US" sz="4400" b="true">
                  <a:solidFill>
                    <a:srgbClr val="8A93B8"/>
                  </a:solidFill>
                  <a:latin typeface="Montserrat Bold"/>
                  <a:ea typeface="Montserrat Bold"/>
                  <a:cs typeface="Montserrat Bold"/>
                  <a:sym typeface="Montserrat Bold"/>
                </a:rPr>
                <a:t>2</a:t>
              </a:r>
            </a:p>
          </p:txBody>
        </p:sp>
      </p:grpSp>
      <p:grpSp>
        <p:nvGrpSpPr>
          <p:cNvPr name="Group 36" id="36"/>
          <p:cNvGrpSpPr/>
          <p:nvPr/>
        </p:nvGrpSpPr>
        <p:grpSpPr>
          <a:xfrm rot="0">
            <a:off x="14173200" y="6830568"/>
            <a:ext cx="3291840" cy="1261872"/>
            <a:chOff x="0" y="0"/>
            <a:chExt cx="4389120" cy="1682496"/>
          </a:xfrm>
        </p:grpSpPr>
        <p:sp>
          <p:nvSpPr>
            <p:cNvPr name="Freeform 37" id="37"/>
            <p:cNvSpPr/>
            <p:nvPr/>
          </p:nvSpPr>
          <p:spPr>
            <a:xfrm flipH="false" flipV="false" rot="0">
              <a:off x="0" y="0"/>
              <a:ext cx="4389120" cy="1682496"/>
            </a:xfrm>
            <a:custGeom>
              <a:avLst/>
              <a:gdLst/>
              <a:ahLst/>
              <a:cxnLst/>
              <a:rect r="r" b="b" t="t" l="l"/>
              <a:pathLst>
                <a:path h="1682496" w="4389120">
                  <a:moveTo>
                    <a:pt x="0" y="0"/>
                  </a:moveTo>
                  <a:lnTo>
                    <a:pt x="4389120" y="0"/>
                  </a:lnTo>
                  <a:lnTo>
                    <a:pt x="4389120" y="1682496"/>
                  </a:lnTo>
                  <a:lnTo>
                    <a:pt x="0" y="1682496"/>
                  </a:lnTo>
                  <a:close/>
                </a:path>
              </a:pathLst>
            </a:custGeom>
            <a:blipFill>
              <a:blip r:embed="rId3">
                <a:alphaModFix amt="0"/>
              </a:blip>
              <a:stretch>
                <a:fillRect l="0" t="-830" r="0" b="-830"/>
              </a:stretch>
            </a:blipFill>
          </p:spPr>
        </p:sp>
        <p:sp>
          <p:nvSpPr>
            <p:cNvPr name="TextBox 38" id="38"/>
            <p:cNvSpPr txBox="true"/>
            <p:nvPr/>
          </p:nvSpPr>
          <p:spPr>
            <a:xfrm>
              <a:off x="0" y="-19050"/>
              <a:ext cx="4389120" cy="1701546"/>
            </a:xfrm>
            <a:prstGeom prst="rect">
              <a:avLst/>
            </a:prstGeom>
          </p:spPr>
          <p:txBody>
            <a:bodyPr anchor="ctr" rtlCol="false" tIns="0" lIns="0" bIns="0" rIns="0"/>
            <a:lstStyle/>
            <a:p>
              <a:pPr algn="l">
                <a:lnSpc>
                  <a:spcPts val="2640"/>
                </a:lnSpc>
              </a:pPr>
              <a:r>
                <a:rPr lang="en-US" sz="2000" b="true">
                  <a:solidFill>
                    <a:srgbClr val="FFFFFF"/>
                  </a:solidFill>
                  <a:latin typeface="Montserrat Medium"/>
                  <a:ea typeface="Montserrat Medium"/>
                  <a:cs typeface="Montserrat Medium"/>
                  <a:sym typeface="Montserrat Medium"/>
                </a:rPr>
                <a:t>No iniciadas</a:t>
              </a:r>
            </a:p>
          </p:txBody>
        </p:sp>
      </p:grpSp>
      <p:grpSp>
        <p:nvGrpSpPr>
          <p:cNvPr name="Group 39" id="39"/>
          <p:cNvGrpSpPr/>
          <p:nvPr/>
        </p:nvGrpSpPr>
        <p:grpSpPr>
          <a:xfrm rot="0">
            <a:off x="12527280" y="8330184"/>
            <a:ext cx="5029200" cy="1261872"/>
            <a:chOff x="0" y="0"/>
            <a:chExt cx="6705600" cy="1682496"/>
          </a:xfrm>
        </p:grpSpPr>
        <p:sp>
          <p:nvSpPr>
            <p:cNvPr name="Freeform 40" id="40"/>
            <p:cNvSpPr/>
            <p:nvPr/>
          </p:nvSpPr>
          <p:spPr>
            <a:xfrm flipH="false" flipV="false" rot="0">
              <a:off x="0" y="0"/>
              <a:ext cx="6705600" cy="1682496"/>
            </a:xfrm>
            <a:custGeom>
              <a:avLst/>
              <a:gdLst/>
              <a:ahLst/>
              <a:cxnLst/>
              <a:rect r="r" b="b" t="t" l="l"/>
              <a:pathLst>
                <a:path h="1682496" w="6705600">
                  <a:moveTo>
                    <a:pt x="0" y="201930"/>
                  </a:moveTo>
                  <a:cubicBezTo>
                    <a:pt x="0" y="90424"/>
                    <a:pt x="90424" y="0"/>
                    <a:pt x="201930" y="0"/>
                  </a:cubicBezTo>
                  <a:lnTo>
                    <a:pt x="6503670" y="0"/>
                  </a:lnTo>
                  <a:cubicBezTo>
                    <a:pt x="6615176" y="0"/>
                    <a:pt x="6705600" y="90424"/>
                    <a:pt x="6705600" y="201930"/>
                  </a:cubicBezTo>
                  <a:lnTo>
                    <a:pt x="6705600" y="1480566"/>
                  </a:lnTo>
                  <a:cubicBezTo>
                    <a:pt x="6705600" y="1592072"/>
                    <a:pt x="6615176" y="1682496"/>
                    <a:pt x="6503670" y="1682496"/>
                  </a:cubicBezTo>
                  <a:lnTo>
                    <a:pt x="201930" y="1682496"/>
                  </a:lnTo>
                  <a:cubicBezTo>
                    <a:pt x="90424" y="1682496"/>
                    <a:pt x="0" y="1592072"/>
                    <a:pt x="0" y="1480566"/>
                  </a:cubicBezTo>
                  <a:close/>
                </a:path>
              </a:pathLst>
            </a:custGeom>
            <a:solidFill>
              <a:srgbClr val="15193A"/>
            </a:solidFill>
          </p:spPr>
        </p:sp>
      </p:grpSp>
      <p:grpSp>
        <p:nvGrpSpPr>
          <p:cNvPr name="Group 41" id="41"/>
          <p:cNvGrpSpPr/>
          <p:nvPr/>
        </p:nvGrpSpPr>
        <p:grpSpPr>
          <a:xfrm rot="0">
            <a:off x="12755880" y="8330184"/>
            <a:ext cx="1280160" cy="1261872"/>
            <a:chOff x="0" y="0"/>
            <a:chExt cx="1706880" cy="1682496"/>
          </a:xfrm>
        </p:grpSpPr>
        <p:sp>
          <p:nvSpPr>
            <p:cNvPr name="Freeform 42" id="42"/>
            <p:cNvSpPr/>
            <p:nvPr/>
          </p:nvSpPr>
          <p:spPr>
            <a:xfrm flipH="false" flipV="false" rot="0">
              <a:off x="0" y="0"/>
              <a:ext cx="1706880" cy="1682496"/>
            </a:xfrm>
            <a:custGeom>
              <a:avLst/>
              <a:gdLst/>
              <a:ahLst/>
              <a:cxnLst/>
              <a:rect r="r" b="b" t="t" l="l"/>
              <a:pathLst>
                <a:path h="1682496" w="1706880">
                  <a:moveTo>
                    <a:pt x="0" y="0"/>
                  </a:moveTo>
                  <a:lnTo>
                    <a:pt x="1706880" y="0"/>
                  </a:lnTo>
                  <a:lnTo>
                    <a:pt x="1706880" y="1682496"/>
                  </a:lnTo>
                  <a:lnTo>
                    <a:pt x="0" y="1682496"/>
                  </a:lnTo>
                  <a:close/>
                </a:path>
              </a:pathLst>
            </a:custGeom>
            <a:blipFill>
              <a:blip r:embed="rId3">
                <a:alphaModFix amt="0"/>
              </a:blip>
              <a:stretch>
                <a:fillRect l="-76470" t="0" r="-76470" b="0"/>
              </a:stretch>
            </a:blipFill>
          </p:spPr>
        </p:sp>
        <p:sp>
          <p:nvSpPr>
            <p:cNvPr name="TextBox 43" id="43"/>
            <p:cNvSpPr txBox="true"/>
            <p:nvPr/>
          </p:nvSpPr>
          <p:spPr>
            <a:xfrm>
              <a:off x="0" y="-47625"/>
              <a:ext cx="1706880" cy="1730121"/>
            </a:xfrm>
            <a:prstGeom prst="rect">
              <a:avLst/>
            </a:prstGeom>
          </p:spPr>
          <p:txBody>
            <a:bodyPr anchor="ctr" rtlCol="false" tIns="0" lIns="0" bIns="0" rIns="0"/>
            <a:lstStyle/>
            <a:p>
              <a:pPr algn="ctr">
                <a:lnSpc>
                  <a:spcPts val="5808"/>
                </a:lnSpc>
              </a:pPr>
              <a:r>
                <a:rPr lang="en-US" sz="4400" b="true">
                  <a:solidFill>
                    <a:srgbClr val="FFFFFF"/>
                  </a:solidFill>
                  <a:latin typeface="Montserrat Bold"/>
                  <a:ea typeface="Montserrat Bold"/>
                  <a:cs typeface="Montserrat Bold"/>
                  <a:sym typeface="Montserrat Bold"/>
                </a:rPr>
                <a:t>0</a:t>
              </a:r>
            </a:p>
          </p:txBody>
        </p:sp>
      </p:grpSp>
      <p:grpSp>
        <p:nvGrpSpPr>
          <p:cNvPr name="Group 44" id="44"/>
          <p:cNvGrpSpPr/>
          <p:nvPr/>
        </p:nvGrpSpPr>
        <p:grpSpPr>
          <a:xfrm rot="0">
            <a:off x="14173200" y="8330184"/>
            <a:ext cx="3291840" cy="1261872"/>
            <a:chOff x="0" y="0"/>
            <a:chExt cx="4389120" cy="1682496"/>
          </a:xfrm>
        </p:grpSpPr>
        <p:sp>
          <p:nvSpPr>
            <p:cNvPr name="Freeform 45" id="45"/>
            <p:cNvSpPr/>
            <p:nvPr/>
          </p:nvSpPr>
          <p:spPr>
            <a:xfrm flipH="false" flipV="false" rot="0">
              <a:off x="0" y="0"/>
              <a:ext cx="4389120" cy="1682496"/>
            </a:xfrm>
            <a:custGeom>
              <a:avLst/>
              <a:gdLst/>
              <a:ahLst/>
              <a:cxnLst/>
              <a:rect r="r" b="b" t="t" l="l"/>
              <a:pathLst>
                <a:path h="1682496" w="4389120">
                  <a:moveTo>
                    <a:pt x="0" y="0"/>
                  </a:moveTo>
                  <a:lnTo>
                    <a:pt x="4389120" y="0"/>
                  </a:lnTo>
                  <a:lnTo>
                    <a:pt x="4389120" y="1682496"/>
                  </a:lnTo>
                  <a:lnTo>
                    <a:pt x="0" y="1682496"/>
                  </a:lnTo>
                  <a:close/>
                </a:path>
              </a:pathLst>
            </a:custGeom>
            <a:blipFill>
              <a:blip r:embed="rId3">
                <a:alphaModFix amt="0"/>
              </a:blip>
              <a:stretch>
                <a:fillRect l="0" t="-830" r="0" b="-830"/>
              </a:stretch>
            </a:blipFill>
          </p:spPr>
        </p:sp>
        <p:sp>
          <p:nvSpPr>
            <p:cNvPr name="TextBox 46" id="46"/>
            <p:cNvSpPr txBox="true"/>
            <p:nvPr/>
          </p:nvSpPr>
          <p:spPr>
            <a:xfrm>
              <a:off x="0" y="-19050"/>
              <a:ext cx="4389120" cy="1701546"/>
            </a:xfrm>
            <a:prstGeom prst="rect">
              <a:avLst/>
            </a:prstGeom>
          </p:spPr>
          <p:txBody>
            <a:bodyPr anchor="ctr" rtlCol="false" tIns="0" lIns="0" bIns="0" rIns="0"/>
            <a:lstStyle/>
            <a:p>
              <a:pPr algn="l">
                <a:lnSpc>
                  <a:spcPts val="2640"/>
                </a:lnSpc>
              </a:pPr>
              <a:r>
                <a:rPr lang="en-US" sz="2000" b="true">
                  <a:solidFill>
                    <a:srgbClr val="FFFFFF"/>
                  </a:solidFill>
                  <a:latin typeface="Montserrat Medium"/>
                  <a:ea typeface="Montserrat Medium"/>
                  <a:cs typeface="Montserrat Medium"/>
                  <a:sym typeface="Montserrat Medium"/>
                </a:rPr>
                <a:t>Con retraso</a:t>
              </a:r>
            </a:p>
          </p:txBody>
        </p:sp>
      </p:gr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37145" y="-68515"/>
            <a:ext cx="18288000" cy="10287000"/>
            <a:chOff x="0" y="0"/>
            <a:chExt cx="24384000" cy="13716000"/>
          </a:xfrm>
        </p:grpSpPr>
        <p:sp>
          <p:nvSpPr>
            <p:cNvPr name="Freeform 3" id="3" descr="fondo11_60.jpg"/>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lnTo>
                    <a:pt x="0" y="0"/>
                  </a:lnTo>
                  <a:close/>
                </a:path>
              </a:pathLst>
            </a:custGeom>
            <a:blipFill>
              <a:blip r:embed="rId2"/>
              <a:stretch>
                <a:fillRect l="0" t="-666" r="0" b="-666"/>
              </a:stretch>
            </a:blipFill>
          </p:spPr>
        </p:sp>
      </p:grpSp>
      <p:sp>
        <p:nvSpPr>
          <p:cNvPr name="TextBox 4" id="4"/>
          <p:cNvSpPr txBox="true"/>
          <p:nvPr/>
        </p:nvSpPr>
        <p:spPr>
          <a:xfrm rot="0">
            <a:off x="914400" y="355473"/>
            <a:ext cx="16459200" cy="760095"/>
          </a:xfrm>
          <a:prstGeom prst="rect">
            <a:avLst/>
          </a:prstGeom>
        </p:spPr>
        <p:txBody>
          <a:bodyPr anchor="t" rtlCol="false" tIns="0" lIns="0" bIns="0" rIns="0">
            <a:spAutoFit/>
          </a:bodyPr>
          <a:lstStyle/>
          <a:p>
            <a:pPr algn="ctr">
              <a:lnSpc>
                <a:spcPts val="3960"/>
              </a:lnSpc>
            </a:pPr>
            <a:r>
              <a:rPr lang="en-US" sz="3000">
                <a:solidFill>
                  <a:srgbClr val="FFFFFF"/>
                </a:solidFill>
                <a:latin typeface="Montserrat Light"/>
                <a:ea typeface="Montserrat Light"/>
                <a:cs typeface="Montserrat Light"/>
                <a:sym typeface="Montserrat Light"/>
              </a:rPr>
              <a:t>ARQUITECTURA</a:t>
            </a:r>
          </a:p>
        </p:txBody>
      </p:sp>
      <p:sp>
        <p:nvSpPr>
          <p:cNvPr name="TextBox 5" id="5"/>
          <p:cNvSpPr txBox="true"/>
          <p:nvPr/>
        </p:nvSpPr>
        <p:spPr>
          <a:xfrm rot="0">
            <a:off x="914400" y="912495"/>
            <a:ext cx="16459200" cy="1144905"/>
          </a:xfrm>
          <a:prstGeom prst="rect">
            <a:avLst/>
          </a:prstGeom>
        </p:spPr>
        <p:txBody>
          <a:bodyPr anchor="t" rtlCol="false" tIns="0" lIns="0" bIns="0" rIns="0">
            <a:spAutoFit/>
          </a:bodyPr>
          <a:lstStyle/>
          <a:p>
            <a:pPr algn="ctr">
              <a:lnSpc>
                <a:spcPts val="6863"/>
              </a:lnSpc>
            </a:pPr>
            <a:r>
              <a:rPr lang="en-US" sz="5199" b="true">
                <a:solidFill>
                  <a:srgbClr val="FFFFFF"/>
                </a:solidFill>
                <a:latin typeface="Montserrat Bold"/>
                <a:ea typeface="Montserrat Bold"/>
                <a:cs typeface="Montserrat Bold"/>
                <a:sym typeface="Montserrat Bold"/>
              </a:rPr>
              <a:t>ACTUAL</a:t>
            </a:r>
          </a:p>
        </p:txBody>
      </p:sp>
      <p:grpSp>
        <p:nvGrpSpPr>
          <p:cNvPr name="Group 6" id="6"/>
          <p:cNvGrpSpPr/>
          <p:nvPr/>
        </p:nvGrpSpPr>
        <p:grpSpPr>
          <a:xfrm rot="0">
            <a:off x="3785235" y="2505075"/>
            <a:ext cx="14283690" cy="5459730"/>
            <a:chOff x="0" y="0"/>
            <a:chExt cx="19044920" cy="7279640"/>
          </a:xfrm>
        </p:grpSpPr>
        <p:sp>
          <p:nvSpPr>
            <p:cNvPr name="Freeform 7" id="7"/>
            <p:cNvSpPr/>
            <p:nvPr/>
          </p:nvSpPr>
          <p:spPr>
            <a:xfrm flipH="false" flipV="false" rot="0">
              <a:off x="0" y="0"/>
              <a:ext cx="19044920" cy="7279639"/>
            </a:xfrm>
            <a:custGeom>
              <a:avLst/>
              <a:gdLst/>
              <a:ahLst/>
              <a:cxnLst/>
              <a:rect r="r" b="b" t="t" l="l"/>
              <a:pathLst>
                <a:path h="7279639" w="19044920">
                  <a:moveTo>
                    <a:pt x="0" y="363982"/>
                  </a:moveTo>
                  <a:cubicBezTo>
                    <a:pt x="0" y="162941"/>
                    <a:pt x="162941" y="0"/>
                    <a:pt x="363982" y="0"/>
                  </a:cubicBezTo>
                  <a:lnTo>
                    <a:pt x="18680937" y="0"/>
                  </a:lnTo>
                  <a:cubicBezTo>
                    <a:pt x="18881978" y="0"/>
                    <a:pt x="19044920" y="162941"/>
                    <a:pt x="19044920" y="363982"/>
                  </a:cubicBezTo>
                  <a:lnTo>
                    <a:pt x="19044920" y="6915658"/>
                  </a:lnTo>
                  <a:cubicBezTo>
                    <a:pt x="19044920" y="7116699"/>
                    <a:pt x="18881978" y="7279639"/>
                    <a:pt x="18680937" y="7279639"/>
                  </a:cubicBezTo>
                  <a:lnTo>
                    <a:pt x="363982" y="7279639"/>
                  </a:lnTo>
                  <a:cubicBezTo>
                    <a:pt x="162941" y="7279640"/>
                    <a:pt x="0" y="7116699"/>
                    <a:pt x="0" y="6915658"/>
                  </a:cubicBezTo>
                  <a:close/>
                </a:path>
              </a:pathLst>
            </a:custGeom>
            <a:solidFill>
              <a:srgbClr val="15193A">
                <a:alpha val="20000"/>
              </a:srgbClr>
            </a:solidFill>
            <a:ln w="19050" cap="sq">
              <a:solidFill>
                <a:srgbClr val="6F8BFF"/>
              </a:solidFill>
              <a:prstDash val="dash"/>
              <a:miter/>
            </a:ln>
          </p:spPr>
        </p:sp>
      </p:grpSp>
      <p:sp>
        <p:nvSpPr>
          <p:cNvPr name="TextBox 8" id="8"/>
          <p:cNvSpPr txBox="true"/>
          <p:nvPr/>
        </p:nvSpPr>
        <p:spPr>
          <a:xfrm rot="0">
            <a:off x="4023360" y="2614422"/>
            <a:ext cx="8229600" cy="384810"/>
          </a:xfrm>
          <a:prstGeom prst="rect">
            <a:avLst/>
          </a:prstGeom>
        </p:spPr>
        <p:txBody>
          <a:bodyPr anchor="t" rtlCol="false" tIns="0" lIns="0" bIns="0" rIns="0">
            <a:spAutoFit/>
          </a:bodyPr>
          <a:lstStyle/>
          <a:p>
            <a:pPr algn="l">
              <a:lnSpc>
                <a:spcPts val="1715"/>
              </a:lnSpc>
            </a:pPr>
            <a:r>
              <a:rPr lang="en-US" sz="1299" b="true">
                <a:solidFill>
                  <a:srgbClr val="C9D2F0"/>
                </a:solidFill>
                <a:latin typeface="Montserrat Bold"/>
                <a:ea typeface="Montserrat Bold"/>
                <a:cs typeface="Montserrat Bold"/>
                <a:sym typeface="Montserrat Bold"/>
              </a:rPr>
              <a:t>Docker Compose · 7 servicios corriendo</a:t>
            </a:r>
          </a:p>
        </p:txBody>
      </p:sp>
      <p:grpSp>
        <p:nvGrpSpPr>
          <p:cNvPr name="Group 9" id="9"/>
          <p:cNvGrpSpPr/>
          <p:nvPr/>
        </p:nvGrpSpPr>
        <p:grpSpPr>
          <a:xfrm rot="0">
            <a:off x="457200" y="3429000"/>
            <a:ext cx="2606040" cy="1325880"/>
            <a:chOff x="0" y="0"/>
            <a:chExt cx="3474720" cy="1767840"/>
          </a:xfrm>
        </p:grpSpPr>
        <p:sp>
          <p:nvSpPr>
            <p:cNvPr name="Freeform 10" id="10"/>
            <p:cNvSpPr/>
            <p:nvPr/>
          </p:nvSpPr>
          <p:spPr>
            <a:xfrm flipH="false" flipV="false" rot="0">
              <a:off x="0" y="0"/>
              <a:ext cx="3474720" cy="1767840"/>
            </a:xfrm>
            <a:custGeom>
              <a:avLst/>
              <a:gdLst/>
              <a:ahLst/>
              <a:cxnLst/>
              <a:rect r="r" b="b" t="t" l="l"/>
              <a:pathLst>
                <a:path h="1767840" w="3474720">
                  <a:moveTo>
                    <a:pt x="0" y="212090"/>
                  </a:moveTo>
                  <a:cubicBezTo>
                    <a:pt x="0" y="94996"/>
                    <a:pt x="94996" y="0"/>
                    <a:pt x="212090" y="0"/>
                  </a:cubicBezTo>
                  <a:lnTo>
                    <a:pt x="3262630" y="0"/>
                  </a:lnTo>
                  <a:cubicBezTo>
                    <a:pt x="3379851" y="0"/>
                    <a:pt x="3474720" y="94996"/>
                    <a:pt x="3474720" y="212090"/>
                  </a:cubicBezTo>
                  <a:lnTo>
                    <a:pt x="3474720" y="1555750"/>
                  </a:lnTo>
                  <a:cubicBezTo>
                    <a:pt x="3474720" y="1672971"/>
                    <a:pt x="3379724" y="1767840"/>
                    <a:pt x="3262630" y="1767840"/>
                  </a:cubicBezTo>
                  <a:lnTo>
                    <a:pt x="212090" y="1767840"/>
                  </a:lnTo>
                  <a:cubicBezTo>
                    <a:pt x="94996" y="1767840"/>
                    <a:pt x="0" y="1672844"/>
                    <a:pt x="0" y="1555750"/>
                  </a:cubicBezTo>
                  <a:close/>
                </a:path>
              </a:pathLst>
            </a:custGeom>
            <a:solidFill>
              <a:srgbClr val="1C2350"/>
            </a:solidFill>
          </p:spPr>
        </p:sp>
      </p:grpSp>
      <p:sp>
        <p:nvSpPr>
          <p:cNvPr name="TextBox 11" id="11"/>
          <p:cNvSpPr txBox="true"/>
          <p:nvPr/>
        </p:nvSpPr>
        <p:spPr>
          <a:xfrm rot="0">
            <a:off x="457200" y="3583305"/>
            <a:ext cx="2606040" cy="531495"/>
          </a:xfrm>
          <a:prstGeom prst="rect">
            <a:avLst/>
          </a:prstGeom>
        </p:spPr>
        <p:txBody>
          <a:bodyPr anchor="t" rtlCol="false" tIns="0" lIns="0" bIns="0" rIns="0">
            <a:spAutoFit/>
          </a:bodyPr>
          <a:lstStyle/>
          <a:p>
            <a:pPr algn="ctr">
              <a:lnSpc>
                <a:spcPts val="2903"/>
              </a:lnSpc>
            </a:pPr>
            <a:r>
              <a:rPr lang="en-US" sz="2199" b="true">
                <a:solidFill>
                  <a:srgbClr val="FFFFFF"/>
                </a:solidFill>
                <a:latin typeface="Montserrat Bold"/>
                <a:ea typeface="Montserrat Bold"/>
                <a:cs typeface="Montserrat Bold"/>
                <a:sym typeface="Montserrat Bold"/>
              </a:rPr>
              <a:t>Navegador</a:t>
            </a:r>
          </a:p>
        </p:txBody>
      </p:sp>
      <p:sp>
        <p:nvSpPr>
          <p:cNvPr name="TextBox 12" id="12"/>
          <p:cNvSpPr txBox="true"/>
          <p:nvPr/>
        </p:nvSpPr>
        <p:spPr>
          <a:xfrm rot="0">
            <a:off x="548640" y="4132707"/>
            <a:ext cx="2423160" cy="512445"/>
          </a:xfrm>
          <a:prstGeom prst="rect">
            <a:avLst/>
          </a:prstGeom>
        </p:spPr>
        <p:txBody>
          <a:bodyPr anchor="t" rtlCol="false" tIns="0" lIns="0" bIns="0" rIns="0">
            <a:spAutoFit/>
          </a:bodyPr>
          <a:lstStyle/>
          <a:p>
            <a:pPr algn="ctr">
              <a:lnSpc>
                <a:spcPts val="1782"/>
              </a:lnSpc>
            </a:pPr>
            <a:r>
              <a:rPr lang="en-US" sz="1350">
                <a:solidFill>
                  <a:srgbClr val="C9D2F0"/>
                </a:solidFill>
                <a:latin typeface="Montserrat"/>
                <a:ea typeface="Montserrat"/>
                <a:cs typeface="Montserrat"/>
                <a:sym typeface="Montserrat"/>
              </a:rPr>
              <a:t>Portal y consola /ops</a:t>
            </a:r>
          </a:p>
        </p:txBody>
      </p:sp>
      <p:grpSp>
        <p:nvGrpSpPr>
          <p:cNvPr name="Group 13" id="13"/>
          <p:cNvGrpSpPr/>
          <p:nvPr/>
        </p:nvGrpSpPr>
        <p:grpSpPr>
          <a:xfrm rot="0">
            <a:off x="4160520" y="3429000"/>
            <a:ext cx="2606040" cy="1325880"/>
            <a:chOff x="0" y="0"/>
            <a:chExt cx="3474720" cy="1767840"/>
          </a:xfrm>
        </p:grpSpPr>
        <p:sp>
          <p:nvSpPr>
            <p:cNvPr name="Freeform 14" id="14"/>
            <p:cNvSpPr/>
            <p:nvPr/>
          </p:nvSpPr>
          <p:spPr>
            <a:xfrm flipH="false" flipV="false" rot="0">
              <a:off x="0" y="0"/>
              <a:ext cx="3474720" cy="1767840"/>
            </a:xfrm>
            <a:custGeom>
              <a:avLst/>
              <a:gdLst/>
              <a:ahLst/>
              <a:cxnLst/>
              <a:rect r="r" b="b" t="t" l="l"/>
              <a:pathLst>
                <a:path h="1767840" w="3474720">
                  <a:moveTo>
                    <a:pt x="0" y="212090"/>
                  </a:moveTo>
                  <a:cubicBezTo>
                    <a:pt x="0" y="94996"/>
                    <a:pt x="94996" y="0"/>
                    <a:pt x="212090" y="0"/>
                  </a:cubicBezTo>
                  <a:lnTo>
                    <a:pt x="3262630" y="0"/>
                  </a:lnTo>
                  <a:cubicBezTo>
                    <a:pt x="3379851" y="0"/>
                    <a:pt x="3474720" y="94996"/>
                    <a:pt x="3474720" y="212090"/>
                  </a:cubicBezTo>
                  <a:lnTo>
                    <a:pt x="3474720" y="1555750"/>
                  </a:lnTo>
                  <a:cubicBezTo>
                    <a:pt x="3474720" y="1672971"/>
                    <a:pt x="3379724" y="1767840"/>
                    <a:pt x="3262630" y="1767840"/>
                  </a:cubicBezTo>
                  <a:lnTo>
                    <a:pt x="212090" y="1767840"/>
                  </a:lnTo>
                  <a:cubicBezTo>
                    <a:pt x="94996" y="1767840"/>
                    <a:pt x="0" y="1672844"/>
                    <a:pt x="0" y="1555750"/>
                  </a:cubicBezTo>
                  <a:close/>
                </a:path>
              </a:pathLst>
            </a:custGeom>
            <a:solidFill>
              <a:srgbClr val="15193A"/>
            </a:solidFill>
          </p:spPr>
        </p:sp>
      </p:grpSp>
      <p:sp>
        <p:nvSpPr>
          <p:cNvPr name="TextBox 15" id="15"/>
          <p:cNvSpPr txBox="true"/>
          <p:nvPr/>
        </p:nvSpPr>
        <p:spPr>
          <a:xfrm rot="0">
            <a:off x="4160520" y="3583305"/>
            <a:ext cx="2606040" cy="531495"/>
          </a:xfrm>
          <a:prstGeom prst="rect">
            <a:avLst/>
          </a:prstGeom>
        </p:spPr>
        <p:txBody>
          <a:bodyPr anchor="t" rtlCol="false" tIns="0" lIns="0" bIns="0" rIns="0">
            <a:spAutoFit/>
          </a:bodyPr>
          <a:lstStyle/>
          <a:p>
            <a:pPr algn="ctr">
              <a:lnSpc>
                <a:spcPts val="2903"/>
              </a:lnSpc>
            </a:pPr>
            <a:r>
              <a:rPr lang="en-US" sz="2199" b="true">
                <a:solidFill>
                  <a:srgbClr val="FFFFFF"/>
                </a:solidFill>
                <a:latin typeface="Montserrat Bold"/>
                <a:ea typeface="Montserrat Bold"/>
                <a:cs typeface="Montserrat Bold"/>
                <a:sym typeface="Montserrat Bold"/>
              </a:rPr>
              <a:t>web</a:t>
            </a:r>
          </a:p>
        </p:txBody>
      </p:sp>
      <p:sp>
        <p:nvSpPr>
          <p:cNvPr name="TextBox 16" id="16"/>
          <p:cNvSpPr txBox="true"/>
          <p:nvPr/>
        </p:nvSpPr>
        <p:spPr>
          <a:xfrm rot="0">
            <a:off x="4251960" y="4132707"/>
            <a:ext cx="2423160" cy="512445"/>
          </a:xfrm>
          <a:prstGeom prst="rect">
            <a:avLst/>
          </a:prstGeom>
        </p:spPr>
        <p:txBody>
          <a:bodyPr anchor="t" rtlCol="false" tIns="0" lIns="0" bIns="0" rIns="0">
            <a:spAutoFit/>
          </a:bodyPr>
          <a:lstStyle/>
          <a:p>
            <a:pPr algn="ctr">
              <a:lnSpc>
                <a:spcPts val="1782"/>
              </a:lnSpc>
            </a:pPr>
            <a:r>
              <a:rPr lang="en-US" sz="1350">
                <a:solidFill>
                  <a:srgbClr val="C9D2F0"/>
                </a:solidFill>
                <a:latin typeface="Montserrat"/>
                <a:ea typeface="Montserrat"/>
                <a:cs typeface="Montserrat"/>
                <a:sym typeface="Montserrat"/>
              </a:rPr>
              <a:t>Next.js 14 · puerto 3000</a:t>
            </a:r>
          </a:p>
        </p:txBody>
      </p:sp>
      <p:grpSp>
        <p:nvGrpSpPr>
          <p:cNvPr name="Group 17" id="17"/>
          <p:cNvGrpSpPr/>
          <p:nvPr/>
        </p:nvGrpSpPr>
        <p:grpSpPr>
          <a:xfrm rot="0">
            <a:off x="7863840" y="3429000"/>
            <a:ext cx="2606040" cy="1325880"/>
            <a:chOff x="0" y="0"/>
            <a:chExt cx="3474720" cy="1767840"/>
          </a:xfrm>
        </p:grpSpPr>
        <p:sp>
          <p:nvSpPr>
            <p:cNvPr name="Freeform 18" id="18"/>
            <p:cNvSpPr/>
            <p:nvPr/>
          </p:nvSpPr>
          <p:spPr>
            <a:xfrm flipH="false" flipV="false" rot="0">
              <a:off x="0" y="0"/>
              <a:ext cx="3474720" cy="1767840"/>
            </a:xfrm>
            <a:custGeom>
              <a:avLst/>
              <a:gdLst/>
              <a:ahLst/>
              <a:cxnLst/>
              <a:rect r="r" b="b" t="t" l="l"/>
              <a:pathLst>
                <a:path h="1767840" w="3474720">
                  <a:moveTo>
                    <a:pt x="0" y="212090"/>
                  </a:moveTo>
                  <a:cubicBezTo>
                    <a:pt x="0" y="94996"/>
                    <a:pt x="94996" y="0"/>
                    <a:pt x="212090" y="0"/>
                  </a:cubicBezTo>
                  <a:lnTo>
                    <a:pt x="3262630" y="0"/>
                  </a:lnTo>
                  <a:cubicBezTo>
                    <a:pt x="3379851" y="0"/>
                    <a:pt x="3474720" y="94996"/>
                    <a:pt x="3474720" y="212090"/>
                  </a:cubicBezTo>
                  <a:lnTo>
                    <a:pt x="3474720" y="1555750"/>
                  </a:lnTo>
                  <a:cubicBezTo>
                    <a:pt x="3474720" y="1672971"/>
                    <a:pt x="3379724" y="1767840"/>
                    <a:pt x="3262630" y="1767840"/>
                  </a:cubicBezTo>
                  <a:lnTo>
                    <a:pt x="212090" y="1767840"/>
                  </a:lnTo>
                  <a:cubicBezTo>
                    <a:pt x="94996" y="1767840"/>
                    <a:pt x="0" y="1672844"/>
                    <a:pt x="0" y="1555750"/>
                  </a:cubicBezTo>
                  <a:close/>
                </a:path>
              </a:pathLst>
            </a:custGeom>
            <a:solidFill>
              <a:srgbClr val="15193A"/>
            </a:solidFill>
          </p:spPr>
        </p:sp>
      </p:grpSp>
      <p:sp>
        <p:nvSpPr>
          <p:cNvPr name="TextBox 19" id="19"/>
          <p:cNvSpPr txBox="true"/>
          <p:nvPr/>
        </p:nvSpPr>
        <p:spPr>
          <a:xfrm rot="0">
            <a:off x="7863840" y="3583305"/>
            <a:ext cx="2606040" cy="531495"/>
          </a:xfrm>
          <a:prstGeom prst="rect">
            <a:avLst/>
          </a:prstGeom>
        </p:spPr>
        <p:txBody>
          <a:bodyPr anchor="t" rtlCol="false" tIns="0" lIns="0" bIns="0" rIns="0">
            <a:spAutoFit/>
          </a:bodyPr>
          <a:lstStyle/>
          <a:p>
            <a:pPr algn="ctr">
              <a:lnSpc>
                <a:spcPts val="2903"/>
              </a:lnSpc>
            </a:pPr>
            <a:r>
              <a:rPr lang="en-US" sz="2199" b="true">
                <a:solidFill>
                  <a:srgbClr val="FFFFFF"/>
                </a:solidFill>
                <a:latin typeface="Montserrat Bold"/>
                <a:ea typeface="Montserrat Bold"/>
                <a:cs typeface="Montserrat Bold"/>
                <a:sym typeface="Montserrat Bold"/>
              </a:rPr>
              <a:t>api</a:t>
            </a:r>
          </a:p>
        </p:txBody>
      </p:sp>
      <p:sp>
        <p:nvSpPr>
          <p:cNvPr name="TextBox 20" id="20"/>
          <p:cNvSpPr txBox="true"/>
          <p:nvPr/>
        </p:nvSpPr>
        <p:spPr>
          <a:xfrm rot="0">
            <a:off x="7955280" y="4132707"/>
            <a:ext cx="2423160" cy="512445"/>
          </a:xfrm>
          <a:prstGeom prst="rect">
            <a:avLst/>
          </a:prstGeom>
        </p:spPr>
        <p:txBody>
          <a:bodyPr anchor="t" rtlCol="false" tIns="0" lIns="0" bIns="0" rIns="0">
            <a:spAutoFit/>
          </a:bodyPr>
          <a:lstStyle/>
          <a:p>
            <a:pPr algn="ctr">
              <a:lnSpc>
                <a:spcPts val="1782"/>
              </a:lnSpc>
            </a:pPr>
            <a:r>
              <a:rPr lang="en-US" sz="1350">
                <a:solidFill>
                  <a:srgbClr val="C9D2F0"/>
                </a:solidFill>
                <a:latin typeface="Montserrat"/>
                <a:ea typeface="Montserrat"/>
                <a:cs typeface="Montserrat"/>
                <a:sym typeface="Montserrat"/>
              </a:rPr>
              <a:t>FastAPI · puerto 8000</a:t>
            </a:r>
          </a:p>
        </p:txBody>
      </p:sp>
      <p:grpSp>
        <p:nvGrpSpPr>
          <p:cNvPr name="Group 21" id="21"/>
          <p:cNvGrpSpPr/>
          <p:nvPr/>
        </p:nvGrpSpPr>
        <p:grpSpPr>
          <a:xfrm rot="0">
            <a:off x="11567160" y="3429000"/>
            <a:ext cx="2606040" cy="1325880"/>
            <a:chOff x="0" y="0"/>
            <a:chExt cx="3474720" cy="1767840"/>
          </a:xfrm>
        </p:grpSpPr>
        <p:sp>
          <p:nvSpPr>
            <p:cNvPr name="Freeform 22" id="22"/>
            <p:cNvSpPr/>
            <p:nvPr/>
          </p:nvSpPr>
          <p:spPr>
            <a:xfrm flipH="false" flipV="false" rot="0">
              <a:off x="0" y="0"/>
              <a:ext cx="3474720" cy="1767840"/>
            </a:xfrm>
            <a:custGeom>
              <a:avLst/>
              <a:gdLst/>
              <a:ahLst/>
              <a:cxnLst/>
              <a:rect r="r" b="b" t="t" l="l"/>
              <a:pathLst>
                <a:path h="1767840" w="3474720">
                  <a:moveTo>
                    <a:pt x="0" y="212090"/>
                  </a:moveTo>
                  <a:cubicBezTo>
                    <a:pt x="0" y="94996"/>
                    <a:pt x="94996" y="0"/>
                    <a:pt x="212090" y="0"/>
                  </a:cubicBezTo>
                  <a:lnTo>
                    <a:pt x="3262630" y="0"/>
                  </a:lnTo>
                  <a:cubicBezTo>
                    <a:pt x="3379851" y="0"/>
                    <a:pt x="3474720" y="94996"/>
                    <a:pt x="3474720" y="212090"/>
                  </a:cubicBezTo>
                  <a:lnTo>
                    <a:pt x="3474720" y="1555750"/>
                  </a:lnTo>
                  <a:cubicBezTo>
                    <a:pt x="3474720" y="1672971"/>
                    <a:pt x="3379724" y="1767840"/>
                    <a:pt x="3262630" y="1767840"/>
                  </a:cubicBezTo>
                  <a:lnTo>
                    <a:pt x="212090" y="1767840"/>
                  </a:lnTo>
                  <a:cubicBezTo>
                    <a:pt x="94996" y="1767840"/>
                    <a:pt x="0" y="1672844"/>
                    <a:pt x="0" y="1555750"/>
                  </a:cubicBezTo>
                  <a:close/>
                </a:path>
              </a:pathLst>
            </a:custGeom>
            <a:solidFill>
              <a:srgbClr val="15193A"/>
            </a:solidFill>
          </p:spPr>
        </p:sp>
      </p:grpSp>
      <p:sp>
        <p:nvSpPr>
          <p:cNvPr name="TextBox 23" id="23"/>
          <p:cNvSpPr txBox="true"/>
          <p:nvPr/>
        </p:nvSpPr>
        <p:spPr>
          <a:xfrm rot="0">
            <a:off x="11567160" y="3583305"/>
            <a:ext cx="2606040" cy="531495"/>
          </a:xfrm>
          <a:prstGeom prst="rect">
            <a:avLst/>
          </a:prstGeom>
        </p:spPr>
        <p:txBody>
          <a:bodyPr anchor="t" rtlCol="false" tIns="0" lIns="0" bIns="0" rIns="0">
            <a:spAutoFit/>
          </a:bodyPr>
          <a:lstStyle/>
          <a:p>
            <a:pPr algn="ctr">
              <a:lnSpc>
                <a:spcPts val="2903"/>
              </a:lnSpc>
            </a:pPr>
            <a:r>
              <a:rPr lang="en-US" sz="2199" b="true">
                <a:solidFill>
                  <a:srgbClr val="FFFFFF"/>
                </a:solidFill>
                <a:latin typeface="Montserrat Bold"/>
                <a:ea typeface="Montserrat Bold"/>
                <a:cs typeface="Montserrat Bold"/>
                <a:sym typeface="Montserrat Bold"/>
              </a:rPr>
              <a:t>db</a:t>
            </a:r>
          </a:p>
        </p:txBody>
      </p:sp>
      <p:sp>
        <p:nvSpPr>
          <p:cNvPr name="TextBox 24" id="24"/>
          <p:cNvSpPr txBox="true"/>
          <p:nvPr/>
        </p:nvSpPr>
        <p:spPr>
          <a:xfrm rot="0">
            <a:off x="11658600" y="4132707"/>
            <a:ext cx="2423160" cy="512445"/>
          </a:xfrm>
          <a:prstGeom prst="rect">
            <a:avLst/>
          </a:prstGeom>
        </p:spPr>
        <p:txBody>
          <a:bodyPr anchor="t" rtlCol="false" tIns="0" lIns="0" bIns="0" rIns="0">
            <a:spAutoFit/>
          </a:bodyPr>
          <a:lstStyle/>
          <a:p>
            <a:pPr algn="ctr">
              <a:lnSpc>
                <a:spcPts val="1782"/>
              </a:lnSpc>
            </a:pPr>
            <a:r>
              <a:rPr lang="en-US" sz="1350">
                <a:solidFill>
                  <a:srgbClr val="C9D2F0"/>
                </a:solidFill>
                <a:latin typeface="Montserrat"/>
                <a:ea typeface="Montserrat"/>
                <a:cs typeface="Montserrat"/>
                <a:sym typeface="Montserrat"/>
              </a:rPr>
              <a:t>PostgreSQL 16 · RLS</a:t>
            </a:r>
          </a:p>
        </p:txBody>
      </p:sp>
      <p:grpSp>
        <p:nvGrpSpPr>
          <p:cNvPr name="Group 25" id="25"/>
          <p:cNvGrpSpPr/>
          <p:nvPr/>
        </p:nvGrpSpPr>
        <p:grpSpPr>
          <a:xfrm rot="0">
            <a:off x="15270480" y="3429000"/>
            <a:ext cx="2606040" cy="1325880"/>
            <a:chOff x="0" y="0"/>
            <a:chExt cx="3474720" cy="1767840"/>
          </a:xfrm>
        </p:grpSpPr>
        <p:sp>
          <p:nvSpPr>
            <p:cNvPr name="Freeform 26" id="26"/>
            <p:cNvSpPr/>
            <p:nvPr/>
          </p:nvSpPr>
          <p:spPr>
            <a:xfrm flipH="false" flipV="false" rot="0">
              <a:off x="0" y="0"/>
              <a:ext cx="3474720" cy="1767840"/>
            </a:xfrm>
            <a:custGeom>
              <a:avLst/>
              <a:gdLst/>
              <a:ahLst/>
              <a:cxnLst/>
              <a:rect r="r" b="b" t="t" l="l"/>
              <a:pathLst>
                <a:path h="1767840" w="3474720">
                  <a:moveTo>
                    <a:pt x="0" y="212090"/>
                  </a:moveTo>
                  <a:cubicBezTo>
                    <a:pt x="0" y="94996"/>
                    <a:pt x="94996" y="0"/>
                    <a:pt x="212090" y="0"/>
                  </a:cubicBezTo>
                  <a:lnTo>
                    <a:pt x="3262630" y="0"/>
                  </a:lnTo>
                  <a:cubicBezTo>
                    <a:pt x="3379851" y="0"/>
                    <a:pt x="3474720" y="94996"/>
                    <a:pt x="3474720" y="212090"/>
                  </a:cubicBezTo>
                  <a:lnTo>
                    <a:pt x="3474720" y="1555750"/>
                  </a:lnTo>
                  <a:cubicBezTo>
                    <a:pt x="3474720" y="1672971"/>
                    <a:pt x="3379724" y="1767840"/>
                    <a:pt x="3262630" y="1767840"/>
                  </a:cubicBezTo>
                  <a:lnTo>
                    <a:pt x="212090" y="1767840"/>
                  </a:lnTo>
                  <a:cubicBezTo>
                    <a:pt x="94996" y="1767840"/>
                    <a:pt x="0" y="1672844"/>
                    <a:pt x="0" y="1555750"/>
                  </a:cubicBezTo>
                  <a:close/>
                </a:path>
              </a:pathLst>
            </a:custGeom>
            <a:solidFill>
              <a:srgbClr val="15193A"/>
            </a:solidFill>
          </p:spPr>
        </p:sp>
      </p:grpSp>
      <p:sp>
        <p:nvSpPr>
          <p:cNvPr name="TextBox 27" id="27"/>
          <p:cNvSpPr txBox="true"/>
          <p:nvPr/>
        </p:nvSpPr>
        <p:spPr>
          <a:xfrm rot="0">
            <a:off x="15270480" y="3583305"/>
            <a:ext cx="2606040" cy="531495"/>
          </a:xfrm>
          <a:prstGeom prst="rect">
            <a:avLst/>
          </a:prstGeom>
        </p:spPr>
        <p:txBody>
          <a:bodyPr anchor="t" rtlCol="false" tIns="0" lIns="0" bIns="0" rIns="0">
            <a:spAutoFit/>
          </a:bodyPr>
          <a:lstStyle/>
          <a:p>
            <a:pPr algn="ctr">
              <a:lnSpc>
                <a:spcPts val="2903"/>
              </a:lnSpc>
            </a:pPr>
            <a:r>
              <a:rPr lang="en-US" sz="2199" b="true">
                <a:solidFill>
                  <a:srgbClr val="FFFFFF"/>
                </a:solidFill>
                <a:latin typeface="Montserrat Bold"/>
                <a:ea typeface="Montserrat Bold"/>
                <a:cs typeface="Montserrat Bold"/>
                <a:sym typeface="Montserrat Bold"/>
              </a:rPr>
              <a:t>migrate</a:t>
            </a:r>
          </a:p>
        </p:txBody>
      </p:sp>
      <p:sp>
        <p:nvSpPr>
          <p:cNvPr name="TextBox 28" id="28"/>
          <p:cNvSpPr txBox="true"/>
          <p:nvPr/>
        </p:nvSpPr>
        <p:spPr>
          <a:xfrm rot="0">
            <a:off x="15361920" y="4132707"/>
            <a:ext cx="2423160" cy="512445"/>
          </a:xfrm>
          <a:prstGeom prst="rect">
            <a:avLst/>
          </a:prstGeom>
        </p:spPr>
        <p:txBody>
          <a:bodyPr anchor="t" rtlCol="false" tIns="0" lIns="0" bIns="0" rIns="0">
            <a:spAutoFit/>
          </a:bodyPr>
          <a:lstStyle/>
          <a:p>
            <a:pPr algn="ctr">
              <a:lnSpc>
                <a:spcPts val="1782"/>
              </a:lnSpc>
            </a:pPr>
            <a:r>
              <a:rPr lang="en-US" sz="1350">
                <a:solidFill>
                  <a:srgbClr val="C9D2F0"/>
                </a:solidFill>
                <a:latin typeface="Montserrat"/>
                <a:ea typeface="Montserrat"/>
                <a:cs typeface="Montserrat"/>
                <a:sym typeface="Montserrat"/>
              </a:rPr>
              <a:t>Aplica los scripts SQL</a:t>
            </a:r>
          </a:p>
        </p:txBody>
      </p:sp>
      <p:grpSp>
        <p:nvGrpSpPr>
          <p:cNvPr name="Group 29" id="29"/>
          <p:cNvGrpSpPr/>
          <p:nvPr/>
        </p:nvGrpSpPr>
        <p:grpSpPr>
          <a:xfrm rot="0">
            <a:off x="4160520" y="6172200"/>
            <a:ext cx="2606040" cy="1325880"/>
            <a:chOff x="0" y="0"/>
            <a:chExt cx="3474720" cy="1767840"/>
          </a:xfrm>
        </p:grpSpPr>
        <p:sp>
          <p:nvSpPr>
            <p:cNvPr name="Freeform 30" id="30"/>
            <p:cNvSpPr/>
            <p:nvPr/>
          </p:nvSpPr>
          <p:spPr>
            <a:xfrm flipH="false" flipV="false" rot="0">
              <a:off x="0" y="0"/>
              <a:ext cx="3474720" cy="1767840"/>
            </a:xfrm>
            <a:custGeom>
              <a:avLst/>
              <a:gdLst/>
              <a:ahLst/>
              <a:cxnLst/>
              <a:rect r="r" b="b" t="t" l="l"/>
              <a:pathLst>
                <a:path h="1767840" w="3474720">
                  <a:moveTo>
                    <a:pt x="0" y="212090"/>
                  </a:moveTo>
                  <a:cubicBezTo>
                    <a:pt x="0" y="94996"/>
                    <a:pt x="94996" y="0"/>
                    <a:pt x="212090" y="0"/>
                  </a:cubicBezTo>
                  <a:lnTo>
                    <a:pt x="3262630" y="0"/>
                  </a:lnTo>
                  <a:cubicBezTo>
                    <a:pt x="3379851" y="0"/>
                    <a:pt x="3474720" y="94996"/>
                    <a:pt x="3474720" y="212090"/>
                  </a:cubicBezTo>
                  <a:lnTo>
                    <a:pt x="3474720" y="1555750"/>
                  </a:lnTo>
                  <a:cubicBezTo>
                    <a:pt x="3474720" y="1672971"/>
                    <a:pt x="3379724" y="1767840"/>
                    <a:pt x="3262630" y="1767840"/>
                  </a:cubicBezTo>
                  <a:lnTo>
                    <a:pt x="212090" y="1767840"/>
                  </a:lnTo>
                  <a:cubicBezTo>
                    <a:pt x="94996" y="1767840"/>
                    <a:pt x="0" y="1672844"/>
                    <a:pt x="0" y="1555750"/>
                  </a:cubicBezTo>
                  <a:close/>
                </a:path>
              </a:pathLst>
            </a:custGeom>
            <a:solidFill>
              <a:srgbClr val="15193A"/>
            </a:solidFill>
          </p:spPr>
        </p:sp>
      </p:grpSp>
      <p:sp>
        <p:nvSpPr>
          <p:cNvPr name="TextBox 31" id="31"/>
          <p:cNvSpPr txBox="true"/>
          <p:nvPr/>
        </p:nvSpPr>
        <p:spPr>
          <a:xfrm rot="0">
            <a:off x="4160520" y="6326505"/>
            <a:ext cx="2606040" cy="531495"/>
          </a:xfrm>
          <a:prstGeom prst="rect">
            <a:avLst/>
          </a:prstGeom>
        </p:spPr>
        <p:txBody>
          <a:bodyPr anchor="t" rtlCol="false" tIns="0" lIns="0" bIns="0" rIns="0">
            <a:spAutoFit/>
          </a:bodyPr>
          <a:lstStyle/>
          <a:p>
            <a:pPr algn="ctr">
              <a:lnSpc>
                <a:spcPts val="2903"/>
              </a:lnSpc>
            </a:pPr>
            <a:r>
              <a:rPr lang="en-US" sz="2199" b="true">
                <a:solidFill>
                  <a:srgbClr val="FFFFFF"/>
                </a:solidFill>
                <a:latin typeface="Montserrat Bold"/>
                <a:ea typeface="Montserrat Bold"/>
                <a:cs typeface="Montserrat Bold"/>
                <a:sym typeface="Montserrat Bold"/>
              </a:rPr>
              <a:t>beat</a:t>
            </a:r>
          </a:p>
        </p:txBody>
      </p:sp>
      <p:sp>
        <p:nvSpPr>
          <p:cNvPr name="TextBox 32" id="32"/>
          <p:cNvSpPr txBox="true"/>
          <p:nvPr/>
        </p:nvSpPr>
        <p:spPr>
          <a:xfrm rot="0">
            <a:off x="4251960" y="6875907"/>
            <a:ext cx="2423160" cy="512445"/>
          </a:xfrm>
          <a:prstGeom prst="rect">
            <a:avLst/>
          </a:prstGeom>
        </p:spPr>
        <p:txBody>
          <a:bodyPr anchor="t" rtlCol="false" tIns="0" lIns="0" bIns="0" rIns="0">
            <a:spAutoFit/>
          </a:bodyPr>
          <a:lstStyle/>
          <a:p>
            <a:pPr algn="ctr">
              <a:lnSpc>
                <a:spcPts val="1782"/>
              </a:lnSpc>
            </a:pPr>
            <a:r>
              <a:rPr lang="en-US" sz="1350">
                <a:solidFill>
                  <a:srgbClr val="C9D2F0"/>
                </a:solidFill>
                <a:latin typeface="Montserrat"/>
                <a:ea typeface="Montserrat"/>
                <a:cs typeface="Montserrat"/>
                <a:sym typeface="Montserrat"/>
              </a:rPr>
              <a:t>Celery beat · cron</a:t>
            </a:r>
          </a:p>
        </p:txBody>
      </p:sp>
      <p:grpSp>
        <p:nvGrpSpPr>
          <p:cNvPr name="Group 33" id="33"/>
          <p:cNvGrpSpPr/>
          <p:nvPr/>
        </p:nvGrpSpPr>
        <p:grpSpPr>
          <a:xfrm rot="0">
            <a:off x="7863840" y="6172200"/>
            <a:ext cx="2606040" cy="1325880"/>
            <a:chOff x="0" y="0"/>
            <a:chExt cx="3474720" cy="1767840"/>
          </a:xfrm>
        </p:grpSpPr>
        <p:sp>
          <p:nvSpPr>
            <p:cNvPr name="Freeform 34" id="34"/>
            <p:cNvSpPr/>
            <p:nvPr/>
          </p:nvSpPr>
          <p:spPr>
            <a:xfrm flipH="false" flipV="false" rot="0">
              <a:off x="0" y="0"/>
              <a:ext cx="3474720" cy="1767840"/>
            </a:xfrm>
            <a:custGeom>
              <a:avLst/>
              <a:gdLst/>
              <a:ahLst/>
              <a:cxnLst/>
              <a:rect r="r" b="b" t="t" l="l"/>
              <a:pathLst>
                <a:path h="1767840" w="3474720">
                  <a:moveTo>
                    <a:pt x="0" y="212090"/>
                  </a:moveTo>
                  <a:cubicBezTo>
                    <a:pt x="0" y="94996"/>
                    <a:pt x="94996" y="0"/>
                    <a:pt x="212090" y="0"/>
                  </a:cubicBezTo>
                  <a:lnTo>
                    <a:pt x="3262630" y="0"/>
                  </a:lnTo>
                  <a:cubicBezTo>
                    <a:pt x="3379851" y="0"/>
                    <a:pt x="3474720" y="94996"/>
                    <a:pt x="3474720" y="212090"/>
                  </a:cubicBezTo>
                  <a:lnTo>
                    <a:pt x="3474720" y="1555750"/>
                  </a:lnTo>
                  <a:cubicBezTo>
                    <a:pt x="3474720" y="1672971"/>
                    <a:pt x="3379724" y="1767840"/>
                    <a:pt x="3262630" y="1767840"/>
                  </a:cubicBezTo>
                  <a:lnTo>
                    <a:pt x="212090" y="1767840"/>
                  </a:lnTo>
                  <a:cubicBezTo>
                    <a:pt x="94996" y="1767840"/>
                    <a:pt x="0" y="1672844"/>
                    <a:pt x="0" y="1555750"/>
                  </a:cubicBezTo>
                  <a:close/>
                </a:path>
              </a:pathLst>
            </a:custGeom>
            <a:solidFill>
              <a:srgbClr val="15193A"/>
            </a:solidFill>
          </p:spPr>
        </p:sp>
      </p:grpSp>
      <p:sp>
        <p:nvSpPr>
          <p:cNvPr name="TextBox 35" id="35"/>
          <p:cNvSpPr txBox="true"/>
          <p:nvPr/>
        </p:nvSpPr>
        <p:spPr>
          <a:xfrm rot="0">
            <a:off x="7863840" y="6326505"/>
            <a:ext cx="2606040" cy="531495"/>
          </a:xfrm>
          <a:prstGeom prst="rect">
            <a:avLst/>
          </a:prstGeom>
        </p:spPr>
        <p:txBody>
          <a:bodyPr anchor="t" rtlCol="false" tIns="0" lIns="0" bIns="0" rIns="0">
            <a:spAutoFit/>
          </a:bodyPr>
          <a:lstStyle/>
          <a:p>
            <a:pPr algn="ctr">
              <a:lnSpc>
                <a:spcPts val="2903"/>
              </a:lnSpc>
            </a:pPr>
            <a:r>
              <a:rPr lang="en-US" sz="2199" b="true">
                <a:solidFill>
                  <a:srgbClr val="FFFFFF"/>
                </a:solidFill>
                <a:latin typeface="Montserrat Bold"/>
                <a:ea typeface="Montserrat Bold"/>
                <a:cs typeface="Montserrat Bold"/>
                <a:sym typeface="Montserrat Bold"/>
              </a:rPr>
              <a:t>redis</a:t>
            </a:r>
          </a:p>
        </p:txBody>
      </p:sp>
      <p:sp>
        <p:nvSpPr>
          <p:cNvPr name="TextBox 36" id="36"/>
          <p:cNvSpPr txBox="true"/>
          <p:nvPr/>
        </p:nvSpPr>
        <p:spPr>
          <a:xfrm rot="0">
            <a:off x="7955280" y="6875907"/>
            <a:ext cx="2423160" cy="512445"/>
          </a:xfrm>
          <a:prstGeom prst="rect">
            <a:avLst/>
          </a:prstGeom>
        </p:spPr>
        <p:txBody>
          <a:bodyPr anchor="t" rtlCol="false" tIns="0" lIns="0" bIns="0" rIns="0">
            <a:spAutoFit/>
          </a:bodyPr>
          <a:lstStyle/>
          <a:p>
            <a:pPr algn="ctr">
              <a:lnSpc>
                <a:spcPts val="1782"/>
              </a:lnSpc>
            </a:pPr>
            <a:r>
              <a:rPr lang="en-US" sz="1350">
                <a:solidFill>
                  <a:srgbClr val="C9D2F0"/>
                </a:solidFill>
                <a:latin typeface="Montserrat"/>
                <a:ea typeface="Montserrat"/>
                <a:cs typeface="Montserrat"/>
                <a:sym typeface="Montserrat"/>
              </a:rPr>
              <a:t>Redis 7 · cola</a:t>
            </a:r>
          </a:p>
        </p:txBody>
      </p:sp>
      <p:grpSp>
        <p:nvGrpSpPr>
          <p:cNvPr name="Group 37" id="37"/>
          <p:cNvGrpSpPr/>
          <p:nvPr/>
        </p:nvGrpSpPr>
        <p:grpSpPr>
          <a:xfrm rot="0">
            <a:off x="11567160" y="6172200"/>
            <a:ext cx="2606040" cy="1325880"/>
            <a:chOff x="0" y="0"/>
            <a:chExt cx="3474720" cy="1767840"/>
          </a:xfrm>
        </p:grpSpPr>
        <p:sp>
          <p:nvSpPr>
            <p:cNvPr name="Freeform 38" id="38"/>
            <p:cNvSpPr/>
            <p:nvPr/>
          </p:nvSpPr>
          <p:spPr>
            <a:xfrm flipH="false" flipV="false" rot="0">
              <a:off x="0" y="0"/>
              <a:ext cx="3474720" cy="1767840"/>
            </a:xfrm>
            <a:custGeom>
              <a:avLst/>
              <a:gdLst/>
              <a:ahLst/>
              <a:cxnLst/>
              <a:rect r="r" b="b" t="t" l="l"/>
              <a:pathLst>
                <a:path h="1767840" w="3474720">
                  <a:moveTo>
                    <a:pt x="0" y="212090"/>
                  </a:moveTo>
                  <a:cubicBezTo>
                    <a:pt x="0" y="94996"/>
                    <a:pt x="94996" y="0"/>
                    <a:pt x="212090" y="0"/>
                  </a:cubicBezTo>
                  <a:lnTo>
                    <a:pt x="3262630" y="0"/>
                  </a:lnTo>
                  <a:cubicBezTo>
                    <a:pt x="3379851" y="0"/>
                    <a:pt x="3474720" y="94996"/>
                    <a:pt x="3474720" y="212090"/>
                  </a:cubicBezTo>
                  <a:lnTo>
                    <a:pt x="3474720" y="1555750"/>
                  </a:lnTo>
                  <a:cubicBezTo>
                    <a:pt x="3474720" y="1672971"/>
                    <a:pt x="3379724" y="1767840"/>
                    <a:pt x="3262630" y="1767840"/>
                  </a:cubicBezTo>
                  <a:lnTo>
                    <a:pt x="212090" y="1767840"/>
                  </a:lnTo>
                  <a:cubicBezTo>
                    <a:pt x="94996" y="1767840"/>
                    <a:pt x="0" y="1672844"/>
                    <a:pt x="0" y="1555750"/>
                  </a:cubicBezTo>
                  <a:close/>
                </a:path>
              </a:pathLst>
            </a:custGeom>
            <a:solidFill>
              <a:srgbClr val="15193A"/>
            </a:solidFill>
          </p:spPr>
        </p:sp>
      </p:grpSp>
      <p:sp>
        <p:nvSpPr>
          <p:cNvPr name="TextBox 39" id="39"/>
          <p:cNvSpPr txBox="true"/>
          <p:nvPr/>
        </p:nvSpPr>
        <p:spPr>
          <a:xfrm rot="0">
            <a:off x="11567160" y="6326505"/>
            <a:ext cx="2606040" cy="531495"/>
          </a:xfrm>
          <a:prstGeom prst="rect">
            <a:avLst/>
          </a:prstGeom>
        </p:spPr>
        <p:txBody>
          <a:bodyPr anchor="t" rtlCol="false" tIns="0" lIns="0" bIns="0" rIns="0">
            <a:spAutoFit/>
          </a:bodyPr>
          <a:lstStyle/>
          <a:p>
            <a:pPr algn="ctr">
              <a:lnSpc>
                <a:spcPts val="2903"/>
              </a:lnSpc>
            </a:pPr>
            <a:r>
              <a:rPr lang="en-US" sz="2199" b="true">
                <a:solidFill>
                  <a:srgbClr val="FFFFFF"/>
                </a:solidFill>
                <a:latin typeface="Montserrat Bold"/>
                <a:ea typeface="Montserrat Bold"/>
                <a:cs typeface="Montserrat Bold"/>
                <a:sym typeface="Montserrat Bold"/>
              </a:rPr>
              <a:t>worker</a:t>
            </a:r>
          </a:p>
        </p:txBody>
      </p:sp>
      <p:sp>
        <p:nvSpPr>
          <p:cNvPr name="TextBox 40" id="40"/>
          <p:cNvSpPr txBox="true"/>
          <p:nvPr/>
        </p:nvSpPr>
        <p:spPr>
          <a:xfrm rot="0">
            <a:off x="11658600" y="6875907"/>
            <a:ext cx="2423160" cy="512445"/>
          </a:xfrm>
          <a:prstGeom prst="rect">
            <a:avLst/>
          </a:prstGeom>
        </p:spPr>
        <p:txBody>
          <a:bodyPr anchor="t" rtlCol="false" tIns="0" lIns="0" bIns="0" rIns="0">
            <a:spAutoFit/>
          </a:bodyPr>
          <a:lstStyle/>
          <a:p>
            <a:pPr algn="ctr">
              <a:lnSpc>
                <a:spcPts val="1782"/>
              </a:lnSpc>
            </a:pPr>
            <a:r>
              <a:rPr lang="en-US" sz="1350">
                <a:solidFill>
                  <a:srgbClr val="C9D2F0"/>
                </a:solidFill>
                <a:latin typeface="Montserrat"/>
                <a:ea typeface="Montserrat"/>
                <a:cs typeface="Montserrat"/>
                <a:sym typeface="Montserrat"/>
              </a:rPr>
              <a:t>Celery · trabajos</a:t>
            </a:r>
          </a:p>
        </p:txBody>
      </p:sp>
      <p:sp>
        <p:nvSpPr>
          <p:cNvPr name="AutoShape 41" id="41"/>
          <p:cNvSpPr/>
          <p:nvPr/>
        </p:nvSpPr>
        <p:spPr>
          <a:xfrm rot="87240">
            <a:off x="3048772" y="4082415"/>
            <a:ext cx="1126217" cy="0"/>
          </a:xfrm>
          <a:prstGeom prst="line">
            <a:avLst/>
          </a:prstGeom>
          <a:ln cap="rnd" w="19050">
            <a:solidFill>
              <a:srgbClr val="6F8BFF"/>
            </a:solidFill>
            <a:prstDash val="solid"/>
            <a:headEnd type="none" len="sm" w="sm"/>
            <a:tailEnd type="triangle" len="med" w="lg"/>
          </a:ln>
        </p:spPr>
      </p:sp>
      <p:grpSp>
        <p:nvGrpSpPr>
          <p:cNvPr name="Group 42" id="42"/>
          <p:cNvGrpSpPr/>
          <p:nvPr/>
        </p:nvGrpSpPr>
        <p:grpSpPr>
          <a:xfrm rot="0">
            <a:off x="3017520" y="3433572"/>
            <a:ext cx="1188720" cy="566928"/>
            <a:chOff x="0" y="0"/>
            <a:chExt cx="1584960" cy="755904"/>
          </a:xfrm>
        </p:grpSpPr>
        <p:sp>
          <p:nvSpPr>
            <p:cNvPr name="Freeform 43" id="43"/>
            <p:cNvSpPr/>
            <p:nvPr/>
          </p:nvSpPr>
          <p:spPr>
            <a:xfrm flipH="false" flipV="false" rot="0">
              <a:off x="0" y="0"/>
              <a:ext cx="1584960" cy="755904"/>
            </a:xfrm>
            <a:custGeom>
              <a:avLst/>
              <a:gdLst/>
              <a:ahLst/>
              <a:cxnLst/>
              <a:rect r="r" b="b" t="t" l="l"/>
              <a:pathLst>
                <a:path h="755904" w="1584960">
                  <a:moveTo>
                    <a:pt x="0" y="0"/>
                  </a:moveTo>
                  <a:lnTo>
                    <a:pt x="1584960" y="0"/>
                  </a:lnTo>
                  <a:lnTo>
                    <a:pt x="1584960" y="755904"/>
                  </a:lnTo>
                  <a:lnTo>
                    <a:pt x="0" y="755904"/>
                  </a:lnTo>
                  <a:close/>
                </a:path>
              </a:pathLst>
            </a:custGeom>
            <a:blipFill>
              <a:blip r:embed="rId3">
                <a:alphaModFix amt="0"/>
              </a:blip>
              <a:stretch>
                <a:fillRect l="-11190" t="0" r="-11190" b="0"/>
              </a:stretch>
            </a:blipFill>
          </p:spPr>
        </p:sp>
        <p:sp>
          <p:nvSpPr>
            <p:cNvPr name="TextBox 44" id="44"/>
            <p:cNvSpPr txBox="true"/>
            <p:nvPr/>
          </p:nvSpPr>
          <p:spPr>
            <a:xfrm>
              <a:off x="0" y="0"/>
              <a:ext cx="1584960" cy="755904"/>
            </a:xfrm>
            <a:prstGeom prst="rect">
              <a:avLst/>
            </a:prstGeom>
          </p:spPr>
          <p:txBody>
            <a:bodyPr anchor="b" rtlCol="false" tIns="0" lIns="0" bIns="0" rIns="0"/>
            <a:lstStyle/>
            <a:p>
              <a:pPr algn="ctr">
                <a:lnSpc>
                  <a:spcPts val="1310"/>
                </a:lnSpc>
              </a:pPr>
              <a:r>
                <a:rPr lang="en-US" sz="1149">
                  <a:solidFill>
                    <a:srgbClr val="C9D2F0"/>
                  </a:solidFill>
                  <a:latin typeface="Montserrat"/>
                  <a:ea typeface="Montserrat"/>
                  <a:cs typeface="Montserrat"/>
                  <a:sym typeface="Montserrat"/>
                </a:rPr>
                <a:t>HTTPS</a:t>
              </a:r>
            </a:p>
          </p:txBody>
        </p:sp>
      </p:grpSp>
      <p:sp>
        <p:nvSpPr>
          <p:cNvPr name="AutoShape 45" id="45"/>
          <p:cNvSpPr/>
          <p:nvPr/>
        </p:nvSpPr>
        <p:spPr>
          <a:xfrm rot="87240">
            <a:off x="6752092" y="4082415"/>
            <a:ext cx="1126217" cy="0"/>
          </a:xfrm>
          <a:prstGeom prst="line">
            <a:avLst/>
          </a:prstGeom>
          <a:ln cap="rnd" w="19050">
            <a:solidFill>
              <a:srgbClr val="6F8BFF"/>
            </a:solidFill>
            <a:prstDash val="solid"/>
            <a:headEnd type="none" len="sm" w="sm"/>
            <a:tailEnd type="triangle" len="med" w="lg"/>
          </a:ln>
        </p:spPr>
      </p:sp>
      <p:grpSp>
        <p:nvGrpSpPr>
          <p:cNvPr name="Group 46" id="46"/>
          <p:cNvGrpSpPr/>
          <p:nvPr/>
        </p:nvGrpSpPr>
        <p:grpSpPr>
          <a:xfrm rot="0">
            <a:off x="6720840" y="3433572"/>
            <a:ext cx="1188720" cy="566928"/>
            <a:chOff x="0" y="0"/>
            <a:chExt cx="1584960" cy="755904"/>
          </a:xfrm>
        </p:grpSpPr>
        <p:sp>
          <p:nvSpPr>
            <p:cNvPr name="Freeform 47" id="47"/>
            <p:cNvSpPr/>
            <p:nvPr/>
          </p:nvSpPr>
          <p:spPr>
            <a:xfrm flipH="false" flipV="false" rot="0">
              <a:off x="0" y="0"/>
              <a:ext cx="1584960" cy="755904"/>
            </a:xfrm>
            <a:custGeom>
              <a:avLst/>
              <a:gdLst/>
              <a:ahLst/>
              <a:cxnLst/>
              <a:rect r="r" b="b" t="t" l="l"/>
              <a:pathLst>
                <a:path h="755904" w="1584960">
                  <a:moveTo>
                    <a:pt x="0" y="0"/>
                  </a:moveTo>
                  <a:lnTo>
                    <a:pt x="1584960" y="0"/>
                  </a:lnTo>
                  <a:lnTo>
                    <a:pt x="1584960" y="755904"/>
                  </a:lnTo>
                  <a:lnTo>
                    <a:pt x="0" y="755904"/>
                  </a:lnTo>
                  <a:close/>
                </a:path>
              </a:pathLst>
            </a:custGeom>
            <a:blipFill>
              <a:blip r:embed="rId3">
                <a:alphaModFix amt="0"/>
              </a:blip>
              <a:stretch>
                <a:fillRect l="-11190" t="0" r="-11190" b="0"/>
              </a:stretch>
            </a:blipFill>
          </p:spPr>
        </p:sp>
        <p:sp>
          <p:nvSpPr>
            <p:cNvPr name="TextBox 48" id="48"/>
            <p:cNvSpPr txBox="true"/>
            <p:nvPr/>
          </p:nvSpPr>
          <p:spPr>
            <a:xfrm>
              <a:off x="0" y="0"/>
              <a:ext cx="1584960" cy="755904"/>
            </a:xfrm>
            <a:prstGeom prst="rect">
              <a:avLst/>
            </a:prstGeom>
          </p:spPr>
          <p:txBody>
            <a:bodyPr anchor="b" rtlCol="false" tIns="0" lIns="0" bIns="0" rIns="0"/>
            <a:lstStyle/>
            <a:p>
              <a:pPr algn="ctr">
                <a:lnSpc>
                  <a:spcPts val="1310"/>
                </a:lnSpc>
              </a:pPr>
              <a:r>
                <a:rPr lang="en-US" sz="1149">
                  <a:solidFill>
                    <a:srgbClr val="C9D2F0"/>
                  </a:solidFill>
                  <a:latin typeface="Montserrat"/>
                  <a:ea typeface="Montserrat"/>
                  <a:cs typeface="Montserrat"/>
                  <a:sym typeface="Montserrat"/>
                </a:rPr>
                <a:t>/api (proxy)</a:t>
              </a:r>
            </a:p>
          </p:txBody>
        </p:sp>
      </p:grpSp>
      <p:sp>
        <p:nvSpPr>
          <p:cNvPr name="AutoShape 49" id="49"/>
          <p:cNvSpPr/>
          <p:nvPr/>
        </p:nvSpPr>
        <p:spPr>
          <a:xfrm rot="87240">
            <a:off x="10455412" y="4082415"/>
            <a:ext cx="1126217" cy="0"/>
          </a:xfrm>
          <a:prstGeom prst="line">
            <a:avLst/>
          </a:prstGeom>
          <a:ln cap="rnd" w="19050">
            <a:solidFill>
              <a:srgbClr val="6F8BFF"/>
            </a:solidFill>
            <a:prstDash val="solid"/>
            <a:headEnd type="none" len="sm" w="sm"/>
            <a:tailEnd type="triangle" len="med" w="lg"/>
          </a:ln>
        </p:spPr>
      </p:sp>
      <p:grpSp>
        <p:nvGrpSpPr>
          <p:cNvPr name="Group 50" id="50"/>
          <p:cNvGrpSpPr/>
          <p:nvPr/>
        </p:nvGrpSpPr>
        <p:grpSpPr>
          <a:xfrm rot="0">
            <a:off x="10424160" y="3433572"/>
            <a:ext cx="1188720" cy="566928"/>
            <a:chOff x="0" y="0"/>
            <a:chExt cx="1584960" cy="755904"/>
          </a:xfrm>
        </p:grpSpPr>
        <p:sp>
          <p:nvSpPr>
            <p:cNvPr name="Freeform 51" id="51"/>
            <p:cNvSpPr/>
            <p:nvPr/>
          </p:nvSpPr>
          <p:spPr>
            <a:xfrm flipH="false" flipV="false" rot="0">
              <a:off x="0" y="0"/>
              <a:ext cx="1584960" cy="755904"/>
            </a:xfrm>
            <a:custGeom>
              <a:avLst/>
              <a:gdLst/>
              <a:ahLst/>
              <a:cxnLst/>
              <a:rect r="r" b="b" t="t" l="l"/>
              <a:pathLst>
                <a:path h="755904" w="1584960">
                  <a:moveTo>
                    <a:pt x="0" y="0"/>
                  </a:moveTo>
                  <a:lnTo>
                    <a:pt x="1584960" y="0"/>
                  </a:lnTo>
                  <a:lnTo>
                    <a:pt x="1584960" y="755904"/>
                  </a:lnTo>
                  <a:lnTo>
                    <a:pt x="0" y="755904"/>
                  </a:lnTo>
                  <a:close/>
                </a:path>
              </a:pathLst>
            </a:custGeom>
            <a:blipFill>
              <a:blip r:embed="rId3">
                <a:alphaModFix amt="0"/>
              </a:blip>
              <a:stretch>
                <a:fillRect l="-11190" t="0" r="-11190" b="0"/>
              </a:stretch>
            </a:blipFill>
          </p:spPr>
        </p:sp>
        <p:sp>
          <p:nvSpPr>
            <p:cNvPr name="TextBox 52" id="52"/>
            <p:cNvSpPr txBox="true"/>
            <p:nvPr/>
          </p:nvSpPr>
          <p:spPr>
            <a:xfrm>
              <a:off x="0" y="0"/>
              <a:ext cx="1584960" cy="755904"/>
            </a:xfrm>
            <a:prstGeom prst="rect">
              <a:avLst/>
            </a:prstGeom>
          </p:spPr>
          <p:txBody>
            <a:bodyPr anchor="b" rtlCol="false" tIns="0" lIns="0" bIns="0" rIns="0"/>
            <a:lstStyle/>
            <a:p>
              <a:pPr algn="ctr">
                <a:lnSpc>
                  <a:spcPts val="1310"/>
                </a:lnSpc>
              </a:pPr>
              <a:r>
                <a:rPr lang="en-US" sz="1149">
                  <a:solidFill>
                    <a:srgbClr val="C9D2F0"/>
                  </a:solidFill>
                  <a:latin typeface="Montserrat"/>
                  <a:ea typeface="Montserrat"/>
                  <a:cs typeface="Montserrat"/>
                  <a:sym typeface="Montserrat"/>
                </a:rPr>
                <a:t>SQL + RLS</a:t>
              </a:r>
            </a:p>
          </p:txBody>
        </p:sp>
      </p:grpSp>
      <p:sp>
        <p:nvSpPr>
          <p:cNvPr name="AutoShape 53" id="53"/>
          <p:cNvSpPr/>
          <p:nvPr/>
        </p:nvSpPr>
        <p:spPr>
          <a:xfrm rot="10712760">
            <a:off x="14158732" y="4082415"/>
            <a:ext cx="1126217" cy="0"/>
          </a:xfrm>
          <a:prstGeom prst="line">
            <a:avLst/>
          </a:prstGeom>
          <a:ln cap="rnd" w="19050">
            <a:solidFill>
              <a:srgbClr val="6F8BFF"/>
            </a:solidFill>
            <a:prstDash val="solid"/>
            <a:headEnd type="none" len="sm" w="sm"/>
            <a:tailEnd type="triangle" len="med" w="lg"/>
          </a:ln>
        </p:spPr>
      </p:sp>
      <p:grpSp>
        <p:nvGrpSpPr>
          <p:cNvPr name="Group 54" id="54"/>
          <p:cNvGrpSpPr/>
          <p:nvPr/>
        </p:nvGrpSpPr>
        <p:grpSpPr>
          <a:xfrm rot="0">
            <a:off x="14127480" y="3433572"/>
            <a:ext cx="1188720" cy="566928"/>
            <a:chOff x="0" y="0"/>
            <a:chExt cx="1584960" cy="755904"/>
          </a:xfrm>
        </p:grpSpPr>
        <p:sp>
          <p:nvSpPr>
            <p:cNvPr name="Freeform 55" id="55"/>
            <p:cNvSpPr/>
            <p:nvPr/>
          </p:nvSpPr>
          <p:spPr>
            <a:xfrm flipH="false" flipV="false" rot="0">
              <a:off x="0" y="0"/>
              <a:ext cx="1584960" cy="755904"/>
            </a:xfrm>
            <a:custGeom>
              <a:avLst/>
              <a:gdLst/>
              <a:ahLst/>
              <a:cxnLst/>
              <a:rect r="r" b="b" t="t" l="l"/>
              <a:pathLst>
                <a:path h="755904" w="1584960">
                  <a:moveTo>
                    <a:pt x="0" y="0"/>
                  </a:moveTo>
                  <a:lnTo>
                    <a:pt x="1584960" y="0"/>
                  </a:lnTo>
                  <a:lnTo>
                    <a:pt x="1584960" y="755904"/>
                  </a:lnTo>
                  <a:lnTo>
                    <a:pt x="0" y="755904"/>
                  </a:lnTo>
                  <a:close/>
                </a:path>
              </a:pathLst>
            </a:custGeom>
            <a:blipFill>
              <a:blip r:embed="rId3">
                <a:alphaModFix amt="0"/>
              </a:blip>
              <a:stretch>
                <a:fillRect l="-11190" t="0" r="-11190" b="0"/>
              </a:stretch>
            </a:blipFill>
          </p:spPr>
        </p:sp>
        <p:sp>
          <p:nvSpPr>
            <p:cNvPr name="TextBox 56" id="56"/>
            <p:cNvSpPr txBox="true"/>
            <p:nvPr/>
          </p:nvSpPr>
          <p:spPr>
            <a:xfrm>
              <a:off x="0" y="0"/>
              <a:ext cx="1584960" cy="755904"/>
            </a:xfrm>
            <a:prstGeom prst="rect">
              <a:avLst/>
            </a:prstGeom>
          </p:spPr>
          <p:txBody>
            <a:bodyPr anchor="b" rtlCol="false" tIns="0" lIns="0" bIns="0" rIns="0"/>
            <a:lstStyle/>
            <a:p>
              <a:pPr algn="ctr">
                <a:lnSpc>
                  <a:spcPts val="1310"/>
                </a:lnSpc>
              </a:pPr>
              <a:r>
                <a:rPr lang="en-US" sz="1149">
                  <a:solidFill>
                    <a:srgbClr val="C9D2F0"/>
                  </a:solidFill>
                  <a:latin typeface="Montserrat"/>
                  <a:ea typeface="Montserrat"/>
                  <a:cs typeface="Montserrat"/>
                  <a:sym typeface="Montserrat"/>
                </a:rPr>
                <a:t>al iniciar</a:t>
              </a:r>
            </a:p>
          </p:txBody>
        </p:sp>
      </p:grpSp>
      <p:sp>
        <p:nvSpPr>
          <p:cNvPr name="AutoShape 57" id="57"/>
          <p:cNvSpPr/>
          <p:nvPr/>
        </p:nvSpPr>
        <p:spPr>
          <a:xfrm rot="5332080">
            <a:off x="8443770" y="5454015"/>
            <a:ext cx="1446181" cy="0"/>
          </a:xfrm>
          <a:prstGeom prst="line">
            <a:avLst/>
          </a:prstGeom>
          <a:ln cap="rnd" w="19050">
            <a:solidFill>
              <a:srgbClr val="6F8BFF"/>
            </a:solidFill>
            <a:prstDash val="solid"/>
            <a:headEnd type="none" len="sm" w="sm"/>
            <a:tailEnd type="triangle" len="med" w="lg"/>
          </a:ln>
        </p:spPr>
      </p:sp>
      <p:grpSp>
        <p:nvGrpSpPr>
          <p:cNvPr name="Group 58" id="58"/>
          <p:cNvGrpSpPr/>
          <p:nvPr/>
        </p:nvGrpSpPr>
        <p:grpSpPr>
          <a:xfrm rot="0">
            <a:off x="9486900" y="5216652"/>
            <a:ext cx="1188720" cy="566928"/>
            <a:chOff x="0" y="0"/>
            <a:chExt cx="1584960" cy="755904"/>
          </a:xfrm>
        </p:grpSpPr>
        <p:sp>
          <p:nvSpPr>
            <p:cNvPr name="Freeform 59" id="59"/>
            <p:cNvSpPr/>
            <p:nvPr/>
          </p:nvSpPr>
          <p:spPr>
            <a:xfrm flipH="false" flipV="false" rot="0">
              <a:off x="0" y="0"/>
              <a:ext cx="1584960" cy="755904"/>
            </a:xfrm>
            <a:custGeom>
              <a:avLst/>
              <a:gdLst/>
              <a:ahLst/>
              <a:cxnLst/>
              <a:rect r="r" b="b" t="t" l="l"/>
              <a:pathLst>
                <a:path h="755904" w="1584960">
                  <a:moveTo>
                    <a:pt x="0" y="0"/>
                  </a:moveTo>
                  <a:lnTo>
                    <a:pt x="1584960" y="0"/>
                  </a:lnTo>
                  <a:lnTo>
                    <a:pt x="1584960" y="755904"/>
                  </a:lnTo>
                  <a:lnTo>
                    <a:pt x="0" y="755904"/>
                  </a:lnTo>
                  <a:close/>
                </a:path>
              </a:pathLst>
            </a:custGeom>
            <a:blipFill>
              <a:blip r:embed="rId3">
                <a:alphaModFix amt="0"/>
              </a:blip>
              <a:stretch>
                <a:fillRect l="-11190" t="0" r="-11190" b="0"/>
              </a:stretch>
            </a:blipFill>
          </p:spPr>
        </p:sp>
        <p:sp>
          <p:nvSpPr>
            <p:cNvPr name="TextBox 60" id="60"/>
            <p:cNvSpPr txBox="true"/>
            <p:nvPr/>
          </p:nvSpPr>
          <p:spPr>
            <a:xfrm>
              <a:off x="0" y="0"/>
              <a:ext cx="1584960" cy="755904"/>
            </a:xfrm>
            <a:prstGeom prst="rect">
              <a:avLst/>
            </a:prstGeom>
          </p:spPr>
          <p:txBody>
            <a:bodyPr anchor="b" rtlCol="false" tIns="0" lIns="0" bIns="0" rIns="0"/>
            <a:lstStyle/>
            <a:p>
              <a:pPr algn="ctr">
                <a:lnSpc>
                  <a:spcPts val="1310"/>
                </a:lnSpc>
              </a:pPr>
              <a:r>
                <a:rPr lang="en-US" sz="1149">
                  <a:solidFill>
                    <a:srgbClr val="C9D2F0"/>
                  </a:solidFill>
                  <a:latin typeface="Montserrat"/>
                  <a:ea typeface="Montserrat"/>
                  <a:cs typeface="Montserrat"/>
                  <a:sym typeface="Montserrat"/>
                </a:rPr>
                <a:t>encola trabajos</a:t>
              </a:r>
            </a:p>
          </p:txBody>
        </p:sp>
      </p:grpSp>
      <p:sp>
        <p:nvSpPr>
          <p:cNvPr name="AutoShape 61" id="61"/>
          <p:cNvSpPr/>
          <p:nvPr/>
        </p:nvSpPr>
        <p:spPr>
          <a:xfrm rot="87240">
            <a:off x="6752092" y="6825615"/>
            <a:ext cx="1126217" cy="0"/>
          </a:xfrm>
          <a:prstGeom prst="line">
            <a:avLst/>
          </a:prstGeom>
          <a:ln cap="rnd" w="19050">
            <a:solidFill>
              <a:srgbClr val="6F8BFF"/>
            </a:solidFill>
            <a:prstDash val="solid"/>
            <a:headEnd type="none" len="sm" w="sm"/>
            <a:tailEnd type="triangle" len="med" w="lg"/>
          </a:ln>
        </p:spPr>
      </p:sp>
      <p:grpSp>
        <p:nvGrpSpPr>
          <p:cNvPr name="Group 62" id="62"/>
          <p:cNvGrpSpPr/>
          <p:nvPr/>
        </p:nvGrpSpPr>
        <p:grpSpPr>
          <a:xfrm rot="0">
            <a:off x="6720840" y="6176772"/>
            <a:ext cx="1188720" cy="566928"/>
            <a:chOff x="0" y="0"/>
            <a:chExt cx="1584960" cy="755904"/>
          </a:xfrm>
        </p:grpSpPr>
        <p:sp>
          <p:nvSpPr>
            <p:cNvPr name="Freeform 63" id="63"/>
            <p:cNvSpPr/>
            <p:nvPr/>
          </p:nvSpPr>
          <p:spPr>
            <a:xfrm flipH="false" flipV="false" rot="0">
              <a:off x="0" y="0"/>
              <a:ext cx="1584960" cy="755904"/>
            </a:xfrm>
            <a:custGeom>
              <a:avLst/>
              <a:gdLst/>
              <a:ahLst/>
              <a:cxnLst/>
              <a:rect r="r" b="b" t="t" l="l"/>
              <a:pathLst>
                <a:path h="755904" w="1584960">
                  <a:moveTo>
                    <a:pt x="0" y="0"/>
                  </a:moveTo>
                  <a:lnTo>
                    <a:pt x="1584960" y="0"/>
                  </a:lnTo>
                  <a:lnTo>
                    <a:pt x="1584960" y="755904"/>
                  </a:lnTo>
                  <a:lnTo>
                    <a:pt x="0" y="755904"/>
                  </a:lnTo>
                  <a:close/>
                </a:path>
              </a:pathLst>
            </a:custGeom>
            <a:blipFill>
              <a:blip r:embed="rId3">
                <a:alphaModFix amt="0"/>
              </a:blip>
              <a:stretch>
                <a:fillRect l="-11190" t="0" r="-11190" b="0"/>
              </a:stretch>
            </a:blipFill>
          </p:spPr>
        </p:sp>
        <p:sp>
          <p:nvSpPr>
            <p:cNvPr name="TextBox 64" id="64"/>
            <p:cNvSpPr txBox="true"/>
            <p:nvPr/>
          </p:nvSpPr>
          <p:spPr>
            <a:xfrm>
              <a:off x="0" y="0"/>
              <a:ext cx="1584960" cy="755904"/>
            </a:xfrm>
            <a:prstGeom prst="rect">
              <a:avLst/>
            </a:prstGeom>
          </p:spPr>
          <p:txBody>
            <a:bodyPr anchor="b" rtlCol="false" tIns="0" lIns="0" bIns="0" rIns="0"/>
            <a:lstStyle/>
            <a:p>
              <a:pPr algn="ctr">
                <a:lnSpc>
                  <a:spcPts val="1310"/>
                </a:lnSpc>
              </a:pPr>
              <a:r>
                <a:rPr lang="en-US" sz="1149">
                  <a:solidFill>
                    <a:srgbClr val="C9D2F0"/>
                  </a:solidFill>
                  <a:latin typeface="Montserrat"/>
                  <a:ea typeface="Montserrat"/>
                  <a:cs typeface="Montserrat"/>
                  <a:sym typeface="Montserrat"/>
                </a:rPr>
                <a:t>cobro diario</a:t>
              </a:r>
            </a:p>
          </p:txBody>
        </p:sp>
      </p:grpSp>
      <p:sp>
        <p:nvSpPr>
          <p:cNvPr name="AutoShape 65" id="65"/>
          <p:cNvSpPr/>
          <p:nvPr/>
        </p:nvSpPr>
        <p:spPr>
          <a:xfrm rot="87240">
            <a:off x="10455412" y="6825615"/>
            <a:ext cx="1126217" cy="0"/>
          </a:xfrm>
          <a:prstGeom prst="line">
            <a:avLst/>
          </a:prstGeom>
          <a:ln cap="rnd" w="19050">
            <a:solidFill>
              <a:srgbClr val="6F8BFF"/>
            </a:solidFill>
            <a:prstDash val="solid"/>
            <a:headEnd type="none" len="sm" w="sm"/>
            <a:tailEnd type="triangle" len="med" w="lg"/>
          </a:ln>
        </p:spPr>
      </p:sp>
      <p:grpSp>
        <p:nvGrpSpPr>
          <p:cNvPr name="Group 66" id="66"/>
          <p:cNvGrpSpPr/>
          <p:nvPr/>
        </p:nvGrpSpPr>
        <p:grpSpPr>
          <a:xfrm rot="0">
            <a:off x="10424160" y="6176772"/>
            <a:ext cx="1188720" cy="566928"/>
            <a:chOff x="0" y="0"/>
            <a:chExt cx="1584960" cy="755904"/>
          </a:xfrm>
        </p:grpSpPr>
        <p:sp>
          <p:nvSpPr>
            <p:cNvPr name="Freeform 67" id="67"/>
            <p:cNvSpPr/>
            <p:nvPr/>
          </p:nvSpPr>
          <p:spPr>
            <a:xfrm flipH="false" flipV="false" rot="0">
              <a:off x="0" y="0"/>
              <a:ext cx="1584960" cy="755904"/>
            </a:xfrm>
            <a:custGeom>
              <a:avLst/>
              <a:gdLst/>
              <a:ahLst/>
              <a:cxnLst/>
              <a:rect r="r" b="b" t="t" l="l"/>
              <a:pathLst>
                <a:path h="755904" w="1584960">
                  <a:moveTo>
                    <a:pt x="0" y="0"/>
                  </a:moveTo>
                  <a:lnTo>
                    <a:pt x="1584960" y="0"/>
                  </a:lnTo>
                  <a:lnTo>
                    <a:pt x="1584960" y="755904"/>
                  </a:lnTo>
                  <a:lnTo>
                    <a:pt x="0" y="755904"/>
                  </a:lnTo>
                  <a:close/>
                </a:path>
              </a:pathLst>
            </a:custGeom>
            <a:blipFill>
              <a:blip r:embed="rId3">
                <a:alphaModFix amt="0"/>
              </a:blip>
              <a:stretch>
                <a:fillRect l="-11190" t="0" r="-11190" b="0"/>
              </a:stretch>
            </a:blipFill>
          </p:spPr>
        </p:sp>
        <p:sp>
          <p:nvSpPr>
            <p:cNvPr name="TextBox 68" id="68"/>
            <p:cNvSpPr txBox="true"/>
            <p:nvPr/>
          </p:nvSpPr>
          <p:spPr>
            <a:xfrm>
              <a:off x="0" y="0"/>
              <a:ext cx="1584960" cy="755904"/>
            </a:xfrm>
            <a:prstGeom prst="rect">
              <a:avLst/>
            </a:prstGeom>
          </p:spPr>
          <p:txBody>
            <a:bodyPr anchor="b" rtlCol="false" tIns="0" lIns="0" bIns="0" rIns="0"/>
            <a:lstStyle/>
            <a:p>
              <a:pPr algn="ctr">
                <a:lnSpc>
                  <a:spcPts val="1310"/>
                </a:lnSpc>
              </a:pPr>
              <a:r>
                <a:rPr lang="en-US" sz="1149">
                  <a:solidFill>
                    <a:srgbClr val="C9D2F0"/>
                  </a:solidFill>
                  <a:latin typeface="Montserrat"/>
                  <a:ea typeface="Montserrat"/>
                  <a:cs typeface="Montserrat"/>
                  <a:sym typeface="Montserrat"/>
                </a:rPr>
                <a:t>ejecuta</a:t>
              </a:r>
            </a:p>
          </p:txBody>
        </p:sp>
      </p:grpSp>
      <p:sp>
        <p:nvSpPr>
          <p:cNvPr name="AutoShape 69" id="69"/>
          <p:cNvSpPr/>
          <p:nvPr/>
        </p:nvSpPr>
        <p:spPr>
          <a:xfrm rot="-5332080">
            <a:off x="12147090" y="5454015"/>
            <a:ext cx="1446181" cy="0"/>
          </a:xfrm>
          <a:prstGeom prst="line">
            <a:avLst/>
          </a:prstGeom>
          <a:ln cap="rnd" w="19050">
            <a:solidFill>
              <a:srgbClr val="6F8BFF"/>
            </a:solidFill>
            <a:prstDash val="solid"/>
            <a:headEnd type="none" len="sm" w="sm"/>
            <a:tailEnd type="triangle" len="med" w="lg"/>
          </a:ln>
        </p:spPr>
      </p:sp>
      <p:grpSp>
        <p:nvGrpSpPr>
          <p:cNvPr name="Group 70" id="70"/>
          <p:cNvGrpSpPr/>
          <p:nvPr/>
        </p:nvGrpSpPr>
        <p:grpSpPr>
          <a:xfrm rot="0">
            <a:off x="13007340" y="5216652"/>
            <a:ext cx="1188720" cy="566928"/>
            <a:chOff x="0" y="0"/>
            <a:chExt cx="1584960" cy="755904"/>
          </a:xfrm>
        </p:grpSpPr>
        <p:sp>
          <p:nvSpPr>
            <p:cNvPr name="Freeform 71" id="71"/>
            <p:cNvSpPr/>
            <p:nvPr/>
          </p:nvSpPr>
          <p:spPr>
            <a:xfrm flipH="false" flipV="false" rot="0">
              <a:off x="0" y="0"/>
              <a:ext cx="1584960" cy="755904"/>
            </a:xfrm>
            <a:custGeom>
              <a:avLst/>
              <a:gdLst/>
              <a:ahLst/>
              <a:cxnLst/>
              <a:rect r="r" b="b" t="t" l="l"/>
              <a:pathLst>
                <a:path h="755904" w="1584960">
                  <a:moveTo>
                    <a:pt x="0" y="0"/>
                  </a:moveTo>
                  <a:lnTo>
                    <a:pt x="1584960" y="0"/>
                  </a:lnTo>
                  <a:lnTo>
                    <a:pt x="1584960" y="755904"/>
                  </a:lnTo>
                  <a:lnTo>
                    <a:pt x="0" y="755904"/>
                  </a:lnTo>
                  <a:close/>
                </a:path>
              </a:pathLst>
            </a:custGeom>
            <a:blipFill>
              <a:blip r:embed="rId3">
                <a:alphaModFix amt="0"/>
              </a:blip>
              <a:stretch>
                <a:fillRect l="-11190" t="0" r="-11190" b="0"/>
              </a:stretch>
            </a:blipFill>
          </p:spPr>
        </p:sp>
        <p:sp>
          <p:nvSpPr>
            <p:cNvPr name="TextBox 72" id="72"/>
            <p:cNvSpPr txBox="true"/>
            <p:nvPr/>
          </p:nvSpPr>
          <p:spPr>
            <a:xfrm>
              <a:off x="0" y="0"/>
              <a:ext cx="1584960" cy="755904"/>
            </a:xfrm>
            <a:prstGeom prst="rect">
              <a:avLst/>
            </a:prstGeom>
          </p:spPr>
          <p:txBody>
            <a:bodyPr anchor="b" rtlCol="false" tIns="0" lIns="0" bIns="0" rIns="0"/>
            <a:lstStyle/>
            <a:p>
              <a:pPr algn="ctr">
                <a:lnSpc>
                  <a:spcPts val="1310"/>
                </a:lnSpc>
              </a:pPr>
              <a:r>
                <a:rPr lang="en-US" sz="1149">
                  <a:solidFill>
                    <a:srgbClr val="C9D2F0"/>
                  </a:solidFill>
                  <a:latin typeface="Montserrat"/>
                  <a:ea typeface="Montserrat"/>
                  <a:cs typeface="Montserrat"/>
                  <a:sym typeface="Montserrat"/>
                </a:rPr>
                <a:t>escribe</a:t>
              </a:r>
            </a:p>
          </p:txBody>
        </p:sp>
      </p:grpSp>
      <p:grpSp>
        <p:nvGrpSpPr>
          <p:cNvPr name="Group 73" id="73"/>
          <p:cNvGrpSpPr/>
          <p:nvPr/>
        </p:nvGrpSpPr>
        <p:grpSpPr>
          <a:xfrm rot="0">
            <a:off x="457200" y="8321040"/>
            <a:ext cx="17602200" cy="1417320"/>
            <a:chOff x="0" y="0"/>
            <a:chExt cx="23469600" cy="1889760"/>
          </a:xfrm>
        </p:grpSpPr>
        <p:sp>
          <p:nvSpPr>
            <p:cNvPr name="Freeform 74" id="74"/>
            <p:cNvSpPr/>
            <p:nvPr/>
          </p:nvSpPr>
          <p:spPr>
            <a:xfrm flipH="false" flipV="false" rot="0">
              <a:off x="0" y="0"/>
              <a:ext cx="23469600" cy="1889760"/>
            </a:xfrm>
            <a:custGeom>
              <a:avLst/>
              <a:gdLst/>
              <a:ahLst/>
              <a:cxnLst/>
              <a:rect r="r" b="b" t="t" l="l"/>
              <a:pathLst>
                <a:path h="1889760" w="23469600">
                  <a:moveTo>
                    <a:pt x="0" y="226822"/>
                  </a:moveTo>
                  <a:cubicBezTo>
                    <a:pt x="0" y="101473"/>
                    <a:pt x="101473" y="0"/>
                    <a:pt x="226822" y="0"/>
                  </a:cubicBezTo>
                  <a:lnTo>
                    <a:pt x="23242778" y="0"/>
                  </a:lnTo>
                  <a:cubicBezTo>
                    <a:pt x="23368000" y="0"/>
                    <a:pt x="23469600" y="101473"/>
                    <a:pt x="23469600" y="226822"/>
                  </a:cubicBezTo>
                  <a:lnTo>
                    <a:pt x="23469600" y="1662938"/>
                  </a:lnTo>
                  <a:cubicBezTo>
                    <a:pt x="23469600" y="1788160"/>
                    <a:pt x="23368127" y="1889760"/>
                    <a:pt x="23242778" y="1889760"/>
                  </a:cubicBezTo>
                  <a:lnTo>
                    <a:pt x="226822" y="1889760"/>
                  </a:lnTo>
                  <a:cubicBezTo>
                    <a:pt x="101473" y="1889760"/>
                    <a:pt x="0" y="1788287"/>
                    <a:pt x="0" y="1662938"/>
                  </a:cubicBezTo>
                  <a:close/>
                </a:path>
              </a:pathLst>
            </a:custGeom>
            <a:solidFill>
              <a:srgbClr val="15193A">
                <a:alpha val="63922"/>
              </a:srgbClr>
            </a:solidFill>
          </p:spPr>
        </p:sp>
      </p:grpSp>
      <p:grpSp>
        <p:nvGrpSpPr>
          <p:cNvPr name="Group 75" id="75"/>
          <p:cNvGrpSpPr/>
          <p:nvPr/>
        </p:nvGrpSpPr>
        <p:grpSpPr>
          <a:xfrm rot="0">
            <a:off x="822960" y="8321040"/>
            <a:ext cx="16916400" cy="1417320"/>
            <a:chOff x="0" y="0"/>
            <a:chExt cx="22555200" cy="1889760"/>
          </a:xfrm>
        </p:grpSpPr>
        <p:sp>
          <p:nvSpPr>
            <p:cNvPr name="Freeform 76" id="76"/>
            <p:cNvSpPr/>
            <p:nvPr/>
          </p:nvSpPr>
          <p:spPr>
            <a:xfrm flipH="false" flipV="false" rot="0">
              <a:off x="0" y="0"/>
              <a:ext cx="22555200" cy="1889760"/>
            </a:xfrm>
            <a:custGeom>
              <a:avLst/>
              <a:gdLst/>
              <a:ahLst/>
              <a:cxnLst/>
              <a:rect r="r" b="b" t="t" l="l"/>
              <a:pathLst>
                <a:path h="1889760" w="22555200">
                  <a:moveTo>
                    <a:pt x="0" y="0"/>
                  </a:moveTo>
                  <a:lnTo>
                    <a:pt x="22555200" y="0"/>
                  </a:lnTo>
                  <a:lnTo>
                    <a:pt x="22555200" y="1889760"/>
                  </a:lnTo>
                  <a:lnTo>
                    <a:pt x="0" y="1889760"/>
                  </a:lnTo>
                  <a:close/>
                </a:path>
              </a:pathLst>
            </a:custGeom>
            <a:blipFill>
              <a:blip r:embed="rId3">
                <a:alphaModFix amt="0"/>
              </a:blip>
              <a:stretch>
                <a:fillRect l="0" t="-182563" r="0" b="-182563"/>
              </a:stretch>
            </a:blipFill>
          </p:spPr>
        </p:sp>
        <p:sp>
          <p:nvSpPr>
            <p:cNvPr name="TextBox 77" id="77"/>
            <p:cNvSpPr txBox="true"/>
            <p:nvPr/>
          </p:nvSpPr>
          <p:spPr>
            <a:xfrm>
              <a:off x="0" y="-47625"/>
              <a:ext cx="22555200" cy="1937385"/>
            </a:xfrm>
            <a:prstGeom prst="rect">
              <a:avLst/>
            </a:prstGeom>
          </p:spPr>
          <p:txBody>
            <a:bodyPr anchor="ctr" rtlCol="false" tIns="0" lIns="0" bIns="0" rIns="0"/>
            <a:lstStyle/>
            <a:p>
              <a:pPr algn="l">
                <a:lnSpc>
                  <a:spcPts val="2495"/>
                </a:lnSpc>
              </a:pPr>
              <a:r>
                <a:rPr lang="en-US" sz="1599" b="true">
                  <a:solidFill>
                    <a:srgbClr val="FFFFFF"/>
                  </a:solidFill>
                  <a:latin typeface="Montserrat Bold"/>
                  <a:ea typeface="Montserrat Bold"/>
                  <a:cs typeface="Montserrat Bold"/>
                  <a:sym typeface="Montserrat Bold"/>
                </a:rPr>
                <a:t>Hoy: </a:t>
              </a:r>
              <a:r>
                <a:rPr lang="en-US" sz="1599">
                  <a:solidFill>
                    <a:srgbClr val="FFFFFF"/>
                  </a:solidFill>
                  <a:latin typeface="Montserrat"/>
                  <a:ea typeface="Montserrat"/>
                  <a:cs typeface="Montserrat"/>
                  <a:sym typeface="Montserrat"/>
                </a:rPr>
                <a:t>MVP publicado por internet con Ngrok sobre este mismo entorno Docker.</a:t>
              </a:r>
            </a:p>
            <a:p>
              <a:pPr algn="l">
                <a:lnSpc>
                  <a:spcPts val="2495"/>
                </a:lnSpc>
              </a:pPr>
              <a:r>
                <a:rPr lang="en-US" sz="1599" b="true">
                  <a:solidFill>
                    <a:srgbClr val="FFFFFF"/>
                  </a:solidFill>
                  <a:latin typeface="Montserrat Bold"/>
                  <a:ea typeface="Montserrat Bold"/>
                  <a:cs typeface="Montserrat Bold"/>
                  <a:sym typeface="Montserrat Bold"/>
                </a:rPr>
                <a:t>Destino previsto (H3): </a:t>
              </a:r>
              <a:r>
                <a:rPr lang="en-US" sz="1599">
                  <a:solidFill>
                    <a:srgbClr val="FFFFFF"/>
                  </a:solidFill>
                  <a:latin typeface="Montserrat"/>
                  <a:ea typeface="Montserrat"/>
                  <a:cs typeface="Montserrat"/>
                  <a:sym typeface="Montserrat"/>
                </a:rPr>
                <a:t>backend en Azure Container Apps y frontend en Vercel.</a:t>
              </a:r>
            </a:p>
          </p:txBody>
        </p:sp>
      </p:gr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24384000" cy="13716000"/>
          </a:xfrm>
        </p:grpSpPr>
        <p:sp>
          <p:nvSpPr>
            <p:cNvPr name="Freeform 3" id="3" descr="fondo9_60.jpg"/>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lnTo>
                    <a:pt x="0" y="0"/>
                  </a:lnTo>
                  <a:close/>
                </a:path>
              </a:pathLst>
            </a:custGeom>
            <a:blipFill>
              <a:blip r:embed="rId2"/>
              <a:stretch>
                <a:fillRect l="0" t="-666" r="0" b="-666"/>
              </a:stretch>
            </a:blipFill>
          </p:spPr>
        </p:sp>
      </p:grpSp>
      <p:sp>
        <p:nvSpPr>
          <p:cNvPr name="TextBox 4" id="4"/>
          <p:cNvSpPr txBox="true"/>
          <p:nvPr/>
        </p:nvSpPr>
        <p:spPr>
          <a:xfrm rot="0">
            <a:off x="914400" y="355473"/>
            <a:ext cx="16459200" cy="760095"/>
          </a:xfrm>
          <a:prstGeom prst="rect">
            <a:avLst/>
          </a:prstGeom>
        </p:spPr>
        <p:txBody>
          <a:bodyPr anchor="t" rtlCol="false" tIns="0" lIns="0" bIns="0" rIns="0">
            <a:spAutoFit/>
          </a:bodyPr>
          <a:lstStyle/>
          <a:p>
            <a:pPr algn="ctr">
              <a:lnSpc>
                <a:spcPts val="3960"/>
              </a:lnSpc>
            </a:pPr>
            <a:r>
              <a:rPr lang="en-US" sz="3000">
                <a:solidFill>
                  <a:srgbClr val="FFFFFF"/>
                </a:solidFill>
                <a:latin typeface="Montserrat Light"/>
                <a:ea typeface="Montserrat Light"/>
                <a:cs typeface="Montserrat Light"/>
                <a:sym typeface="Montserrat Light"/>
              </a:rPr>
              <a:t>MODELO DE DATOS</a:t>
            </a:r>
          </a:p>
        </p:txBody>
      </p:sp>
      <p:sp>
        <p:nvSpPr>
          <p:cNvPr name="TextBox 5" id="5"/>
          <p:cNvSpPr txBox="true"/>
          <p:nvPr/>
        </p:nvSpPr>
        <p:spPr>
          <a:xfrm rot="0">
            <a:off x="914400" y="912495"/>
            <a:ext cx="16459200" cy="1144905"/>
          </a:xfrm>
          <a:prstGeom prst="rect">
            <a:avLst/>
          </a:prstGeom>
        </p:spPr>
        <p:txBody>
          <a:bodyPr anchor="t" rtlCol="false" tIns="0" lIns="0" bIns="0" rIns="0">
            <a:spAutoFit/>
          </a:bodyPr>
          <a:lstStyle/>
          <a:p>
            <a:pPr algn="ctr">
              <a:lnSpc>
                <a:spcPts val="6863"/>
              </a:lnSpc>
            </a:pPr>
            <a:r>
              <a:rPr lang="en-US" sz="5199" b="true">
                <a:solidFill>
                  <a:srgbClr val="FFFFFF"/>
                </a:solidFill>
                <a:latin typeface="Montserrat Bold"/>
                <a:ea typeface="Montserrat Bold"/>
                <a:cs typeface="Montserrat Bold"/>
                <a:sym typeface="Montserrat Bold"/>
              </a:rPr>
              <a:t>IMPLEMENTADO</a:t>
            </a:r>
          </a:p>
        </p:txBody>
      </p:sp>
      <p:grpSp>
        <p:nvGrpSpPr>
          <p:cNvPr name="Group 6" id="6"/>
          <p:cNvGrpSpPr/>
          <p:nvPr/>
        </p:nvGrpSpPr>
        <p:grpSpPr>
          <a:xfrm rot="0">
            <a:off x="731520" y="2468880"/>
            <a:ext cx="2103120" cy="1691640"/>
            <a:chOff x="0" y="0"/>
            <a:chExt cx="2804160" cy="2255520"/>
          </a:xfrm>
        </p:grpSpPr>
        <p:sp>
          <p:nvSpPr>
            <p:cNvPr name="Freeform 7" id="7"/>
            <p:cNvSpPr/>
            <p:nvPr/>
          </p:nvSpPr>
          <p:spPr>
            <a:xfrm flipH="false" flipV="false" rot="0">
              <a:off x="0" y="0"/>
              <a:ext cx="2804160" cy="2255520"/>
            </a:xfrm>
            <a:custGeom>
              <a:avLst/>
              <a:gdLst/>
              <a:ahLst/>
              <a:cxnLst/>
              <a:rect r="r" b="b" t="t" l="l"/>
              <a:pathLst>
                <a:path h="2255520" w="2804160">
                  <a:moveTo>
                    <a:pt x="0" y="270637"/>
                  </a:moveTo>
                  <a:cubicBezTo>
                    <a:pt x="0" y="121158"/>
                    <a:pt x="121158" y="0"/>
                    <a:pt x="270637" y="0"/>
                  </a:cubicBezTo>
                  <a:lnTo>
                    <a:pt x="2533523" y="0"/>
                  </a:lnTo>
                  <a:cubicBezTo>
                    <a:pt x="2683002" y="0"/>
                    <a:pt x="2804160" y="121158"/>
                    <a:pt x="2804160" y="270637"/>
                  </a:cubicBezTo>
                  <a:lnTo>
                    <a:pt x="2804160" y="1984883"/>
                  </a:lnTo>
                  <a:cubicBezTo>
                    <a:pt x="2804160" y="2134362"/>
                    <a:pt x="2683002" y="2255520"/>
                    <a:pt x="2533523" y="2255520"/>
                  </a:cubicBezTo>
                  <a:lnTo>
                    <a:pt x="270637" y="2255520"/>
                  </a:lnTo>
                  <a:cubicBezTo>
                    <a:pt x="121158" y="2255520"/>
                    <a:pt x="0" y="2134362"/>
                    <a:pt x="0" y="1984883"/>
                  </a:cubicBezTo>
                  <a:close/>
                </a:path>
              </a:pathLst>
            </a:custGeom>
            <a:solidFill>
              <a:srgbClr val="15193A"/>
            </a:solidFill>
          </p:spPr>
        </p:sp>
      </p:grpSp>
      <p:grpSp>
        <p:nvGrpSpPr>
          <p:cNvPr name="Group 8" id="8"/>
          <p:cNvGrpSpPr/>
          <p:nvPr/>
        </p:nvGrpSpPr>
        <p:grpSpPr>
          <a:xfrm rot="0">
            <a:off x="731520" y="2560320"/>
            <a:ext cx="2103120" cy="868680"/>
            <a:chOff x="0" y="0"/>
            <a:chExt cx="2804160" cy="1158240"/>
          </a:xfrm>
        </p:grpSpPr>
        <p:sp>
          <p:nvSpPr>
            <p:cNvPr name="Freeform 9" id="9"/>
            <p:cNvSpPr/>
            <p:nvPr/>
          </p:nvSpPr>
          <p:spPr>
            <a:xfrm flipH="false" flipV="false" rot="0">
              <a:off x="0" y="0"/>
              <a:ext cx="2804160" cy="1158240"/>
            </a:xfrm>
            <a:custGeom>
              <a:avLst/>
              <a:gdLst/>
              <a:ahLst/>
              <a:cxnLst/>
              <a:rect r="r" b="b" t="t" l="l"/>
              <a:pathLst>
                <a:path h="1158240" w="2804160">
                  <a:moveTo>
                    <a:pt x="0" y="0"/>
                  </a:moveTo>
                  <a:lnTo>
                    <a:pt x="2804160" y="0"/>
                  </a:lnTo>
                  <a:lnTo>
                    <a:pt x="2804160" y="1158240"/>
                  </a:lnTo>
                  <a:lnTo>
                    <a:pt x="0" y="1158240"/>
                  </a:lnTo>
                  <a:close/>
                </a:path>
              </a:pathLst>
            </a:custGeom>
            <a:blipFill>
              <a:blip r:embed="rId3">
                <a:alphaModFix amt="0"/>
              </a:blip>
              <a:stretch>
                <a:fillRect l="-2994" t="0" r="-2994" b="0"/>
              </a:stretch>
            </a:blipFill>
          </p:spPr>
        </p:sp>
        <p:sp>
          <p:nvSpPr>
            <p:cNvPr name="TextBox 10" id="10"/>
            <p:cNvSpPr txBox="true"/>
            <p:nvPr/>
          </p:nvSpPr>
          <p:spPr>
            <a:xfrm>
              <a:off x="0" y="-38100"/>
              <a:ext cx="2804160" cy="1196340"/>
            </a:xfrm>
            <a:prstGeom prst="rect">
              <a:avLst/>
            </a:prstGeom>
          </p:spPr>
          <p:txBody>
            <a:bodyPr anchor="ctr" rtlCol="false" tIns="0" lIns="0" bIns="0" rIns="0"/>
            <a:lstStyle/>
            <a:p>
              <a:pPr algn="ctr">
                <a:lnSpc>
                  <a:spcPts val="5279"/>
                </a:lnSpc>
              </a:pPr>
              <a:r>
                <a:rPr lang="en-US" sz="3999" b="true">
                  <a:solidFill>
                    <a:srgbClr val="FFFFFF"/>
                  </a:solidFill>
                  <a:latin typeface="Montserrat Bold"/>
                  <a:ea typeface="Montserrat Bold"/>
                  <a:cs typeface="Montserrat Bold"/>
                  <a:sym typeface="Montserrat Bold"/>
                </a:rPr>
                <a:t>v7</a:t>
              </a:r>
            </a:p>
          </p:txBody>
        </p:sp>
      </p:grpSp>
      <p:sp>
        <p:nvSpPr>
          <p:cNvPr name="TextBox 11" id="11"/>
          <p:cNvSpPr txBox="true"/>
          <p:nvPr/>
        </p:nvSpPr>
        <p:spPr>
          <a:xfrm rot="0">
            <a:off x="822960" y="3419475"/>
            <a:ext cx="1920240" cy="649605"/>
          </a:xfrm>
          <a:prstGeom prst="rect">
            <a:avLst/>
          </a:prstGeom>
        </p:spPr>
        <p:txBody>
          <a:bodyPr anchor="t" rtlCol="false" tIns="0" lIns="0" bIns="0" rIns="0">
            <a:spAutoFit/>
          </a:bodyPr>
          <a:lstStyle/>
          <a:p>
            <a:pPr algn="ctr">
              <a:lnSpc>
                <a:spcPts val="1584"/>
              </a:lnSpc>
            </a:pPr>
            <a:r>
              <a:rPr lang="en-US" sz="1200">
                <a:solidFill>
                  <a:srgbClr val="C9D2F0"/>
                </a:solidFill>
                <a:latin typeface="Montserrat"/>
                <a:ea typeface="Montserrat"/>
                <a:cs typeface="Montserrat"/>
                <a:sym typeface="Montserrat"/>
              </a:rPr>
              <a:t>versión del esquema</a:t>
            </a:r>
          </a:p>
        </p:txBody>
      </p:sp>
      <p:grpSp>
        <p:nvGrpSpPr>
          <p:cNvPr name="Group 12" id="12"/>
          <p:cNvGrpSpPr/>
          <p:nvPr/>
        </p:nvGrpSpPr>
        <p:grpSpPr>
          <a:xfrm rot="0">
            <a:off x="3063240" y="2468880"/>
            <a:ext cx="2103120" cy="1691640"/>
            <a:chOff x="0" y="0"/>
            <a:chExt cx="2804160" cy="2255520"/>
          </a:xfrm>
        </p:grpSpPr>
        <p:sp>
          <p:nvSpPr>
            <p:cNvPr name="Freeform 13" id="13"/>
            <p:cNvSpPr/>
            <p:nvPr/>
          </p:nvSpPr>
          <p:spPr>
            <a:xfrm flipH="false" flipV="false" rot="0">
              <a:off x="0" y="0"/>
              <a:ext cx="2804160" cy="2255520"/>
            </a:xfrm>
            <a:custGeom>
              <a:avLst/>
              <a:gdLst/>
              <a:ahLst/>
              <a:cxnLst/>
              <a:rect r="r" b="b" t="t" l="l"/>
              <a:pathLst>
                <a:path h="2255520" w="2804160">
                  <a:moveTo>
                    <a:pt x="0" y="270637"/>
                  </a:moveTo>
                  <a:cubicBezTo>
                    <a:pt x="0" y="121158"/>
                    <a:pt x="121158" y="0"/>
                    <a:pt x="270637" y="0"/>
                  </a:cubicBezTo>
                  <a:lnTo>
                    <a:pt x="2533523" y="0"/>
                  </a:lnTo>
                  <a:cubicBezTo>
                    <a:pt x="2683002" y="0"/>
                    <a:pt x="2804160" y="121158"/>
                    <a:pt x="2804160" y="270637"/>
                  </a:cubicBezTo>
                  <a:lnTo>
                    <a:pt x="2804160" y="1984883"/>
                  </a:lnTo>
                  <a:cubicBezTo>
                    <a:pt x="2804160" y="2134362"/>
                    <a:pt x="2683002" y="2255520"/>
                    <a:pt x="2533523" y="2255520"/>
                  </a:cubicBezTo>
                  <a:lnTo>
                    <a:pt x="270637" y="2255520"/>
                  </a:lnTo>
                  <a:cubicBezTo>
                    <a:pt x="121158" y="2255520"/>
                    <a:pt x="0" y="2134362"/>
                    <a:pt x="0" y="1984883"/>
                  </a:cubicBezTo>
                  <a:close/>
                </a:path>
              </a:pathLst>
            </a:custGeom>
            <a:solidFill>
              <a:srgbClr val="15193A"/>
            </a:solidFill>
          </p:spPr>
        </p:sp>
      </p:grpSp>
      <p:grpSp>
        <p:nvGrpSpPr>
          <p:cNvPr name="Group 14" id="14"/>
          <p:cNvGrpSpPr/>
          <p:nvPr/>
        </p:nvGrpSpPr>
        <p:grpSpPr>
          <a:xfrm rot="0">
            <a:off x="3063240" y="2560320"/>
            <a:ext cx="2103120" cy="868680"/>
            <a:chOff x="0" y="0"/>
            <a:chExt cx="2804160" cy="1158240"/>
          </a:xfrm>
        </p:grpSpPr>
        <p:sp>
          <p:nvSpPr>
            <p:cNvPr name="Freeform 15" id="15"/>
            <p:cNvSpPr/>
            <p:nvPr/>
          </p:nvSpPr>
          <p:spPr>
            <a:xfrm flipH="false" flipV="false" rot="0">
              <a:off x="0" y="0"/>
              <a:ext cx="2804160" cy="1158240"/>
            </a:xfrm>
            <a:custGeom>
              <a:avLst/>
              <a:gdLst/>
              <a:ahLst/>
              <a:cxnLst/>
              <a:rect r="r" b="b" t="t" l="l"/>
              <a:pathLst>
                <a:path h="1158240" w="2804160">
                  <a:moveTo>
                    <a:pt x="0" y="0"/>
                  </a:moveTo>
                  <a:lnTo>
                    <a:pt x="2804160" y="0"/>
                  </a:lnTo>
                  <a:lnTo>
                    <a:pt x="2804160" y="1158240"/>
                  </a:lnTo>
                  <a:lnTo>
                    <a:pt x="0" y="1158240"/>
                  </a:lnTo>
                  <a:close/>
                </a:path>
              </a:pathLst>
            </a:custGeom>
            <a:blipFill>
              <a:blip r:embed="rId3">
                <a:alphaModFix amt="0"/>
              </a:blip>
              <a:stretch>
                <a:fillRect l="-2994" t="0" r="-2994" b="0"/>
              </a:stretch>
            </a:blipFill>
          </p:spPr>
        </p:sp>
        <p:sp>
          <p:nvSpPr>
            <p:cNvPr name="TextBox 16" id="16"/>
            <p:cNvSpPr txBox="true"/>
            <p:nvPr/>
          </p:nvSpPr>
          <p:spPr>
            <a:xfrm>
              <a:off x="0" y="-38100"/>
              <a:ext cx="2804160" cy="1196340"/>
            </a:xfrm>
            <a:prstGeom prst="rect">
              <a:avLst/>
            </a:prstGeom>
          </p:spPr>
          <p:txBody>
            <a:bodyPr anchor="ctr" rtlCol="false" tIns="0" lIns="0" bIns="0" rIns="0"/>
            <a:lstStyle/>
            <a:p>
              <a:pPr algn="ctr">
                <a:lnSpc>
                  <a:spcPts val="5279"/>
                </a:lnSpc>
              </a:pPr>
              <a:r>
                <a:rPr lang="en-US" sz="3999" b="true">
                  <a:solidFill>
                    <a:srgbClr val="FFFFFF"/>
                  </a:solidFill>
                  <a:latin typeface="Montserrat Bold"/>
                  <a:ea typeface="Montserrat Bold"/>
                  <a:cs typeface="Montserrat Bold"/>
                  <a:sym typeface="Montserrat Bold"/>
                </a:rPr>
                <a:t>45</a:t>
              </a:r>
            </a:p>
          </p:txBody>
        </p:sp>
      </p:grpSp>
      <p:sp>
        <p:nvSpPr>
          <p:cNvPr name="TextBox 17" id="17"/>
          <p:cNvSpPr txBox="true"/>
          <p:nvPr/>
        </p:nvSpPr>
        <p:spPr>
          <a:xfrm rot="0">
            <a:off x="3154680" y="3419475"/>
            <a:ext cx="1920240" cy="649605"/>
          </a:xfrm>
          <a:prstGeom prst="rect">
            <a:avLst/>
          </a:prstGeom>
        </p:spPr>
        <p:txBody>
          <a:bodyPr anchor="t" rtlCol="false" tIns="0" lIns="0" bIns="0" rIns="0">
            <a:spAutoFit/>
          </a:bodyPr>
          <a:lstStyle/>
          <a:p>
            <a:pPr algn="ctr">
              <a:lnSpc>
                <a:spcPts val="1584"/>
              </a:lnSpc>
            </a:pPr>
            <a:r>
              <a:rPr lang="en-US" sz="1200">
                <a:solidFill>
                  <a:srgbClr val="C9D2F0"/>
                </a:solidFill>
                <a:latin typeface="Montserrat"/>
                <a:ea typeface="Montserrat"/>
                <a:cs typeface="Montserrat"/>
                <a:sym typeface="Montserrat"/>
              </a:rPr>
              <a:t>tablas</a:t>
            </a:r>
          </a:p>
        </p:txBody>
      </p:sp>
      <p:grpSp>
        <p:nvGrpSpPr>
          <p:cNvPr name="Group 18" id="18"/>
          <p:cNvGrpSpPr/>
          <p:nvPr/>
        </p:nvGrpSpPr>
        <p:grpSpPr>
          <a:xfrm rot="0">
            <a:off x="5394960" y="2468880"/>
            <a:ext cx="2103120" cy="1691640"/>
            <a:chOff x="0" y="0"/>
            <a:chExt cx="2804160" cy="2255520"/>
          </a:xfrm>
        </p:grpSpPr>
        <p:sp>
          <p:nvSpPr>
            <p:cNvPr name="Freeform 19" id="19"/>
            <p:cNvSpPr/>
            <p:nvPr/>
          </p:nvSpPr>
          <p:spPr>
            <a:xfrm flipH="false" flipV="false" rot="0">
              <a:off x="0" y="0"/>
              <a:ext cx="2804160" cy="2255520"/>
            </a:xfrm>
            <a:custGeom>
              <a:avLst/>
              <a:gdLst/>
              <a:ahLst/>
              <a:cxnLst/>
              <a:rect r="r" b="b" t="t" l="l"/>
              <a:pathLst>
                <a:path h="2255520" w="2804160">
                  <a:moveTo>
                    <a:pt x="0" y="270637"/>
                  </a:moveTo>
                  <a:cubicBezTo>
                    <a:pt x="0" y="121158"/>
                    <a:pt x="121158" y="0"/>
                    <a:pt x="270637" y="0"/>
                  </a:cubicBezTo>
                  <a:lnTo>
                    <a:pt x="2533523" y="0"/>
                  </a:lnTo>
                  <a:cubicBezTo>
                    <a:pt x="2683002" y="0"/>
                    <a:pt x="2804160" y="121158"/>
                    <a:pt x="2804160" y="270637"/>
                  </a:cubicBezTo>
                  <a:lnTo>
                    <a:pt x="2804160" y="1984883"/>
                  </a:lnTo>
                  <a:cubicBezTo>
                    <a:pt x="2804160" y="2134362"/>
                    <a:pt x="2683002" y="2255520"/>
                    <a:pt x="2533523" y="2255520"/>
                  </a:cubicBezTo>
                  <a:lnTo>
                    <a:pt x="270637" y="2255520"/>
                  </a:lnTo>
                  <a:cubicBezTo>
                    <a:pt x="121158" y="2255520"/>
                    <a:pt x="0" y="2134362"/>
                    <a:pt x="0" y="1984883"/>
                  </a:cubicBezTo>
                  <a:close/>
                </a:path>
              </a:pathLst>
            </a:custGeom>
            <a:solidFill>
              <a:srgbClr val="15193A"/>
            </a:solidFill>
          </p:spPr>
        </p:sp>
      </p:grpSp>
      <p:grpSp>
        <p:nvGrpSpPr>
          <p:cNvPr name="Group 20" id="20"/>
          <p:cNvGrpSpPr/>
          <p:nvPr/>
        </p:nvGrpSpPr>
        <p:grpSpPr>
          <a:xfrm rot="0">
            <a:off x="5394960" y="2560320"/>
            <a:ext cx="2103120" cy="868680"/>
            <a:chOff x="0" y="0"/>
            <a:chExt cx="2804160" cy="1158240"/>
          </a:xfrm>
        </p:grpSpPr>
        <p:sp>
          <p:nvSpPr>
            <p:cNvPr name="Freeform 21" id="21"/>
            <p:cNvSpPr/>
            <p:nvPr/>
          </p:nvSpPr>
          <p:spPr>
            <a:xfrm flipH="false" flipV="false" rot="0">
              <a:off x="0" y="0"/>
              <a:ext cx="2804160" cy="1158240"/>
            </a:xfrm>
            <a:custGeom>
              <a:avLst/>
              <a:gdLst/>
              <a:ahLst/>
              <a:cxnLst/>
              <a:rect r="r" b="b" t="t" l="l"/>
              <a:pathLst>
                <a:path h="1158240" w="2804160">
                  <a:moveTo>
                    <a:pt x="0" y="0"/>
                  </a:moveTo>
                  <a:lnTo>
                    <a:pt x="2804160" y="0"/>
                  </a:lnTo>
                  <a:lnTo>
                    <a:pt x="2804160" y="1158240"/>
                  </a:lnTo>
                  <a:lnTo>
                    <a:pt x="0" y="1158240"/>
                  </a:lnTo>
                  <a:close/>
                </a:path>
              </a:pathLst>
            </a:custGeom>
            <a:blipFill>
              <a:blip r:embed="rId3">
                <a:alphaModFix amt="0"/>
              </a:blip>
              <a:stretch>
                <a:fillRect l="-2994" t="0" r="-2994" b="0"/>
              </a:stretch>
            </a:blipFill>
          </p:spPr>
        </p:sp>
        <p:sp>
          <p:nvSpPr>
            <p:cNvPr name="TextBox 22" id="22"/>
            <p:cNvSpPr txBox="true"/>
            <p:nvPr/>
          </p:nvSpPr>
          <p:spPr>
            <a:xfrm>
              <a:off x="0" y="-38100"/>
              <a:ext cx="2804160" cy="1196340"/>
            </a:xfrm>
            <a:prstGeom prst="rect">
              <a:avLst/>
            </a:prstGeom>
          </p:spPr>
          <p:txBody>
            <a:bodyPr anchor="ctr" rtlCol="false" tIns="0" lIns="0" bIns="0" rIns="0"/>
            <a:lstStyle/>
            <a:p>
              <a:pPr algn="ctr">
                <a:lnSpc>
                  <a:spcPts val="5279"/>
                </a:lnSpc>
              </a:pPr>
              <a:r>
                <a:rPr lang="en-US" sz="3999" b="true">
                  <a:solidFill>
                    <a:srgbClr val="FFFFFF"/>
                  </a:solidFill>
                  <a:latin typeface="Montserrat Bold"/>
                  <a:ea typeface="Montserrat Bold"/>
                  <a:cs typeface="Montserrat Bold"/>
                  <a:sym typeface="Montserrat Bold"/>
                </a:rPr>
                <a:t>8</a:t>
              </a:r>
            </a:p>
          </p:txBody>
        </p:sp>
      </p:grpSp>
      <p:sp>
        <p:nvSpPr>
          <p:cNvPr name="TextBox 23" id="23"/>
          <p:cNvSpPr txBox="true"/>
          <p:nvPr/>
        </p:nvSpPr>
        <p:spPr>
          <a:xfrm rot="0">
            <a:off x="5486400" y="3419475"/>
            <a:ext cx="1920240" cy="649605"/>
          </a:xfrm>
          <a:prstGeom prst="rect">
            <a:avLst/>
          </a:prstGeom>
        </p:spPr>
        <p:txBody>
          <a:bodyPr anchor="t" rtlCol="false" tIns="0" lIns="0" bIns="0" rIns="0">
            <a:spAutoFit/>
          </a:bodyPr>
          <a:lstStyle/>
          <a:p>
            <a:pPr algn="ctr">
              <a:lnSpc>
                <a:spcPts val="1584"/>
              </a:lnSpc>
            </a:pPr>
            <a:r>
              <a:rPr lang="en-US" sz="1200">
                <a:solidFill>
                  <a:srgbClr val="C9D2F0"/>
                </a:solidFill>
                <a:latin typeface="Montserrat"/>
                <a:ea typeface="Montserrat"/>
                <a:cs typeface="Montserrat"/>
                <a:sym typeface="Montserrat"/>
              </a:rPr>
              <a:t>scripts SQL (01 a 08)</a:t>
            </a:r>
          </a:p>
        </p:txBody>
      </p:sp>
      <p:sp>
        <p:nvSpPr>
          <p:cNvPr name="TextBox 24" id="24"/>
          <p:cNvSpPr txBox="true"/>
          <p:nvPr/>
        </p:nvSpPr>
        <p:spPr>
          <a:xfrm rot="0">
            <a:off x="731520" y="4488180"/>
            <a:ext cx="6858000" cy="5341620"/>
          </a:xfrm>
          <a:prstGeom prst="rect">
            <a:avLst/>
          </a:prstGeom>
        </p:spPr>
        <p:txBody>
          <a:bodyPr anchor="t" rtlCol="false" tIns="0" lIns="0" bIns="0" rIns="0">
            <a:spAutoFit/>
          </a:bodyPr>
          <a:lstStyle/>
          <a:p>
            <a:pPr algn="l">
              <a:lnSpc>
                <a:spcPts val="2303"/>
              </a:lnSpc>
            </a:pPr>
            <a:r>
              <a:rPr lang="en-US" sz="1599" b="true">
                <a:solidFill>
                  <a:srgbClr val="FFFFFF"/>
                </a:solidFill>
                <a:latin typeface="Montserrat Bold"/>
                <a:ea typeface="Montserrat Bold"/>
                <a:cs typeface="Montserrat Bold"/>
                <a:sym typeface="Montserrat Bold"/>
              </a:rPr>
              <a:t>Implementado: </a:t>
            </a:r>
            <a:r>
              <a:rPr lang="en-US" sz="1599">
                <a:solidFill>
                  <a:srgbClr val="FFFFFF"/>
                </a:solidFill>
                <a:latin typeface="Montserrat"/>
                <a:ea typeface="Montserrat"/>
                <a:cs typeface="Montserrat"/>
                <a:sym typeface="Montserrat"/>
              </a:rPr>
              <a:t>scripts numerados en modelo_datos/; el 07 y el 08 son de la Consola Interna (tablas ops_* y funciones PL/pgSQL).</a:t>
            </a:r>
          </a:p>
          <a:p>
            <a:pPr algn="l">
              <a:lnSpc>
                <a:spcPts val="2303"/>
              </a:lnSpc>
            </a:pPr>
            <a:r>
              <a:rPr lang="en-US" sz="1599" b="true">
                <a:solidFill>
                  <a:srgbClr val="FFFFFF"/>
                </a:solidFill>
                <a:latin typeface="Montserrat Bold"/>
                <a:ea typeface="Montserrat Bold"/>
                <a:cs typeface="Montserrat Bold"/>
                <a:sym typeface="Montserrat Bold"/>
              </a:rPr>
              <a:t>Migraciones: </a:t>
            </a:r>
            <a:r>
              <a:rPr lang="en-US" sz="1599">
                <a:solidFill>
                  <a:srgbClr val="FFFFFF"/>
                </a:solidFill>
                <a:latin typeface="Montserrat"/>
                <a:ea typeface="Montserrat"/>
                <a:cs typeface="Montserrat"/>
                <a:sym typeface="Montserrat"/>
              </a:rPr>
              <a:t>el servicio migrate aplica los scripts en orden; la API verifica la versión al arrancar.</a:t>
            </a:r>
          </a:p>
          <a:p>
            <a:pPr algn="l">
              <a:lnSpc>
                <a:spcPts val="2303"/>
              </a:lnSpc>
            </a:pPr>
            <a:r>
              <a:rPr lang="en-US" sz="1599" b="true">
                <a:solidFill>
                  <a:srgbClr val="FFFFFF"/>
                </a:solidFill>
                <a:latin typeface="Montserrat Bold"/>
                <a:ea typeface="Montserrat Bold"/>
                <a:cs typeface="Montserrat Bold"/>
                <a:sym typeface="Montserrat Bold"/>
              </a:rPr>
              <a:t>Aislamiento: </a:t>
            </a:r>
            <a:r>
              <a:rPr lang="en-US" sz="1599">
                <a:solidFill>
                  <a:srgbClr val="FFFFFF"/>
                </a:solidFill>
                <a:latin typeface="Montserrat"/>
                <a:ea typeface="Montserrat"/>
                <a:cs typeface="Montserrat"/>
                <a:sym typeface="Montserrat"/>
              </a:rPr>
              <a:t>seguridad a nivel de fila (RLS) de PostgreSQL por empresa.</a:t>
            </a:r>
          </a:p>
          <a:p>
            <a:pPr algn="l">
              <a:lnSpc>
                <a:spcPts val="2303"/>
              </a:lnSpc>
            </a:pPr>
            <a:r>
              <a:rPr lang="en-US" sz="1599" b="true">
                <a:solidFill>
                  <a:srgbClr val="FFFFFF"/>
                </a:solidFill>
                <a:latin typeface="Montserrat Bold"/>
                <a:ea typeface="Montserrat Bold"/>
                <a:cs typeface="Montserrat Bold"/>
                <a:sym typeface="Montserrat Bold"/>
              </a:rPr>
              <a:t>Datos de prueba: </a:t>
            </a:r>
            <a:r>
              <a:rPr lang="en-US" sz="1599">
                <a:solidFill>
                  <a:srgbClr val="FFFFFF"/>
                </a:solidFill>
                <a:latin typeface="Montserrat"/>
                <a:ea typeface="Montserrat"/>
                <a:cs typeface="Montserrat"/>
                <a:sym typeface="Montserrat"/>
              </a:rPr>
              <a:t>datos_demo.py carga empresas en todos los estados. Hoy: 8 suscripciones, 21 facturas y 280 eventos de actividad.</a:t>
            </a:r>
          </a:p>
        </p:txBody>
      </p:sp>
      <p:grpSp>
        <p:nvGrpSpPr>
          <p:cNvPr name="Group 25" id="25"/>
          <p:cNvGrpSpPr/>
          <p:nvPr/>
        </p:nvGrpSpPr>
        <p:grpSpPr>
          <a:xfrm rot="0">
            <a:off x="7991475" y="2459355"/>
            <a:ext cx="9757410" cy="7379970"/>
            <a:chOff x="0" y="0"/>
            <a:chExt cx="13009880" cy="9839960"/>
          </a:xfrm>
        </p:grpSpPr>
        <p:sp>
          <p:nvSpPr>
            <p:cNvPr name="Freeform 26" id="26"/>
            <p:cNvSpPr/>
            <p:nvPr/>
          </p:nvSpPr>
          <p:spPr>
            <a:xfrm flipH="false" flipV="false" rot="0">
              <a:off x="0" y="0"/>
              <a:ext cx="13009880" cy="9839960"/>
            </a:xfrm>
            <a:custGeom>
              <a:avLst/>
              <a:gdLst/>
              <a:ahLst/>
              <a:cxnLst/>
              <a:rect r="r" b="b" t="t" l="l"/>
              <a:pathLst>
                <a:path h="9839960" w="13009880">
                  <a:moveTo>
                    <a:pt x="0" y="393573"/>
                  </a:moveTo>
                  <a:cubicBezTo>
                    <a:pt x="0" y="176276"/>
                    <a:pt x="176276" y="0"/>
                    <a:pt x="393573" y="0"/>
                  </a:cubicBezTo>
                  <a:lnTo>
                    <a:pt x="12616307" y="0"/>
                  </a:lnTo>
                  <a:cubicBezTo>
                    <a:pt x="12833731" y="0"/>
                    <a:pt x="13009880" y="176276"/>
                    <a:pt x="13009880" y="393573"/>
                  </a:cubicBezTo>
                  <a:lnTo>
                    <a:pt x="13009880" y="9446387"/>
                  </a:lnTo>
                  <a:cubicBezTo>
                    <a:pt x="13009880" y="9663811"/>
                    <a:pt x="12833603" y="9839960"/>
                    <a:pt x="12616307" y="9839960"/>
                  </a:cubicBezTo>
                  <a:lnTo>
                    <a:pt x="393573" y="9839960"/>
                  </a:lnTo>
                  <a:cubicBezTo>
                    <a:pt x="176276" y="9839960"/>
                    <a:pt x="0" y="9663684"/>
                    <a:pt x="0" y="9446387"/>
                  </a:cubicBezTo>
                  <a:close/>
                </a:path>
              </a:pathLst>
            </a:custGeom>
            <a:solidFill>
              <a:srgbClr val="15193A">
                <a:alpha val="30196"/>
              </a:srgbClr>
            </a:solidFill>
            <a:ln w="19050" cap="sq">
              <a:solidFill>
                <a:srgbClr val="3A4A9A"/>
              </a:solidFill>
              <a:prstDash val="solid"/>
              <a:miter/>
            </a:ln>
          </p:spPr>
        </p:sp>
      </p:grpSp>
      <p:sp>
        <p:nvSpPr>
          <p:cNvPr name="AutoShape 27" id="27"/>
          <p:cNvSpPr/>
          <p:nvPr/>
        </p:nvSpPr>
        <p:spPr>
          <a:xfrm rot="23700">
            <a:off x="9658626" y="3062859"/>
            <a:ext cx="3222698" cy="0"/>
          </a:xfrm>
          <a:prstGeom prst="line">
            <a:avLst/>
          </a:prstGeom>
          <a:ln cap="rnd" w="19050">
            <a:solidFill>
              <a:srgbClr val="6F8BFF"/>
            </a:solidFill>
            <a:prstDash val="solid"/>
            <a:headEnd type="none" len="sm" w="sm"/>
            <a:tailEnd type="none" len="sm" w="sm"/>
          </a:ln>
        </p:spPr>
      </p:sp>
      <p:sp>
        <p:nvSpPr>
          <p:cNvPr name="AutoShape 28" id="28"/>
          <p:cNvSpPr/>
          <p:nvPr/>
        </p:nvSpPr>
        <p:spPr>
          <a:xfrm rot="5341320">
            <a:off x="12218889" y="3702939"/>
            <a:ext cx="1302572" cy="0"/>
          </a:xfrm>
          <a:prstGeom prst="line">
            <a:avLst/>
          </a:prstGeom>
          <a:ln cap="rnd" w="19050">
            <a:solidFill>
              <a:srgbClr val="6F8BFF"/>
            </a:solidFill>
            <a:prstDash val="solid"/>
            <a:headEnd type="none" len="sm" w="sm"/>
            <a:tailEnd type="none" len="sm" w="sm"/>
          </a:ln>
        </p:spPr>
      </p:sp>
      <p:sp>
        <p:nvSpPr>
          <p:cNvPr name="AutoShape 29" id="29"/>
          <p:cNvSpPr/>
          <p:nvPr/>
        </p:nvSpPr>
        <p:spPr>
          <a:xfrm rot="9479640">
            <a:off x="12732458" y="3702939"/>
            <a:ext cx="3475844" cy="0"/>
          </a:xfrm>
          <a:prstGeom prst="line">
            <a:avLst/>
          </a:prstGeom>
          <a:ln cap="rnd" w="19050">
            <a:solidFill>
              <a:srgbClr val="6F8BFF"/>
            </a:solidFill>
            <a:prstDash val="solid"/>
            <a:headEnd type="none" len="sm" w="sm"/>
            <a:tailEnd type="none" len="sm" w="sm"/>
          </a:ln>
        </p:spPr>
      </p:sp>
      <p:sp>
        <p:nvSpPr>
          <p:cNvPr name="AutoShape 30" id="30"/>
          <p:cNvSpPr/>
          <p:nvPr/>
        </p:nvSpPr>
        <p:spPr>
          <a:xfrm rot="5341320">
            <a:off x="12218889" y="4983099"/>
            <a:ext cx="1302572" cy="0"/>
          </a:xfrm>
          <a:prstGeom prst="line">
            <a:avLst/>
          </a:prstGeom>
          <a:ln cap="rnd" w="19050">
            <a:solidFill>
              <a:srgbClr val="6F8BFF"/>
            </a:solidFill>
            <a:prstDash val="solid"/>
            <a:headEnd type="none" len="sm" w="sm"/>
            <a:tailEnd type="none" len="sm" w="sm"/>
          </a:ln>
        </p:spPr>
      </p:sp>
      <p:sp>
        <p:nvSpPr>
          <p:cNvPr name="AutoShape 31" id="31"/>
          <p:cNvSpPr/>
          <p:nvPr/>
        </p:nvSpPr>
        <p:spPr>
          <a:xfrm rot="9479640">
            <a:off x="9532058" y="3702939"/>
            <a:ext cx="3475844" cy="0"/>
          </a:xfrm>
          <a:prstGeom prst="line">
            <a:avLst/>
          </a:prstGeom>
          <a:ln cap="rnd" w="19050">
            <a:solidFill>
              <a:srgbClr val="6F8BFF"/>
            </a:solidFill>
            <a:prstDash val="solid"/>
            <a:headEnd type="none" len="sm" w="sm"/>
            <a:tailEnd type="none" len="sm" w="sm"/>
          </a:ln>
        </p:spPr>
      </p:sp>
      <p:sp>
        <p:nvSpPr>
          <p:cNvPr name="AutoShape 32" id="32"/>
          <p:cNvSpPr/>
          <p:nvPr/>
        </p:nvSpPr>
        <p:spPr>
          <a:xfrm rot="5341320">
            <a:off x="15419289" y="3702939"/>
            <a:ext cx="1302572" cy="0"/>
          </a:xfrm>
          <a:prstGeom prst="line">
            <a:avLst/>
          </a:prstGeom>
          <a:ln cap="rnd" w="19050">
            <a:solidFill>
              <a:srgbClr val="6F8BFF"/>
            </a:solidFill>
            <a:prstDash val="solid"/>
            <a:headEnd type="none" len="sm" w="sm"/>
            <a:tailEnd type="none" len="sm" w="sm"/>
          </a:ln>
        </p:spPr>
      </p:sp>
      <p:sp>
        <p:nvSpPr>
          <p:cNvPr name="AutoShape 33" id="33"/>
          <p:cNvSpPr/>
          <p:nvPr/>
        </p:nvSpPr>
        <p:spPr>
          <a:xfrm rot="5341320">
            <a:off x="15419289" y="4983099"/>
            <a:ext cx="1302572" cy="0"/>
          </a:xfrm>
          <a:prstGeom prst="line">
            <a:avLst/>
          </a:prstGeom>
          <a:ln cap="rnd" w="19050">
            <a:solidFill>
              <a:srgbClr val="6F8BFF"/>
            </a:solidFill>
            <a:prstDash val="solid"/>
            <a:headEnd type="none" len="sm" w="sm"/>
            <a:tailEnd type="none" len="sm" w="sm"/>
          </a:ln>
        </p:spPr>
      </p:sp>
      <p:sp>
        <p:nvSpPr>
          <p:cNvPr name="AutoShape 34" id="34"/>
          <p:cNvSpPr/>
          <p:nvPr/>
        </p:nvSpPr>
        <p:spPr>
          <a:xfrm rot="23700">
            <a:off x="9658626" y="7360539"/>
            <a:ext cx="3222698" cy="0"/>
          </a:xfrm>
          <a:prstGeom prst="line">
            <a:avLst/>
          </a:prstGeom>
          <a:ln cap="rnd" w="19050">
            <a:solidFill>
              <a:srgbClr val="6F8BFF"/>
            </a:solidFill>
            <a:prstDash val="solid"/>
            <a:headEnd type="none" len="sm" w="sm"/>
            <a:tailEnd type="none" len="sm" w="sm"/>
          </a:ln>
        </p:spPr>
      </p:sp>
      <p:sp>
        <p:nvSpPr>
          <p:cNvPr name="AutoShape 35" id="35"/>
          <p:cNvSpPr/>
          <p:nvPr/>
        </p:nvSpPr>
        <p:spPr>
          <a:xfrm rot="10776300">
            <a:off x="12859026" y="7360539"/>
            <a:ext cx="3222698" cy="0"/>
          </a:xfrm>
          <a:prstGeom prst="line">
            <a:avLst/>
          </a:prstGeom>
          <a:ln cap="rnd" w="19050">
            <a:solidFill>
              <a:srgbClr val="6F8BFF"/>
            </a:solidFill>
            <a:prstDash val="solid"/>
            <a:headEnd type="none" len="sm" w="sm"/>
            <a:tailEnd type="none" len="sm" w="sm"/>
          </a:ln>
        </p:spPr>
      </p:sp>
      <p:sp>
        <p:nvSpPr>
          <p:cNvPr name="AutoShape 36" id="36"/>
          <p:cNvSpPr/>
          <p:nvPr/>
        </p:nvSpPr>
        <p:spPr>
          <a:xfrm rot="-5341320">
            <a:off x="9018489" y="8000619"/>
            <a:ext cx="1302572" cy="0"/>
          </a:xfrm>
          <a:prstGeom prst="line">
            <a:avLst/>
          </a:prstGeom>
          <a:ln cap="rnd" w="19050">
            <a:solidFill>
              <a:srgbClr val="6F8BFF"/>
            </a:solidFill>
            <a:prstDash val="solid"/>
            <a:headEnd type="none" len="sm" w="sm"/>
            <a:tailEnd type="none" len="sm" w="sm"/>
          </a:ln>
        </p:spPr>
      </p:sp>
      <p:sp>
        <p:nvSpPr>
          <p:cNvPr name="AutoShape 37" id="37"/>
          <p:cNvSpPr/>
          <p:nvPr/>
        </p:nvSpPr>
        <p:spPr>
          <a:xfrm rot="-5341320">
            <a:off x="12218889" y="8000619"/>
            <a:ext cx="1302572" cy="0"/>
          </a:xfrm>
          <a:prstGeom prst="line">
            <a:avLst/>
          </a:prstGeom>
          <a:ln cap="rnd" w="19050">
            <a:solidFill>
              <a:srgbClr val="6F8BFF"/>
            </a:solidFill>
            <a:prstDash val="solid"/>
            <a:headEnd type="none" len="sm" w="sm"/>
            <a:tailEnd type="none" len="sm" w="sm"/>
          </a:ln>
        </p:spPr>
      </p:sp>
      <p:grpSp>
        <p:nvGrpSpPr>
          <p:cNvPr name="Group 38" id="38"/>
          <p:cNvGrpSpPr/>
          <p:nvPr/>
        </p:nvGrpSpPr>
        <p:grpSpPr>
          <a:xfrm rot="0">
            <a:off x="8265795" y="2779395"/>
            <a:ext cx="2807970" cy="585978"/>
            <a:chOff x="0" y="0"/>
            <a:chExt cx="3743960" cy="781304"/>
          </a:xfrm>
        </p:grpSpPr>
        <p:sp>
          <p:nvSpPr>
            <p:cNvPr name="Freeform 39" id="39"/>
            <p:cNvSpPr/>
            <p:nvPr/>
          </p:nvSpPr>
          <p:spPr>
            <a:xfrm flipH="false" flipV="false" rot="0">
              <a:off x="0" y="0"/>
              <a:ext cx="3743960" cy="781304"/>
            </a:xfrm>
            <a:custGeom>
              <a:avLst/>
              <a:gdLst/>
              <a:ahLst/>
              <a:cxnLst/>
              <a:rect r="r" b="b" t="t" l="l"/>
              <a:pathLst>
                <a:path h="781304" w="3743960">
                  <a:moveTo>
                    <a:pt x="0" y="156210"/>
                  </a:moveTo>
                  <a:cubicBezTo>
                    <a:pt x="0" y="69977"/>
                    <a:pt x="69977" y="0"/>
                    <a:pt x="156210" y="0"/>
                  </a:cubicBezTo>
                  <a:lnTo>
                    <a:pt x="3587750" y="0"/>
                  </a:lnTo>
                  <a:cubicBezTo>
                    <a:pt x="3674110" y="0"/>
                    <a:pt x="3743960" y="69977"/>
                    <a:pt x="3743960" y="156210"/>
                  </a:cubicBezTo>
                  <a:lnTo>
                    <a:pt x="3743960" y="625094"/>
                  </a:lnTo>
                  <a:cubicBezTo>
                    <a:pt x="3743960" y="711454"/>
                    <a:pt x="3673983" y="781304"/>
                    <a:pt x="3587750" y="781304"/>
                  </a:cubicBezTo>
                  <a:lnTo>
                    <a:pt x="156210" y="781304"/>
                  </a:lnTo>
                  <a:cubicBezTo>
                    <a:pt x="69977" y="781304"/>
                    <a:pt x="0" y="711327"/>
                    <a:pt x="0" y="625094"/>
                  </a:cubicBezTo>
                  <a:close/>
                </a:path>
              </a:pathLst>
            </a:custGeom>
            <a:solidFill>
              <a:srgbClr val="15193A"/>
            </a:solidFill>
            <a:ln w="19050" cap="sq">
              <a:solidFill>
                <a:srgbClr val="C9D2F0"/>
              </a:solidFill>
              <a:prstDash val="solid"/>
              <a:miter/>
            </a:ln>
          </p:spPr>
        </p:sp>
      </p:grpSp>
      <p:grpSp>
        <p:nvGrpSpPr>
          <p:cNvPr name="Group 40" id="40"/>
          <p:cNvGrpSpPr/>
          <p:nvPr/>
        </p:nvGrpSpPr>
        <p:grpSpPr>
          <a:xfrm rot="0">
            <a:off x="8275320" y="2788920"/>
            <a:ext cx="2788920" cy="566928"/>
            <a:chOff x="0" y="0"/>
            <a:chExt cx="3718560" cy="755904"/>
          </a:xfrm>
        </p:grpSpPr>
        <p:sp>
          <p:nvSpPr>
            <p:cNvPr name="Freeform 41" id="41"/>
            <p:cNvSpPr/>
            <p:nvPr/>
          </p:nvSpPr>
          <p:spPr>
            <a:xfrm flipH="false" flipV="false" rot="0">
              <a:off x="0" y="0"/>
              <a:ext cx="3718560" cy="755904"/>
            </a:xfrm>
            <a:custGeom>
              <a:avLst/>
              <a:gdLst/>
              <a:ahLst/>
              <a:cxnLst/>
              <a:rect r="r" b="b" t="t" l="l"/>
              <a:pathLst>
                <a:path h="755904" w="3718560">
                  <a:moveTo>
                    <a:pt x="0" y="0"/>
                  </a:moveTo>
                  <a:lnTo>
                    <a:pt x="3718560" y="0"/>
                  </a:lnTo>
                  <a:lnTo>
                    <a:pt x="3718560" y="755904"/>
                  </a:lnTo>
                  <a:lnTo>
                    <a:pt x="0" y="755904"/>
                  </a:lnTo>
                  <a:close/>
                </a:path>
              </a:pathLst>
            </a:custGeom>
            <a:blipFill>
              <a:blip r:embed="rId3">
                <a:alphaModFix amt="0"/>
              </a:blip>
              <a:stretch>
                <a:fillRect l="0" t="-45853" r="0" b="-45853"/>
              </a:stretch>
            </a:blipFill>
          </p:spPr>
        </p:sp>
        <p:sp>
          <p:nvSpPr>
            <p:cNvPr name="TextBox 42" id="42"/>
            <p:cNvSpPr txBox="true"/>
            <p:nvPr/>
          </p:nvSpPr>
          <p:spPr>
            <a:xfrm>
              <a:off x="0" y="-9525"/>
              <a:ext cx="3718560" cy="765429"/>
            </a:xfrm>
            <a:prstGeom prst="rect">
              <a:avLst/>
            </a:prstGeom>
          </p:spPr>
          <p:txBody>
            <a:bodyPr anchor="ctr" rtlCol="false" tIns="0" lIns="0" bIns="0" rIns="0"/>
            <a:lstStyle/>
            <a:p>
              <a:pPr algn="ctr">
                <a:lnSpc>
                  <a:spcPts val="1584"/>
                </a:lnSpc>
              </a:pPr>
              <a:r>
                <a:rPr lang="en-US" sz="1200" b="true">
                  <a:solidFill>
                    <a:srgbClr val="FFFFFF"/>
                  </a:solidFill>
                  <a:latin typeface="Montserrat Medium"/>
                  <a:ea typeface="Montserrat Medium"/>
                  <a:cs typeface="Montserrat Medium"/>
                  <a:sym typeface="Montserrat Medium"/>
                </a:rPr>
                <a:t>users</a:t>
              </a:r>
            </a:p>
          </p:txBody>
        </p:sp>
      </p:grpSp>
      <p:grpSp>
        <p:nvGrpSpPr>
          <p:cNvPr name="Group 43" id="43"/>
          <p:cNvGrpSpPr/>
          <p:nvPr/>
        </p:nvGrpSpPr>
        <p:grpSpPr>
          <a:xfrm rot="0">
            <a:off x="11466195" y="2779395"/>
            <a:ext cx="2807970" cy="585978"/>
            <a:chOff x="0" y="0"/>
            <a:chExt cx="3743960" cy="781304"/>
          </a:xfrm>
        </p:grpSpPr>
        <p:sp>
          <p:nvSpPr>
            <p:cNvPr name="Freeform 44" id="44"/>
            <p:cNvSpPr/>
            <p:nvPr/>
          </p:nvSpPr>
          <p:spPr>
            <a:xfrm flipH="false" flipV="false" rot="0">
              <a:off x="0" y="0"/>
              <a:ext cx="3743960" cy="781304"/>
            </a:xfrm>
            <a:custGeom>
              <a:avLst/>
              <a:gdLst/>
              <a:ahLst/>
              <a:cxnLst/>
              <a:rect r="r" b="b" t="t" l="l"/>
              <a:pathLst>
                <a:path h="781304" w="3743960">
                  <a:moveTo>
                    <a:pt x="0" y="156210"/>
                  </a:moveTo>
                  <a:cubicBezTo>
                    <a:pt x="0" y="69977"/>
                    <a:pt x="69977" y="0"/>
                    <a:pt x="156210" y="0"/>
                  </a:cubicBezTo>
                  <a:lnTo>
                    <a:pt x="3587750" y="0"/>
                  </a:lnTo>
                  <a:cubicBezTo>
                    <a:pt x="3674110" y="0"/>
                    <a:pt x="3743960" y="69977"/>
                    <a:pt x="3743960" y="156210"/>
                  </a:cubicBezTo>
                  <a:lnTo>
                    <a:pt x="3743960" y="625094"/>
                  </a:lnTo>
                  <a:cubicBezTo>
                    <a:pt x="3743960" y="711454"/>
                    <a:pt x="3673983" y="781304"/>
                    <a:pt x="3587750" y="781304"/>
                  </a:cubicBezTo>
                  <a:lnTo>
                    <a:pt x="156210" y="781304"/>
                  </a:lnTo>
                  <a:cubicBezTo>
                    <a:pt x="69977" y="781304"/>
                    <a:pt x="0" y="711327"/>
                    <a:pt x="0" y="625094"/>
                  </a:cubicBezTo>
                  <a:close/>
                </a:path>
              </a:pathLst>
            </a:custGeom>
            <a:solidFill>
              <a:srgbClr val="15193A"/>
            </a:solidFill>
            <a:ln w="19050" cap="sq">
              <a:solidFill>
                <a:srgbClr val="C9D2F0"/>
              </a:solidFill>
              <a:prstDash val="solid"/>
              <a:miter/>
            </a:ln>
          </p:spPr>
        </p:sp>
      </p:grpSp>
      <p:grpSp>
        <p:nvGrpSpPr>
          <p:cNvPr name="Group 45" id="45"/>
          <p:cNvGrpSpPr/>
          <p:nvPr/>
        </p:nvGrpSpPr>
        <p:grpSpPr>
          <a:xfrm rot="0">
            <a:off x="11475720" y="2788920"/>
            <a:ext cx="2788920" cy="566928"/>
            <a:chOff x="0" y="0"/>
            <a:chExt cx="3718560" cy="755904"/>
          </a:xfrm>
        </p:grpSpPr>
        <p:sp>
          <p:nvSpPr>
            <p:cNvPr name="Freeform 46" id="46"/>
            <p:cNvSpPr/>
            <p:nvPr/>
          </p:nvSpPr>
          <p:spPr>
            <a:xfrm flipH="false" flipV="false" rot="0">
              <a:off x="0" y="0"/>
              <a:ext cx="3718560" cy="755904"/>
            </a:xfrm>
            <a:custGeom>
              <a:avLst/>
              <a:gdLst/>
              <a:ahLst/>
              <a:cxnLst/>
              <a:rect r="r" b="b" t="t" l="l"/>
              <a:pathLst>
                <a:path h="755904" w="3718560">
                  <a:moveTo>
                    <a:pt x="0" y="0"/>
                  </a:moveTo>
                  <a:lnTo>
                    <a:pt x="3718560" y="0"/>
                  </a:lnTo>
                  <a:lnTo>
                    <a:pt x="3718560" y="755904"/>
                  </a:lnTo>
                  <a:lnTo>
                    <a:pt x="0" y="755904"/>
                  </a:lnTo>
                  <a:close/>
                </a:path>
              </a:pathLst>
            </a:custGeom>
            <a:blipFill>
              <a:blip r:embed="rId3">
                <a:alphaModFix amt="0"/>
              </a:blip>
              <a:stretch>
                <a:fillRect l="0" t="-45853" r="0" b="-45853"/>
              </a:stretch>
            </a:blipFill>
          </p:spPr>
        </p:sp>
        <p:sp>
          <p:nvSpPr>
            <p:cNvPr name="TextBox 47" id="47"/>
            <p:cNvSpPr txBox="true"/>
            <p:nvPr/>
          </p:nvSpPr>
          <p:spPr>
            <a:xfrm>
              <a:off x="0" y="-9525"/>
              <a:ext cx="3718560" cy="765429"/>
            </a:xfrm>
            <a:prstGeom prst="rect">
              <a:avLst/>
            </a:prstGeom>
          </p:spPr>
          <p:txBody>
            <a:bodyPr anchor="ctr" rtlCol="false" tIns="0" lIns="0" bIns="0" rIns="0"/>
            <a:lstStyle/>
            <a:p>
              <a:pPr algn="ctr">
                <a:lnSpc>
                  <a:spcPts val="1584"/>
                </a:lnSpc>
              </a:pPr>
              <a:r>
                <a:rPr lang="en-US" sz="1200" b="true">
                  <a:solidFill>
                    <a:srgbClr val="FFFFFF"/>
                  </a:solidFill>
                  <a:latin typeface="Montserrat Medium"/>
                  <a:ea typeface="Montserrat Medium"/>
                  <a:cs typeface="Montserrat Medium"/>
                  <a:sym typeface="Montserrat Medium"/>
                </a:rPr>
                <a:t>companies</a:t>
              </a:r>
            </a:p>
          </p:txBody>
        </p:sp>
      </p:grpSp>
      <p:grpSp>
        <p:nvGrpSpPr>
          <p:cNvPr name="Group 48" id="48"/>
          <p:cNvGrpSpPr/>
          <p:nvPr/>
        </p:nvGrpSpPr>
        <p:grpSpPr>
          <a:xfrm rot="0">
            <a:off x="14676120" y="2788920"/>
            <a:ext cx="2788920" cy="566928"/>
            <a:chOff x="0" y="0"/>
            <a:chExt cx="3718560" cy="755904"/>
          </a:xfrm>
        </p:grpSpPr>
        <p:sp>
          <p:nvSpPr>
            <p:cNvPr name="Freeform 49" id="49"/>
            <p:cNvSpPr/>
            <p:nvPr/>
          </p:nvSpPr>
          <p:spPr>
            <a:xfrm flipH="false" flipV="false" rot="0">
              <a:off x="0" y="0"/>
              <a:ext cx="3718560" cy="755904"/>
            </a:xfrm>
            <a:custGeom>
              <a:avLst/>
              <a:gdLst/>
              <a:ahLst/>
              <a:cxnLst/>
              <a:rect r="r" b="b" t="t" l="l"/>
              <a:pathLst>
                <a:path h="755904" w="3718560">
                  <a:moveTo>
                    <a:pt x="0" y="151130"/>
                  </a:moveTo>
                  <a:cubicBezTo>
                    <a:pt x="0" y="67691"/>
                    <a:pt x="67691" y="0"/>
                    <a:pt x="151130" y="0"/>
                  </a:cubicBezTo>
                  <a:lnTo>
                    <a:pt x="3567430" y="0"/>
                  </a:lnTo>
                  <a:cubicBezTo>
                    <a:pt x="3650869" y="0"/>
                    <a:pt x="3718560" y="67691"/>
                    <a:pt x="3718560" y="151130"/>
                  </a:cubicBezTo>
                  <a:lnTo>
                    <a:pt x="3718560" y="604774"/>
                  </a:lnTo>
                  <a:cubicBezTo>
                    <a:pt x="3718560" y="688213"/>
                    <a:pt x="3650869" y="755904"/>
                    <a:pt x="3567430" y="755904"/>
                  </a:cubicBezTo>
                  <a:lnTo>
                    <a:pt x="151130" y="755904"/>
                  </a:lnTo>
                  <a:cubicBezTo>
                    <a:pt x="67691" y="755904"/>
                    <a:pt x="0" y="688213"/>
                    <a:pt x="0" y="604774"/>
                  </a:cubicBezTo>
                  <a:close/>
                </a:path>
              </a:pathLst>
            </a:custGeom>
            <a:solidFill>
              <a:srgbClr val="2B41B5"/>
            </a:solidFill>
          </p:spPr>
        </p:sp>
      </p:grpSp>
      <p:grpSp>
        <p:nvGrpSpPr>
          <p:cNvPr name="Group 50" id="50"/>
          <p:cNvGrpSpPr/>
          <p:nvPr/>
        </p:nvGrpSpPr>
        <p:grpSpPr>
          <a:xfrm rot="0">
            <a:off x="14676120" y="2788920"/>
            <a:ext cx="2788920" cy="566928"/>
            <a:chOff x="0" y="0"/>
            <a:chExt cx="3718560" cy="755904"/>
          </a:xfrm>
        </p:grpSpPr>
        <p:sp>
          <p:nvSpPr>
            <p:cNvPr name="Freeform 51" id="51"/>
            <p:cNvSpPr/>
            <p:nvPr/>
          </p:nvSpPr>
          <p:spPr>
            <a:xfrm flipH="false" flipV="false" rot="0">
              <a:off x="0" y="0"/>
              <a:ext cx="3718560" cy="755904"/>
            </a:xfrm>
            <a:custGeom>
              <a:avLst/>
              <a:gdLst/>
              <a:ahLst/>
              <a:cxnLst/>
              <a:rect r="r" b="b" t="t" l="l"/>
              <a:pathLst>
                <a:path h="755904" w="3718560">
                  <a:moveTo>
                    <a:pt x="0" y="0"/>
                  </a:moveTo>
                  <a:lnTo>
                    <a:pt x="3718560" y="0"/>
                  </a:lnTo>
                  <a:lnTo>
                    <a:pt x="3718560" y="755904"/>
                  </a:lnTo>
                  <a:lnTo>
                    <a:pt x="0" y="755904"/>
                  </a:lnTo>
                  <a:close/>
                </a:path>
              </a:pathLst>
            </a:custGeom>
            <a:blipFill>
              <a:blip r:embed="rId3">
                <a:alphaModFix amt="0"/>
              </a:blip>
              <a:stretch>
                <a:fillRect l="0" t="-45853" r="0" b="-45853"/>
              </a:stretch>
            </a:blipFill>
          </p:spPr>
        </p:sp>
        <p:sp>
          <p:nvSpPr>
            <p:cNvPr name="TextBox 52" id="52"/>
            <p:cNvSpPr txBox="true"/>
            <p:nvPr/>
          </p:nvSpPr>
          <p:spPr>
            <a:xfrm>
              <a:off x="0" y="-9525"/>
              <a:ext cx="3718560" cy="765429"/>
            </a:xfrm>
            <a:prstGeom prst="rect">
              <a:avLst/>
            </a:prstGeom>
          </p:spPr>
          <p:txBody>
            <a:bodyPr anchor="ctr" rtlCol="false" tIns="0" lIns="0" bIns="0" rIns="0"/>
            <a:lstStyle/>
            <a:p>
              <a:pPr algn="ctr">
                <a:lnSpc>
                  <a:spcPts val="1584"/>
                </a:lnSpc>
              </a:pPr>
              <a:r>
                <a:rPr lang="en-US" sz="1200" b="true">
                  <a:solidFill>
                    <a:srgbClr val="FFFFFF"/>
                  </a:solidFill>
                  <a:latin typeface="Montserrat Medium"/>
                  <a:ea typeface="Montserrat Medium"/>
                  <a:cs typeface="Montserrat Medium"/>
                  <a:sym typeface="Montserrat Medium"/>
                </a:rPr>
                <a:t>planes</a:t>
              </a:r>
            </a:p>
          </p:txBody>
        </p:sp>
      </p:grpSp>
      <p:grpSp>
        <p:nvGrpSpPr>
          <p:cNvPr name="Group 53" id="53"/>
          <p:cNvGrpSpPr/>
          <p:nvPr/>
        </p:nvGrpSpPr>
        <p:grpSpPr>
          <a:xfrm rot="0">
            <a:off x="8275320" y="4069080"/>
            <a:ext cx="2788920" cy="566928"/>
            <a:chOff x="0" y="0"/>
            <a:chExt cx="3718560" cy="755904"/>
          </a:xfrm>
        </p:grpSpPr>
        <p:sp>
          <p:nvSpPr>
            <p:cNvPr name="Freeform 54" id="54"/>
            <p:cNvSpPr/>
            <p:nvPr/>
          </p:nvSpPr>
          <p:spPr>
            <a:xfrm flipH="false" flipV="false" rot="0">
              <a:off x="0" y="0"/>
              <a:ext cx="3718560" cy="755904"/>
            </a:xfrm>
            <a:custGeom>
              <a:avLst/>
              <a:gdLst/>
              <a:ahLst/>
              <a:cxnLst/>
              <a:rect r="r" b="b" t="t" l="l"/>
              <a:pathLst>
                <a:path h="755904" w="3718560">
                  <a:moveTo>
                    <a:pt x="0" y="151130"/>
                  </a:moveTo>
                  <a:cubicBezTo>
                    <a:pt x="0" y="67691"/>
                    <a:pt x="67691" y="0"/>
                    <a:pt x="151130" y="0"/>
                  </a:cubicBezTo>
                  <a:lnTo>
                    <a:pt x="3567430" y="0"/>
                  </a:lnTo>
                  <a:cubicBezTo>
                    <a:pt x="3650869" y="0"/>
                    <a:pt x="3718560" y="67691"/>
                    <a:pt x="3718560" y="151130"/>
                  </a:cubicBezTo>
                  <a:lnTo>
                    <a:pt x="3718560" y="604774"/>
                  </a:lnTo>
                  <a:cubicBezTo>
                    <a:pt x="3718560" y="688213"/>
                    <a:pt x="3650869" y="755904"/>
                    <a:pt x="3567430" y="755904"/>
                  </a:cubicBezTo>
                  <a:lnTo>
                    <a:pt x="151130" y="755904"/>
                  </a:lnTo>
                  <a:cubicBezTo>
                    <a:pt x="67691" y="755904"/>
                    <a:pt x="0" y="688213"/>
                    <a:pt x="0" y="604774"/>
                  </a:cubicBezTo>
                  <a:close/>
                </a:path>
              </a:pathLst>
            </a:custGeom>
            <a:solidFill>
              <a:srgbClr val="2B41B5"/>
            </a:solidFill>
          </p:spPr>
        </p:sp>
      </p:grpSp>
      <p:grpSp>
        <p:nvGrpSpPr>
          <p:cNvPr name="Group 55" id="55"/>
          <p:cNvGrpSpPr/>
          <p:nvPr/>
        </p:nvGrpSpPr>
        <p:grpSpPr>
          <a:xfrm rot="0">
            <a:off x="8275320" y="4069080"/>
            <a:ext cx="2788920" cy="566928"/>
            <a:chOff x="0" y="0"/>
            <a:chExt cx="3718560" cy="755904"/>
          </a:xfrm>
        </p:grpSpPr>
        <p:sp>
          <p:nvSpPr>
            <p:cNvPr name="Freeform 56" id="56"/>
            <p:cNvSpPr/>
            <p:nvPr/>
          </p:nvSpPr>
          <p:spPr>
            <a:xfrm flipH="false" flipV="false" rot="0">
              <a:off x="0" y="0"/>
              <a:ext cx="3718560" cy="755904"/>
            </a:xfrm>
            <a:custGeom>
              <a:avLst/>
              <a:gdLst/>
              <a:ahLst/>
              <a:cxnLst/>
              <a:rect r="r" b="b" t="t" l="l"/>
              <a:pathLst>
                <a:path h="755904" w="3718560">
                  <a:moveTo>
                    <a:pt x="0" y="0"/>
                  </a:moveTo>
                  <a:lnTo>
                    <a:pt x="3718560" y="0"/>
                  </a:lnTo>
                  <a:lnTo>
                    <a:pt x="3718560" y="755904"/>
                  </a:lnTo>
                  <a:lnTo>
                    <a:pt x="0" y="755904"/>
                  </a:lnTo>
                  <a:close/>
                </a:path>
              </a:pathLst>
            </a:custGeom>
            <a:blipFill>
              <a:blip r:embed="rId3">
                <a:alphaModFix amt="0"/>
              </a:blip>
              <a:stretch>
                <a:fillRect l="0" t="-45853" r="0" b="-45853"/>
              </a:stretch>
            </a:blipFill>
          </p:spPr>
        </p:sp>
        <p:sp>
          <p:nvSpPr>
            <p:cNvPr name="TextBox 57" id="57"/>
            <p:cNvSpPr txBox="true"/>
            <p:nvPr/>
          </p:nvSpPr>
          <p:spPr>
            <a:xfrm>
              <a:off x="0" y="-9525"/>
              <a:ext cx="3718560" cy="765429"/>
            </a:xfrm>
            <a:prstGeom prst="rect">
              <a:avLst/>
            </a:prstGeom>
          </p:spPr>
          <p:txBody>
            <a:bodyPr anchor="ctr" rtlCol="false" tIns="0" lIns="0" bIns="0" rIns="0"/>
            <a:lstStyle/>
            <a:p>
              <a:pPr algn="ctr">
                <a:lnSpc>
                  <a:spcPts val="1584"/>
                </a:lnSpc>
              </a:pPr>
              <a:r>
                <a:rPr lang="en-US" sz="1200" b="true">
                  <a:solidFill>
                    <a:srgbClr val="FFFFFF"/>
                  </a:solidFill>
                  <a:latin typeface="Montserrat Medium"/>
                  <a:ea typeface="Montserrat Medium"/>
                  <a:cs typeface="Montserrat Medium"/>
                  <a:sym typeface="Montserrat Medium"/>
                </a:rPr>
                <a:t>actividad</a:t>
              </a:r>
            </a:p>
          </p:txBody>
        </p:sp>
      </p:grpSp>
      <p:grpSp>
        <p:nvGrpSpPr>
          <p:cNvPr name="Group 58" id="58"/>
          <p:cNvGrpSpPr/>
          <p:nvPr/>
        </p:nvGrpSpPr>
        <p:grpSpPr>
          <a:xfrm rot="0">
            <a:off x="11475720" y="4069080"/>
            <a:ext cx="2788920" cy="566928"/>
            <a:chOff x="0" y="0"/>
            <a:chExt cx="3718560" cy="755904"/>
          </a:xfrm>
        </p:grpSpPr>
        <p:sp>
          <p:nvSpPr>
            <p:cNvPr name="Freeform 59" id="59"/>
            <p:cNvSpPr/>
            <p:nvPr/>
          </p:nvSpPr>
          <p:spPr>
            <a:xfrm flipH="false" flipV="false" rot="0">
              <a:off x="0" y="0"/>
              <a:ext cx="3718560" cy="755904"/>
            </a:xfrm>
            <a:custGeom>
              <a:avLst/>
              <a:gdLst/>
              <a:ahLst/>
              <a:cxnLst/>
              <a:rect r="r" b="b" t="t" l="l"/>
              <a:pathLst>
                <a:path h="755904" w="3718560">
                  <a:moveTo>
                    <a:pt x="0" y="151130"/>
                  </a:moveTo>
                  <a:cubicBezTo>
                    <a:pt x="0" y="67691"/>
                    <a:pt x="67691" y="0"/>
                    <a:pt x="151130" y="0"/>
                  </a:cubicBezTo>
                  <a:lnTo>
                    <a:pt x="3567430" y="0"/>
                  </a:lnTo>
                  <a:cubicBezTo>
                    <a:pt x="3650869" y="0"/>
                    <a:pt x="3718560" y="67691"/>
                    <a:pt x="3718560" y="151130"/>
                  </a:cubicBezTo>
                  <a:lnTo>
                    <a:pt x="3718560" y="604774"/>
                  </a:lnTo>
                  <a:cubicBezTo>
                    <a:pt x="3718560" y="688213"/>
                    <a:pt x="3650869" y="755904"/>
                    <a:pt x="3567430" y="755904"/>
                  </a:cubicBezTo>
                  <a:lnTo>
                    <a:pt x="151130" y="755904"/>
                  </a:lnTo>
                  <a:cubicBezTo>
                    <a:pt x="67691" y="755904"/>
                    <a:pt x="0" y="688213"/>
                    <a:pt x="0" y="604774"/>
                  </a:cubicBezTo>
                  <a:close/>
                </a:path>
              </a:pathLst>
            </a:custGeom>
            <a:solidFill>
              <a:srgbClr val="2B41B5"/>
            </a:solidFill>
          </p:spPr>
        </p:sp>
      </p:grpSp>
      <p:grpSp>
        <p:nvGrpSpPr>
          <p:cNvPr name="Group 60" id="60"/>
          <p:cNvGrpSpPr/>
          <p:nvPr/>
        </p:nvGrpSpPr>
        <p:grpSpPr>
          <a:xfrm rot="0">
            <a:off x="11475720" y="4069080"/>
            <a:ext cx="2788920" cy="566928"/>
            <a:chOff x="0" y="0"/>
            <a:chExt cx="3718560" cy="755904"/>
          </a:xfrm>
        </p:grpSpPr>
        <p:sp>
          <p:nvSpPr>
            <p:cNvPr name="Freeform 61" id="61"/>
            <p:cNvSpPr/>
            <p:nvPr/>
          </p:nvSpPr>
          <p:spPr>
            <a:xfrm flipH="false" flipV="false" rot="0">
              <a:off x="0" y="0"/>
              <a:ext cx="3718560" cy="755904"/>
            </a:xfrm>
            <a:custGeom>
              <a:avLst/>
              <a:gdLst/>
              <a:ahLst/>
              <a:cxnLst/>
              <a:rect r="r" b="b" t="t" l="l"/>
              <a:pathLst>
                <a:path h="755904" w="3718560">
                  <a:moveTo>
                    <a:pt x="0" y="0"/>
                  </a:moveTo>
                  <a:lnTo>
                    <a:pt x="3718560" y="0"/>
                  </a:lnTo>
                  <a:lnTo>
                    <a:pt x="3718560" y="755904"/>
                  </a:lnTo>
                  <a:lnTo>
                    <a:pt x="0" y="755904"/>
                  </a:lnTo>
                  <a:close/>
                </a:path>
              </a:pathLst>
            </a:custGeom>
            <a:blipFill>
              <a:blip r:embed="rId3">
                <a:alphaModFix amt="0"/>
              </a:blip>
              <a:stretch>
                <a:fillRect l="0" t="-45853" r="0" b="-45853"/>
              </a:stretch>
            </a:blipFill>
          </p:spPr>
        </p:sp>
        <p:sp>
          <p:nvSpPr>
            <p:cNvPr name="TextBox 62" id="62"/>
            <p:cNvSpPr txBox="true"/>
            <p:nvPr/>
          </p:nvSpPr>
          <p:spPr>
            <a:xfrm>
              <a:off x="0" y="-9525"/>
              <a:ext cx="3718560" cy="765429"/>
            </a:xfrm>
            <a:prstGeom prst="rect">
              <a:avLst/>
            </a:prstGeom>
          </p:spPr>
          <p:txBody>
            <a:bodyPr anchor="ctr" rtlCol="false" tIns="0" lIns="0" bIns="0" rIns="0"/>
            <a:lstStyle/>
            <a:p>
              <a:pPr algn="ctr">
                <a:lnSpc>
                  <a:spcPts val="1584"/>
                </a:lnSpc>
              </a:pPr>
              <a:r>
                <a:rPr lang="en-US" sz="1200" b="true">
                  <a:solidFill>
                    <a:srgbClr val="FFFFFF"/>
                  </a:solidFill>
                  <a:latin typeface="Montserrat Medium"/>
                  <a:ea typeface="Montserrat Medium"/>
                  <a:cs typeface="Montserrat Medium"/>
                  <a:sym typeface="Montserrat Medium"/>
                </a:rPr>
                <a:t>suscripciones</a:t>
              </a:r>
            </a:p>
          </p:txBody>
        </p:sp>
      </p:grpSp>
      <p:grpSp>
        <p:nvGrpSpPr>
          <p:cNvPr name="Group 63" id="63"/>
          <p:cNvGrpSpPr/>
          <p:nvPr/>
        </p:nvGrpSpPr>
        <p:grpSpPr>
          <a:xfrm rot="0">
            <a:off x="14676120" y="4069080"/>
            <a:ext cx="2788920" cy="566928"/>
            <a:chOff x="0" y="0"/>
            <a:chExt cx="3718560" cy="755904"/>
          </a:xfrm>
        </p:grpSpPr>
        <p:sp>
          <p:nvSpPr>
            <p:cNvPr name="Freeform 64" id="64"/>
            <p:cNvSpPr/>
            <p:nvPr/>
          </p:nvSpPr>
          <p:spPr>
            <a:xfrm flipH="false" flipV="false" rot="0">
              <a:off x="0" y="0"/>
              <a:ext cx="3718560" cy="755904"/>
            </a:xfrm>
            <a:custGeom>
              <a:avLst/>
              <a:gdLst/>
              <a:ahLst/>
              <a:cxnLst/>
              <a:rect r="r" b="b" t="t" l="l"/>
              <a:pathLst>
                <a:path h="755904" w="3718560">
                  <a:moveTo>
                    <a:pt x="0" y="151130"/>
                  </a:moveTo>
                  <a:cubicBezTo>
                    <a:pt x="0" y="67691"/>
                    <a:pt x="67691" y="0"/>
                    <a:pt x="151130" y="0"/>
                  </a:cubicBezTo>
                  <a:lnTo>
                    <a:pt x="3567430" y="0"/>
                  </a:lnTo>
                  <a:cubicBezTo>
                    <a:pt x="3650869" y="0"/>
                    <a:pt x="3718560" y="67691"/>
                    <a:pt x="3718560" y="151130"/>
                  </a:cubicBezTo>
                  <a:lnTo>
                    <a:pt x="3718560" y="604774"/>
                  </a:lnTo>
                  <a:cubicBezTo>
                    <a:pt x="3718560" y="688213"/>
                    <a:pt x="3650869" y="755904"/>
                    <a:pt x="3567430" y="755904"/>
                  </a:cubicBezTo>
                  <a:lnTo>
                    <a:pt x="151130" y="755904"/>
                  </a:lnTo>
                  <a:cubicBezTo>
                    <a:pt x="67691" y="755904"/>
                    <a:pt x="0" y="688213"/>
                    <a:pt x="0" y="604774"/>
                  </a:cubicBezTo>
                  <a:close/>
                </a:path>
              </a:pathLst>
            </a:custGeom>
            <a:solidFill>
              <a:srgbClr val="2B41B5"/>
            </a:solidFill>
          </p:spPr>
        </p:sp>
      </p:grpSp>
      <p:grpSp>
        <p:nvGrpSpPr>
          <p:cNvPr name="Group 65" id="65"/>
          <p:cNvGrpSpPr/>
          <p:nvPr/>
        </p:nvGrpSpPr>
        <p:grpSpPr>
          <a:xfrm rot="0">
            <a:off x="14676120" y="4069080"/>
            <a:ext cx="2788920" cy="566928"/>
            <a:chOff x="0" y="0"/>
            <a:chExt cx="3718560" cy="755904"/>
          </a:xfrm>
        </p:grpSpPr>
        <p:sp>
          <p:nvSpPr>
            <p:cNvPr name="Freeform 66" id="66"/>
            <p:cNvSpPr/>
            <p:nvPr/>
          </p:nvSpPr>
          <p:spPr>
            <a:xfrm flipH="false" flipV="false" rot="0">
              <a:off x="0" y="0"/>
              <a:ext cx="3718560" cy="755904"/>
            </a:xfrm>
            <a:custGeom>
              <a:avLst/>
              <a:gdLst/>
              <a:ahLst/>
              <a:cxnLst/>
              <a:rect r="r" b="b" t="t" l="l"/>
              <a:pathLst>
                <a:path h="755904" w="3718560">
                  <a:moveTo>
                    <a:pt x="0" y="0"/>
                  </a:moveTo>
                  <a:lnTo>
                    <a:pt x="3718560" y="0"/>
                  </a:lnTo>
                  <a:lnTo>
                    <a:pt x="3718560" y="755904"/>
                  </a:lnTo>
                  <a:lnTo>
                    <a:pt x="0" y="755904"/>
                  </a:lnTo>
                  <a:close/>
                </a:path>
              </a:pathLst>
            </a:custGeom>
            <a:blipFill>
              <a:blip r:embed="rId3">
                <a:alphaModFix amt="0"/>
              </a:blip>
              <a:stretch>
                <a:fillRect l="0" t="-45853" r="0" b="-45853"/>
              </a:stretch>
            </a:blipFill>
          </p:spPr>
        </p:sp>
        <p:sp>
          <p:nvSpPr>
            <p:cNvPr name="TextBox 67" id="67"/>
            <p:cNvSpPr txBox="true"/>
            <p:nvPr/>
          </p:nvSpPr>
          <p:spPr>
            <a:xfrm>
              <a:off x="0" y="-9525"/>
              <a:ext cx="3718560" cy="765429"/>
            </a:xfrm>
            <a:prstGeom prst="rect">
              <a:avLst/>
            </a:prstGeom>
          </p:spPr>
          <p:txBody>
            <a:bodyPr anchor="ctr" rtlCol="false" tIns="0" lIns="0" bIns="0" rIns="0"/>
            <a:lstStyle/>
            <a:p>
              <a:pPr algn="ctr">
                <a:lnSpc>
                  <a:spcPts val="1584"/>
                </a:lnSpc>
              </a:pPr>
              <a:r>
                <a:rPr lang="en-US" sz="1200" b="true">
                  <a:solidFill>
                    <a:srgbClr val="FFFFFF"/>
                  </a:solidFill>
                  <a:latin typeface="Montserrat Medium"/>
                  <a:ea typeface="Montserrat Medium"/>
                  <a:cs typeface="Montserrat Medium"/>
                  <a:sym typeface="Montserrat Medium"/>
                </a:rPr>
                <a:t>metricas_mensuales_plan</a:t>
              </a:r>
            </a:p>
          </p:txBody>
        </p:sp>
      </p:grpSp>
      <p:grpSp>
        <p:nvGrpSpPr>
          <p:cNvPr name="Group 68" id="68"/>
          <p:cNvGrpSpPr/>
          <p:nvPr/>
        </p:nvGrpSpPr>
        <p:grpSpPr>
          <a:xfrm rot="0">
            <a:off x="11475720" y="5349240"/>
            <a:ext cx="2788920" cy="566928"/>
            <a:chOff x="0" y="0"/>
            <a:chExt cx="3718560" cy="755904"/>
          </a:xfrm>
        </p:grpSpPr>
        <p:sp>
          <p:nvSpPr>
            <p:cNvPr name="Freeform 69" id="69"/>
            <p:cNvSpPr/>
            <p:nvPr/>
          </p:nvSpPr>
          <p:spPr>
            <a:xfrm flipH="false" flipV="false" rot="0">
              <a:off x="0" y="0"/>
              <a:ext cx="3718560" cy="755904"/>
            </a:xfrm>
            <a:custGeom>
              <a:avLst/>
              <a:gdLst/>
              <a:ahLst/>
              <a:cxnLst/>
              <a:rect r="r" b="b" t="t" l="l"/>
              <a:pathLst>
                <a:path h="755904" w="3718560">
                  <a:moveTo>
                    <a:pt x="0" y="151130"/>
                  </a:moveTo>
                  <a:cubicBezTo>
                    <a:pt x="0" y="67691"/>
                    <a:pt x="67691" y="0"/>
                    <a:pt x="151130" y="0"/>
                  </a:cubicBezTo>
                  <a:lnTo>
                    <a:pt x="3567430" y="0"/>
                  </a:lnTo>
                  <a:cubicBezTo>
                    <a:pt x="3650869" y="0"/>
                    <a:pt x="3718560" y="67691"/>
                    <a:pt x="3718560" y="151130"/>
                  </a:cubicBezTo>
                  <a:lnTo>
                    <a:pt x="3718560" y="604774"/>
                  </a:lnTo>
                  <a:cubicBezTo>
                    <a:pt x="3718560" y="688213"/>
                    <a:pt x="3650869" y="755904"/>
                    <a:pt x="3567430" y="755904"/>
                  </a:cubicBezTo>
                  <a:lnTo>
                    <a:pt x="151130" y="755904"/>
                  </a:lnTo>
                  <a:cubicBezTo>
                    <a:pt x="67691" y="755904"/>
                    <a:pt x="0" y="688213"/>
                    <a:pt x="0" y="604774"/>
                  </a:cubicBezTo>
                  <a:close/>
                </a:path>
              </a:pathLst>
            </a:custGeom>
            <a:solidFill>
              <a:srgbClr val="2B41B5"/>
            </a:solidFill>
          </p:spPr>
        </p:sp>
      </p:grpSp>
      <p:grpSp>
        <p:nvGrpSpPr>
          <p:cNvPr name="Group 70" id="70"/>
          <p:cNvGrpSpPr/>
          <p:nvPr/>
        </p:nvGrpSpPr>
        <p:grpSpPr>
          <a:xfrm rot="0">
            <a:off x="11475720" y="5349240"/>
            <a:ext cx="2788920" cy="566928"/>
            <a:chOff x="0" y="0"/>
            <a:chExt cx="3718560" cy="755904"/>
          </a:xfrm>
        </p:grpSpPr>
        <p:sp>
          <p:nvSpPr>
            <p:cNvPr name="Freeform 71" id="71"/>
            <p:cNvSpPr/>
            <p:nvPr/>
          </p:nvSpPr>
          <p:spPr>
            <a:xfrm flipH="false" flipV="false" rot="0">
              <a:off x="0" y="0"/>
              <a:ext cx="3718560" cy="755904"/>
            </a:xfrm>
            <a:custGeom>
              <a:avLst/>
              <a:gdLst/>
              <a:ahLst/>
              <a:cxnLst/>
              <a:rect r="r" b="b" t="t" l="l"/>
              <a:pathLst>
                <a:path h="755904" w="3718560">
                  <a:moveTo>
                    <a:pt x="0" y="0"/>
                  </a:moveTo>
                  <a:lnTo>
                    <a:pt x="3718560" y="0"/>
                  </a:lnTo>
                  <a:lnTo>
                    <a:pt x="3718560" y="755904"/>
                  </a:lnTo>
                  <a:lnTo>
                    <a:pt x="0" y="755904"/>
                  </a:lnTo>
                  <a:close/>
                </a:path>
              </a:pathLst>
            </a:custGeom>
            <a:blipFill>
              <a:blip r:embed="rId3">
                <a:alphaModFix amt="0"/>
              </a:blip>
              <a:stretch>
                <a:fillRect l="0" t="-45853" r="0" b="-45853"/>
              </a:stretch>
            </a:blipFill>
          </p:spPr>
        </p:sp>
        <p:sp>
          <p:nvSpPr>
            <p:cNvPr name="TextBox 72" id="72"/>
            <p:cNvSpPr txBox="true"/>
            <p:nvPr/>
          </p:nvSpPr>
          <p:spPr>
            <a:xfrm>
              <a:off x="0" y="-9525"/>
              <a:ext cx="3718560" cy="765429"/>
            </a:xfrm>
            <a:prstGeom prst="rect">
              <a:avLst/>
            </a:prstGeom>
          </p:spPr>
          <p:txBody>
            <a:bodyPr anchor="ctr" rtlCol="false" tIns="0" lIns="0" bIns="0" rIns="0"/>
            <a:lstStyle/>
            <a:p>
              <a:pPr algn="ctr">
                <a:lnSpc>
                  <a:spcPts val="1584"/>
                </a:lnSpc>
              </a:pPr>
              <a:r>
                <a:rPr lang="en-US" sz="1200" b="true">
                  <a:solidFill>
                    <a:srgbClr val="FFFFFF"/>
                  </a:solidFill>
                  <a:latin typeface="Montserrat Medium"/>
                  <a:ea typeface="Montserrat Medium"/>
                  <a:cs typeface="Montserrat Medium"/>
                  <a:sym typeface="Montserrat Medium"/>
                </a:rPr>
                <a:t>facturas</a:t>
              </a:r>
            </a:p>
          </p:txBody>
        </p:sp>
      </p:grpSp>
      <p:grpSp>
        <p:nvGrpSpPr>
          <p:cNvPr name="Group 73" id="73"/>
          <p:cNvGrpSpPr/>
          <p:nvPr/>
        </p:nvGrpSpPr>
        <p:grpSpPr>
          <a:xfrm rot="0">
            <a:off x="14676120" y="5349240"/>
            <a:ext cx="2788920" cy="566928"/>
            <a:chOff x="0" y="0"/>
            <a:chExt cx="3718560" cy="755904"/>
          </a:xfrm>
        </p:grpSpPr>
        <p:sp>
          <p:nvSpPr>
            <p:cNvPr name="Freeform 74" id="74"/>
            <p:cNvSpPr/>
            <p:nvPr/>
          </p:nvSpPr>
          <p:spPr>
            <a:xfrm flipH="false" flipV="false" rot="0">
              <a:off x="0" y="0"/>
              <a:ext cx="3718560" cy="755904"/>
            </a:xfrm>
            <a:custGeom>
              <a:avLst/>
              <a:gdLst/>
              <a:ahLst/>
              <a:cxnLst/>
              <a:rect r="r" b="b" t="t" l="l"/>
              <a:pathLst>
                <a:path h="755904" w="3718560">
                  <a:moveTo>
                    <a:pt x="0" y="151130"/>
                  </a:moveTo>
                  <a:cubicBezTo>
                    <a:pt x="0" y="67691"/>
                    <a:pt x="67691" y="0"/>
                    <a:pt x="151130" y="0"/>
                  </a:cubicBezTo>
                  <a:lnTo>
                    <a:pt x="3567430" y="0"/>
                  </a:lnTo>
                  <a:cubicBezTo>
                    <a:pt x="3650869" y="0"/>
                    <a:pt x="3718560" y="67691"/>
                    <a:pt x="3718560" y="151130"/>
                  </a:cubicBezTo>
                  <a:lnTo>
                    <a:pt x="3718560" y="604774"/>
                  </a:lnTo>
                  <a:cubicBezTo>
                    <a:pt x="3718560" y="688213"/>
                    <a:pt x="3650869" y="755904"/>
                    <a:pt x="3567430" y="755904"/>
                  </a:cubicBezTo>
                  <a:lnTo>
                    <a:pt x="151130" y="755904"/>
                  </a:lnTo>
                  <a:cubicBezTo>
                    <a:pt x="67691" y="755904"/>
                    <a:pt x="0" y="688213"/>
                    <a:pt x="0" y="604774"/>
                  </a:cubicBezTo>
                  <a:close/>
                </a:path>
              </a:pathLst>
            </a:custGeom>
            <a:solidFill>
              <a:srgbClr val="2B41B5"/>
            </a:solidFill>
          </p:spPr>
        </p:sp>
      </p:grpSp>
      <p:grpSp>
        <p:nvGrpSpPr>
          <p:cNvPr name="Group 75" id="75"/>
          <p:cNvGrpSpPr/>
          <p:nvPr/>
        </p:nvGrpSpPr>
        <p:grpSpPr>
          <a:xfrm rot="0">
            <a:off x="14676120" y="5349240"/>
            <a:ext cx="2788920" cy="566928"/>
            <a:chOff x="0" y="0"/>
            <a:chExt cx="3718560" cy="755904"/>
          </a:xfrm>
        </p:grpSpPr>
        <p:sp>
          <p:nvSpPr>
            <p:cNvPr name="Freeform 76" id="76"/>
            <p:cNvSpPr/>
            <p:nvPr/>
          </p:nvSpPr>
          <p:spPr>
            <a:xfrm flipH="false" flipV="false" rot="0">
              <a:off x="0" y="0"/>
              <a:ext cx="3718560" cy="755904"/>
            </a:xfrm>
            <a:custGeom>
              <a:avLst/>
              <a:gdLst/>
              <a:ahLst/>
              <a:cxnLst/>
              <a:rect r="r" b="b" t="t" l="l"/>
              <a:pathLst>
                <a:path h="755904" w="3718560">
                  <a:moveTo>
                    <a:pt x="0" y="0"/>
                  </a:moveTo>
                  <a:lnTo>
                    <a:pt x="3718560" y="0"/>
                  </a:lnTo>
                  <a:lnTo>
                    <a:pt x="3718560" y="755904"/>
                  </a:lnTo>
                  <a:lnTo>
                    <a:pt x="0" y="755904"/>
                  </a:lnTo>
                  <a:close/>
                </a:path>
              </a:pathLst>
            </a:custGeom>
            <a:blipFill>
              <a:blip r:embed="rId3">
                <a:alphaModFix amt="0"/>
              </a:blip>
              <a:stretch>
                <a:fillRect l="0" t="-45853" r="0" b="-45853"/>
              </a:stretch>
            </a:blipFill>
          </p:spPr>
        </p:sp>
        <p:sp>
          <p:nvSpPr>
            <p:cNvPr name="TextBox 77" id="77"/>
            <p:cNvSpPr txBox="true"/>
            <p:nvPr/>
          </p:nvSpPr>
          <p:spPr>
            <a:xfrm>
              <a:off x="0" y="-9525"/>
              <a:ext cx="3718560" cy="765429"/>
            </a:xfrm>
            <a:prstGeom prst="rect">
              <a:avLst/>
            </a:prstGeom>
          </p:spPr>
          <p:txBody>
            <a:bodyPr anchor="ctr" rtlCol="false" tIns="0" lIns="0" bIns="0" rIns="0"/>
            <a:lstStyle/>
            <a:p>
              <a:pPr algn="ctr">
                <a:lnSpc>
                  <a:spcPts val="1584"/>
                </a:lnSpc>
              </a:pPr>
              <a:r>
                <a:rPr lang="en-US" sz="1200" b="true">
                  <a:solidFill>
                    <a:srgbClr val="FFFFFF"/>
                  </a:solidFill>
                  <a:latin typeface="Montserrat Medium"/>
                  <a:ea typeface="Montserrat Medium"/>
                  <a:cs typeface="Montserrat Medium"/>
                  <a:sym typeface="Montserrat Medium"/>
                </a:rPr>
                <a:t>metricas_mensuales</a:t>
              </a:r>
            </a:p>
          </p:txBody>
        </p:sp>
      </p:grpSp>
      <p:grpSp>
        <p:nvGrpSpPr>
          <p:cNvPr name="Group 78" id="78"/>
          <p:cNvGrpSpPr/>
          <p:nvPr/>
        </p:nvGrpSpPr>
        <p:grpSpPr>
          <a:xfrm rot="0">
            <a:off x="8275320" y="7086600"/>
            <a:ext cx="2788920" cy="566928"/>
            <a:chOff x="0" y="0"/>
            <a:chExt cx="3718560" cy="755904"/>
          </a:xfrm>
        </p:grpSpPr>
        <p:sp>
          <p:nvSpPr>
            <p:cNvPr name="Freeform 79" id="79"/>
            <p:cNvSpPr/>
            <p:nvPr/>
          </p:nvSpPr>
          <p:spPr>
            <a:xfrm flipH="false" flipV="false" rot="0">
              <a:off x="0" y="0"/>
              <a:ext cx="3718560" cy="755904"/>
            </a:xfrm>
            <a:custGeom>
              <a:avLst/>
              <a:gdLst/>
              <a:ahLst/>
              <a:cxnLst/>
              <a:rect r="r" b="b" t="t" l="l"/>
              <a:pathLst>
                <a:path h="755904" w="3718560">
                  <a:moveTo>
                    <a:pt x="0" y="151130"/>
                  </a:moveTo>
                  <a:cubicBezTo>
                    <a:pt x="0" y="67691"/>
                    <a:pt x="67691" y="0"/>
                    <a:pt x="151130" y="0"/>
                  </a:cubicBezTo>
                  <a:lnTo>
                    <a:pt x="3567430" y="0"/>
                  </a:lnTo>
                  <a:cubicBezTo>
                    <a:pt x="3650869" y="0"/>
                    <a:pt x="3718560" y="67691"/>
                    <a:pt x="3718560" y="151130"/>
                  </a:cubicBezTo>
                  <a:lnTo>
                    <a:pt x="3718560" y="604774"/>
                  </a:lnTo>
                  <a:cubicBezTo>
                    <a:pt x="3718560" y="688213"/>
                    <a:pt x="3650869" y="755904"/>
                    <a:pt x="3567430" y="755904"/>
                  </a:cubicBezTo>
                  <a:lnTo>
                    <a:pt x="151130" y="755904"/>
                  </a:lnTo>
                  <a:cubicBezTo>
                    <a:pt x="67691" y="755904"/>
                    <a:pt x="0" y="688213"/>
                    <a:pt x="0" y="604774"/>
                  </a:cubicBezTo>
                  <a:close/>
                </a:path>
              </a:pathLst>
            </a:custGeom>
            <a:solidFill>
              <a:srgbClr val="2B41B5"/>
            </a:solidFill>
          </p:spPr>
        </p:sp>
      </p:grpSp>
      <p:grpSp>
        <p:nvGrpSpPr>
          <p:cNvPr name="Group 80" id="80"/>
          <p:cNvGrpSpPr/>
          <p:nvPr/>
        </p:nvGrpSpPr>
        <p:grpSpPr>
          <a:xfrm rot="0">
            <a:off x="8275320" y="7086600"/>
            <a:ext cx="2788920" cy="566928"/>
            <a:chOff x="0" y="0"/>
            <a:chExt cx="3718560" cy="755904"/>
          </a:xfrm>
        </p:grpSpPr>
        <p:sp>
          <p:nvSpPr>
            <p:cNvPr name="Freeform 81" id="81"/>
            <p:cNvSpPr/>
            <p:nvPr/>
          </p:nvSpPr>
          <p:spPr>
            <a:xfrm flipH="false" flipV="false" rot="0">
              <a:off x="0" y="0"/>
              <a:ext cx="3718560" cy="755904"/>
            </a:xfrm>
            <a:custGeom>
              <a:avLst/>
              <a:gdLst/>
              <a:ahLst/>
              <a:cxnLst/>
              <a:rect r="r" b="b" t="t" l="l"/>
              <a:pathLst>
                <a:path h="755904" w="3718560">
                  <a:moveTo>
                    <a:pt x="0" y="0"/>
                  </a:moveTo>
                  <a:lnTo>
                    <a:pt x="3718560" y="0"/>
                  </a:lnTo>
                  <a:lnTo>
                    <a:pt x="3718560" y="755904"/>
                  </a:lnTo>
                  <a:lnTo>
                    <a:pt x="0" y="755904"/>
                  </a:lnTo>
                  <a:close/>
                </a:path>
              </a:pathLst>
            </a:custGeom>
            <a:blipFill>
              <a:blip r:embed="rId3">
                <a:alphaModFix amt="0"/>
              </a:blip>
              <a:stretch>
                <a:fillRect l="0" t="-45853" r="0" b="-45853"/>
              </a:stretch>
            </a:blipFill>
          </p:spPr>
        </p:sp>
        <p:sp>
          <p:nvSpPr>
            <p:cNvPr name="TextBox 82" id="82"/>
            <p:cNvSpPr txBox="true"/>
            <p:nvPr/>
          </p:nvSpPr>
          <p:spPr>
            <a:xfrm>
              <a:off x="0" y="-9525"/>
              <a:ext cx="3718560" cy="765429"/>
            </a:xfrm>
            <a:prstGeom prst="rect">
              <a:avLst/>
            </a:prstGeom>
          </p:spPr>
          <p:txBody>
            <a:bodyPr anchor="ctr" rtlCol="false" tIns="0" lIns="0" bIns="0" rIns="0"/>
            <a:lstStyle/>
            <a:p>
              <a:pPr algn="ctr">
                <a:lnSpc>
                  <a:spcPts val="1584"/>
                </a:lnSpc>
              </a:pPr>
              <a:r>
                <a:rPr lang="en-US" sz="1200" b="true">
                  <a:solidFill>
                    <a:srgbClr val="FFFFFF"/>
                  </a:solidFill>
                  <a:latin typeface="Montserrat Medium"/>
                  <a:ea typeface="Montserrat Medium"/>
                  <a:cs typeface="Montserrat Medium"/>
                  <a:sym typeface="Montserrat Medium"/>
                </a:rPr>
                <a:t>ops_jobs</a:t>
              </a:r>
            </a:p>
          </p:txBody>
        </p:sp>
      </p:grpSp>
      <p:grpSp>
        <p:nvGrpSpPr>
          <p:cNvPr name="Group 83" id="83"/>
          <p:cNvGrpSpPr/>
          <p:nvPr/>
        </p:nvGrpSpPr>
        <p:grpSpPr>
          <a:xfrm rot="0">
            <a:off x="11475720" y="7086600"/>
            <a:ext cx="2788920" cy="566928"/>
            <a:chOff x="0" y="0"/>
            <a:chExt cx="3718560" cy="755904"/>
          </a:xfrm>
        </p:grpSpPr>
        <p:sp>
          <p:nvSpPr>
            <p:cNvPr name="Freeform 84" id="84"/>
            <p:cNvSpPr/>
            <p:nvPr/>
          </p:nvSpPr>
          <p:spPr>
            <a:xfrm flipH="false" flipV="false" rot="0">
              <a:off x="0" y="0"/>
              <a:ext cx="3718560" cy="755904"/>
            </a:xfrm>
            <a:custGeom>
              <a:avLst/>
              <a:gdLst/>
              <a:ahLst/>
              <a:cxnLst/>
              <a:rect r="r" b="b" t="t" l="l"/>
              <a:pathLst>
                <a:path h="755904" w="3718560">
                  <a:moveTo>
                    <a:pt x="0" y="151130"/>
                  </a:moveTo>
                  <a:cubicBezTo>
                    <a:pt x="0" y="67691"/>
                    <a:pt x="67691" y="0"/>
                    <a:pt x="151130" y="0"/>
                  </a:cubicBezTo>
                  <a:lnTo>
                    <a:pt x="3567430" y="0"/>
                  </a:lnTo>
                  <a:cubicBezTo>
                    <a:pt x="3650869" y="0"/>
                    <a:pt x="3718560" y="67691"/>
                    <a:pt x="3718560" y="151130"/>
                  </a:cubicBezTo>
                  <a:lnTo>
                    <a:pt x="3718560" y="604774"/>
                  </a:lnTo>
                  <a:cubicBezTo>
                    <a:pt x="3718560" y="688213"/>
                    <a:pt x="3650869" y="755904"/>
                    <a:pt x="3567430" y="755904"/>
                  </a:cubicBezTo>
                  <a:lnTo>
                    <a:pt x="151130" y="755904"/>
                  </a:lnTo>
                  <a:cubicBezTo>
                    <a:pt x="67691" y="755904"/>
                    <a:pt x="0" y="688213"/>
                    <a:pt x="0" y="604774"/>
                  </a:cubicBezTo>
                  <a:close/>
                </a:path>
              </a:pathLst>
            </a:custGeom>
            <a:solidFill>
              <a:srgbClr val="2B41B5"/>
            </a:solidFill>
          </p:spPr>
        </p:sp>
      </p:grpSp>
      <p:grpSp>
        <p:nvGrpSpPr>
          <p:cNvPr name="Group 85" id="85"/>
          <p:cNvGrpSpPr/>
          <p:nvPr/>
        </p:nvGrpSpPr>
        <p:grpSpPr>
          <a:xfrm rot="0">
            <a:off x="11475720" y="7086600"/>
            <a:ext cx="2788920" cy="566928"/>
            <a:chOff x="0" y="0"/>
            <a:chExt cx="3718560" cy="755904"/>
          </a:xfrm>
        </p:grpSpPr>
        <p:sp>
          <p:nvSpPr>
            <p:cNvPr name="Freeform 86" id="86"/>
            <p:cNvSpPr/>
            <p:nvPr/>
          </p:nvSpPr>
          <p:spPr>
            <a:xfrm flipH="false" flipV="false" rot="0">
              <a:off x="0" y="0"/>
              <a:ext cx="3718560" cy="755904"/>
            </a:xfrm>
            <a:custGeom>
              <a:avLst/>
              <a:gdLst/>
              <a:ahLst/>
              <a:cxnLst/>
              <a:rect r="r" b="b" t="t" l="l"/>
              <a:pathLst>
                <a:path h="755904" w="3718560">
                  <a:moveTo>
                    <a:pt x="0" y="0"/>
                  </a:moveTo>
                  <a:lnTo>
                    <a:pt x="3718560" y="0"/>
                  </a:lnTo>
                  <a:lnTo>
                    <a:pt x="3718560" y="755904"/>
                  </a:lnTo>
                  <a:lnTo>
                    <a:pt x="0" y="755904"/>
                  </a:lnTo>
                  <a:close/>
                </a:path>
              </a:pathLst>
            </a:custGeom>
            <a:blipFill>
              <a:blip r:embed="rId3">
                <a:alphaModFix amt="0"/>
              </a:blip>
              <a:stretch>
                <a:fillRect l="0" t="-45853" r="0" b="-45853"/>
              </a:stretch>
            </a:blipFill>
          </p:spPr>
        </p:sp>
        <p:sp>
          <p:nvSpPr>
            <p:cNvPr name="TextBox 87" id="87"/>
            <p:cNvSpPr txBox="true"/>
            <p:nvPr/>
          </p:nvSpPr>
          <p:spPr>
            <a:xfrm>
              <a:off x="0" y="-9525"/>
              <a:ext cx="3718560" cy="765429"/>
            </a:xfrm>
            <a:prstGeom prst="rect">
              <a:avLst/>
            </a:prstGeom>
          </p:spPr>
          <p:txBody>
            <a:bodyPr anchor="ctr" rtlCol="false" tIns="0" lIns="0" bIns="0" rIns="0"/>
            <a:lstStyle/>
            <a:p>
              <a:pPr algn="ctr">
                <a:lnSpc>
                  <a:spcPts val="1584"/>
                </a:lnSpc>
              </a:pPr>
              <a:r>
                <a:rPr lang="en-US" sz="1200" b="true">
                  <a:solidFill>
                    <a:srgbClr val="FFFFFF"/>
                  </a:solidFill>
                  <a:latin typeface="Montserrat Medium"/>
                  <a:ea typeface="Montserrat Medium"/>
                  <a:cs typeface="Montserrat Medium"/>
                  <a:sym typeface="Montserrat Medium"/>
                </a:rPr>
                <a:t>ops_componentes</a:t>
              </a:r>
            </a:p>
          </p:txBody>
        </p:sp>
      </p:grpSp>
      <p:grpSp>
        <p:nvGrpSpPr>
          <p:cNvPr name="Group 88" id="88"/>
          <p:cNvGrpSpPr/>
          <p:nvPr/>
        </p:nvGrpSpPr>
        <p:grpSpPr>
          <a:xfrm rot="0">
            <a:off x="14676120" y="7086600"/>
            <a:ext cx="2788920" cy="566928"/>
            <a:chOff x="0" y="0"/>
            <a:chExt cx="3718560" cy="755904"/>
          </a:xfrm>
        </p:grpSpPr>
        <p:sp>
          <p:nvSpPr>
            <p:cNvPr name="Freeform 89" id="89"/>
            <p:cNvSpPr/>
            <p:nvPr/>
          </p:nvSpPr>
          <p:spPr>
            <a:xfrm flipH="false" flipV="false" rot="0">
              <a:off x="0" y="0"/>
              <a:ext cx="3718560" cy="755904"/>
            </a:xfrm>
            <a:custGeom>
              <a:avLst/>
              <a:gdLst/>
              <a:ahLst/>
              <a:cxnLst/>
              <a:rect r="r" b="b" t="t" l="l"/>
              <a:pathLst>
                <a:path h="755904" w="3718560">
                  <a:moveTo>
                    <a:pt x="0" y="151130"/>
                  </a:moveTo>
                  <a:cubicBezTo>
                    <a:pt x="0" y="67691"/>
                    <a:pt x="67691" y="0"/>
                    <a:pt x="151130" y="0"/>
                  </a:cubicBezTo>
                  <a:lnTo>
                    <a:pt x="3567430" y="0"/>
                  </a:lnTo>
                  <a:cubicBezTo>
                    <a:pt x="3650869" y="0"/>
                    <a:pt x="3718560" y="67691"/>
                    <a:pt x="3718560" y="151130"/>
                  </a:cubicBezTo>
                  <a:lnTo>
                    <a:pt x="3718560" y="604774"/>
                  </a:lnTo>
                  <a:cubicBezTo>
                    <a:pt x="3718560" y="688213"/>
                    <a:pt x="3650869" y="755904"/>
                    <a:pt x="3567430" y="755904"/>
                  </a:cubicBezTo>
                  <a:lnTo>
                    <a:pt x="151130" y="755904"/>
                  </a:lnTo>
                  <a:cubicBezTo>
                    <a:pt x="67691" y="755904"/>
                    <a:pt x="0" y="688213"/>
                    <a:pt x="0" y="604774"/>
                  </a:cubicBezTo>
                  <a:close/>
                </a:path>
              </a:pathLst>
            </a:custGeom>
            <a:solidFill>
              <a:srgbClr val="2B41B5"/>
            </a:solidFill>
          </p:spPr>
        </p:sp>
      </p:grpSp>
      <p:grpSp>
        <p:nvGrpSpPr>
          <p:cNvPr name="Group 90" id="90"/>
          <p:cNvGrpSpPr/>
          <p:nvPr/>
        </p:nvGrpSpPr>
        <p:grpSpPr>
          <a:xfrm rot="0">
            <a:off x="14676120" y="7086600"/>
            <a:ext cx="2788920" cy="566928"/>
            <a:chOff x="0" y="0"/>
            <a:chExt cx="3718560" cy="755904"/>
          </a:xfrm>
        </p:grpSpPr>
        <p:sp>
          <p:nvSpPr>
            <p:cNvPr name="Freeform 91" id="91"/>
            <p:cNvSpPr/>
            <p:nvPr/>
          </p:nvSpPr>
          <p:spPr>
            <a:xfrm flipH="false" flipV="false" rot="0">
              <a:off x="0" y="0"/>
              <a:ext cx="3718560" cy="755904"/>
            </a:xfrm>
            <a:custGeom>
              <a:avLst/>
              <a:gdLst/>
              <a:ahLst/>
              <a:cxnLst/>
              <a:rect r="r" b="b" t="t" l="l"/>
              <a:pathLst>
                <a:path h="755904" w="3718560">
                  <a:moveTo>
                    <a:pt x="0" y="0"/>
                  </a:moveTo>
                  <a:lnTo>
                    <a:pt x="3718560" y="0"/>
                  </a:lnTo>
                  <a:lnTo>
                    <a:pt x="3718560" y="755904"/>
                  </a:lnTo>
                  <a:lnTo>
                    <a:pt x="0" y="755904"/>
                  </a:lnTo>
                  <a:close/>
                </a:path>
              </a:pathLst>
            </a:custGeom>
            <a:blipFill>
              <a:blip r:embed="rId3">
                <a:alphaModFix amt="0"/>
              </a:blip>
              <a:stretch>
                <a:fillRect l="0" t="-45853" r="0" b="-45853"/>
              </a:stretch>
            </a:blipFill>
          </p:spPr>
        </p:sp>
        <p:sp>
          <p:nvSpPr>
            <p:cNvPr name="TextBox 92" id="92"/>
            <p:cNvSpPr txBox="true"/>
            <p:nvPr/>
          </p:nvSpPr>
          <p:spPr>
            <a:xfrm>
              <a:off x="0" y="-9525"/>
              <a:ext cx="3718560" cy="765429"/>
            </a:xfrm>
            <a:prstGeom prst="rect">
              <a:avLst/>
            </a:prstGeom>
          </p:spPr>
          <p:txBody>
            <a:bodyPr anchor="ctr" rtlCol="false" tIns="0" lIns="0" bIns="0" rIns="0"/>
            <a:lstStyle/>
            <a:p>
              <a:pPr algn="ctr">
                <a:lnSpc>
                  <a:spcPts val="1584"/>
                </a:lnSpc>
              </a:pPr>
              <a:r>
                <a:rPr lang="en-US" sz="1200" b="true">
                  <a:solidFill>
                    <a:srgbClr val="FFFFFF"/>
                  </a:solidFill>
                  <a:latin typeface="Montserrat Medium"/>
                  <a:ea typeface="Montserrat Medium"/>
                  <a:cs typeface="Montserrat Medium"/>
                  <a:sym typeface="Montserrat Medium"/>
                </a:rPr>
                <a:t>ops_incidentes</a:t>
              </a:r>
            </a:p>
          </p:txBody>
        </p:sp>
      </p:grpSp>
      <p:grpSp>
        <p:nvGrpSpPr>
          <p:cNvPr name="Group 93" id="93"/>
          <p:cNvGrpSpPr/>
          <p:nvPr/>
        </p:nvGrpSpPr>
        <p:grpSpPr>
          <a:xfrm rot="0">
            <a:off x="8275320" y="8366760"/>
            <a:ext cx="2788920" cy="566928"/>
            <a:chOff x="0" y="0"/>
            <a:chExt cx="3718560" cy="755904"/>
          </a:xfrm>
        </p:grpSpPr>
        <p:sp>
          <p:nvSpPr>
            <p:cNvPr name="Freeform 94" id="94"/>
            <p:cNvSpPr/>
            <p:nvPr/>
          </p:nvSpPr>
          <p:spPr>
            <a:xfrm flipH="false" flipV="false" rot="0">
              <a:off x="0" y="0"/>
              <a:ext cx="3718560" cy="755904"/>
            </a:xfrm>
            <a:custGeom>
              <a:avLst/>
              <a:gdLst/>
              <a:ahLst/>
              <a:cxnLst/>
              <a:rect r="r" b="b" t="t" l="l"/>
              <a:pathLst>
                <a:path h="755904" w="3718560">
                  <a:moveTo>
                    <a:pt x="0" y="151130"/>
                  </a:moveTo>
                  <a:cubicBezTo>
                    <a:pt x="0" y="67691"/>
                    <a:pt x="67691" y="0"/>
                    <a:pt x="151130" y="0"/>
                  </a:cubicBezTo>
                  <a:lnTo>
                    <a:pt x="3567430" y="0"/>
                  </a:lnTo>
                  <a:cubicBezTo>
                    <a:pt x="3650869" y="0"/>
                    <a:pt x="3718560" y="67691"/>
                    <a:pt x="3718560" y="151130"/>
                  </a:cubicBezTo>
                  <a:lnTo>
                    <a:pt x="3718560" y="604774"/>
                  </a:lnTo>
                  <a:cubicBezTo>
                    <a:pt x="3718560" y="688213"/>
                    <a:pt x="3650869" y="755904"/>
                    <a:pt x="3567430" y="755904"/>
                  </a:cubicBezTo>
                  <a:lnTo>
                    <a:pt x="151130" y="755904"/>
                  </a:lnTo>
                  <a:cubicBezTo>
                    <a:pt x="67691" y="755904"/>
                    <a:pt x="0" y="688213"/>
                    <a:pt x="0" y="604774"/>
                  </a:cubicBezTo>
                  <a:close/>
                </a:path>
              </a:pathLst>
            </a:custGeom>
            <a:solidFill>
              <a:srgbClr val="2B41B5"/>
            </a:solidFill>
          </p:spPr>
        </p:sp>
      </p:grpSp>
      <p:grpSp>
        <p:nvGrpSpPr>
          <p:cNvPr name="Group 95" id="95"/>
          <p:cNvGrpSpPr/>
          <p:nvPr/>
        </p:nvGrpSpPr>
        <p:grpSpPr>
          <a:xfrm rot="0">
            <a:off x="8275320" y="8366760"/>
            <a:ext cx="2788920" cy="566928"/>
            <a:chOff x="0" y="0"/>
            <a:chExt cx="3718560" cy="755904"/>
          </a:xfrm>
        </p:grpSpPr>
        <p:sp>
          <p:nvSpPr>
            <p:cNvPr name="Freeform 96" id="96"/>
            <p:cNvSpPr/>
            <p:nvPr/>
          </p:nvSpPr>
          <p:spPr>
            <a:xfrm flipH="false" flipV="false" rot="0">
              <a:off x="0" y="0"/>
              <a:ext cx="3718560" cy="755904"/>
            </a:xfrm>
            <a:custGeom>
              <a:avLst/>
              <a:gdLst/>
              <a:ahLst/>
              <a:cxnLst/>
              <a:rect r="r" b="b" t="t" l="l"/>
              <a:pathLst>
                <a:path h="755904" w="3718560">
                  <a:moveTo>
                    <a:pt x="0" y="0"/>
                  </a:moveTo>
                  <a:lnTo>
                    <a:pt x="3718560" y="0"/>
                  </a:lnTo>
                  <a:lnTo>
                    <a:pt x="3718560" y="755904"/>
                  </a:lnTo>
                  <a:lnTo>
                    <a:pt x="0" y="755904"/>
                  </a:lnTo>
                  <a:close/>
                </a:path>
              </a:pathLst>
            </a:custGeom>
            <a:blipFill>
              <a:blip r:embed="rId3">
                <a:alphaModFix amt="0"/>
              </a:blip>
              <a:stretch>
                <a:fillRect l="0" t="-45853" r="0" b="-45853"/>
              </a:stretch>
            </a:blipFill>
          </p:spPr>
        </p:sp>
        <p:sp>
          <p:nvSpPr>
            <p:cNvPr name="TextBox 97" id="97"/>
            <p:cNvSpPr txBox="true"/>
            <p:nvPr/>
          </p:nvSpPr>
          <p:spPr>
            <a:xfrm>
              <a:off x="0" y="-9525"/>
              <a:ext cx="3718560" cy="765429"/>
            </a:xfrm>
            <a:prstGeom prst="rect">
              <a:avLst/>
            </a:prstGeom>
          </p:spPr>
          <p:txBody>
            <a:bodyPr anchor="ctr" rtlCol="false" tIns="0" lIns="0" bIns="0" rIns="0"/>
            <a:lstStyle/>
            <a:p>
              <a:pPr algn="ctr">
                <a:lnSpc>
                  <a:spcPts val="1584"/>
                </a:lnSpc>
              </a:pPr>
              <a:r>
                <a:rPr lang="en-US" sz="1200" b="true">
                  <a:solidFill>
                    <a:srgbClr val="FFFFFF"/>
                  </a:solidFill>
                  <a:latin typeface="Montserrat Medium"/>
                  <a:ea typeface="Montserrat Medium"/>
                  <a:cs typeface="Montserrat Medium"/>
                  <a:sym typeface="Montserrat Medium"/>
                </a:rPr>
                <a:t>ops_job_runs</a:t>
              </a:r>
            </a:p>
          </p:txBody>
        </p:sp>
      </p:grpSp>
      <p:grpSp>
        <p:nvGrpSpPr>
          <p:cNvPr name="Group 98" id="98"/>
          <p:cNvGrpSpPr/>
          <p:nvPr/>
        </p:nvGrpSpPr>
        <p:grpSpPr>
          <a:xfrm rot="0">
            <a:off x="11475720" y="8366760"/>
            <a:ext cx="2788920" cy="566928"/>
            <a:chOff x="0" y="0"/>
            <a:chExt cx="3718560" cy="755904"/>
          </a:xfrm>
        </p:grpSpPr>
        <p:sp>
          <p:nvSpPr>
            <p:cNvPr name="Freeform 99" id="99"/>
            <p:cNvSpPr/>
            <p:nvPr/>
          </p:nvSpPr>
          <p:spPr>
            <a:xfrm flipH="false" flipV="false" rot="0">
              <a:off x="0" y="0"/>
              <a:ext cx="3718560" cy="755904"/>
            </a:xfrm>
            <a:custGeom>
              <a:avLst/>
              <a:gdLst/>
              <a:ahLst/>
              <a:cxnLst/>
              <a:rect r="r" b="b" t="t" l="l"/>
              <a:pathLst>
                <a:path h="755904" w="3718560">
                  <a:moveTo>
                    <a:pt x="0" y="151130"/>
                  </a:moveTo>
                  <a:cubicBezTo>
                    <a:pt x="0" y="67691"/>
                    <a:pt x="67691" y="0"/>
                    <a:pt x="151130" y="0"/>
                  </a:cubicBezTo>
                  <a:lnTo>
                    <a:pt x="3567430" y="0"/>
                  </a:lnTo>
                  <a:cubicBezTo>
                    <a:pt x="3650869" y="0"/>
                    <a:pt x="3718560" y="67691"/>
                    <a:pt x="3718560" y="151130"/>
                  </a:cubicBezTo>
                  <a:lnTo>
                    <a:pt x="3718560" y="604774"/>
                  </a:lnTo>
                  <a:cubicBezTo>
                    <a:pt x="3718560" y="688213"/>
                    <a:pt x="3650869" y="755904"/>
                    <a:pt x="3567430" y="755904"/>
                  </a:cubicBezTo>
                  <a:lnTo>
                    <a:pt x="151130" y="755904"/>
                  </a:lnTo>
                  <a:cubicBezTo>
                    <a:pt x="67691" y="755904"/>
                    <a:pt x="0" y="688213"/>
                    <a:pt x="0" y="604774"/>
                  </a:cubicBezTo>
                  <a:close/>
                </a:path>
              </a:pathLst>
            </a:custGeom>
            <a:solidFill>
              <a:srgbClr val="2B41B5"/>
            </a:solidFill>
          </p:spPr>
        </p:sp>
      </p:grpSp>
      <p:grpSp>
        <p:nvGrpSpPr>
          <p:cNvPr name="Group 100" id="100"/>
          <p:cNvGrpSpPr/>
          <p:nvPr/>
        </p:nvGrpSpPr>
        <p:grpSpPr>
          <a:xfrm rot="0">
            <a:off x="11475720" y="8366760"/>
            <a:ext cx="2788920" cy="566928"/>
            <a:chOff x="0" y="0"/>
            <a:chExt cx="3718560" cy="755904"/>
          </a:xfrm>
        </p:grpSpPr>
        <p:sp>
          <p:nvSpPr>
            <p:cNvPr name="Freeform 101" id="101"/>
            <p:cNvSpPr/>
            <p:nvPr/>
          </p:nvSpPr>
          <p:spPr>
            <a:xfrm flipH="false" flipV="false" rot="0">
              <a:off x="0" y="0"/>
              <a:ext cx="3718560" cy="755904"/>
            </a:xfrm>
            <a:custGeom>
              <a:avLst/>
              <a:gdLst/>
              <a:ahLst/>
              <a:cxnLst/>
              <a:rect r="r" b="b" t="t" l="l"/>
              <a:pathLst>
                <a:path h="755904" w="3718560">
                  <a:moveTo>
                    <a:pt x="0" y="0"/>
                  </a:moveTo>
                  <a:lnTo>
                    <a:pt x="3718560" y="0"/>
                  </a:lnTo>
                  <a:lnTo>
                    <a:pt x="3718560" y="755904"/>
                  </a:lnTo>
                  <a:lnTo>
                    <a:pt x="0" y="755904"/>
                  </a:lnTo>
                  <a:close/>
                </a:path>
              </a:pathLst>
            </a:custGeom>
            <a:blipFill>
              <a:blip r:embed="rId3">
                <a:alphaModFix amt="0"/>
              </a:blip>
              <a:stretch>
                <a:fillRect l="0" t="-45853" r="0" b="-45853"/>
              </a:stretch>
            </a:blipFill>
          </p:spPr>
        </p:sp>
        <p:sp>
          <p:nvSpPr>
            <p:cNvPr name="TextBox 102" id="102"/>
            <p:cNvSpPr txBox="true"/>
            <p:nvPr/>
          </p:nvSpPr>
          <p:spPr>
            <a:xfrm>
              <a:off x="0" y="-9525"/>
              <a:ext cx="3718560" cy="765429"/>
            </a:xfrm>
            <a:prstGeom prst="rect">
              <a:avLst/>
            </a:prstGeom>
          </p:spPr>
          <p:txBody>
            <a:bodyPr anchor="ctr" rtlCol="false" tIns="0" lIns="0" bIns="0" rIns="0"/>
            <a:lstStyle/>
            <a:p>
              <a:pPr algn="ctr">
                <a:lnSpc>
                  <a:spcPts val="1584"/>
                </a:lnSpc>
              </a:pPr>
              <a:r>
                <a:rPr lang="en-US" sz="1200" b="true">
                  <a:solidFill>
                    <a:srgbClr val="FFFFFF"/>
                  </a:solidFill>
                  <a:latin typeface="Montserrat Medium"/>
                  <a:ea typeface="Montserrat Medium"/>
                  <a:cs typeface="Montserrat Medium"/>
                  <a:sym typeface="Montserrat Medium"/>
                </a:rPr>
                <a:t>ops_disponibilidad_diaria</a:t>
              </a:r>
            </a:p>
          </p:txBody>
        </p:sp>
      </p:grpSp>
      <p:sp>
        <p:nvSpPr>
          <p:cNvPr name="TextBox 103" id="103"/>
          <p:cNvSpPr txBox="true"/>
          <p:nvPr/>
        </p:nvSpPr>
        <p:spPr>
          <a:xfrm rot="0">
            <a:off x="8275320" y="6345555"/>
            <a:ext cx="9144000" cy="375285"/>
          </a:xfrm>
          <a:prstGeom prst="rect">
            <a:avLst/>
          </a:prstGeom>
        </p:spPr>
        <p:txBody>
          <a:bodyPr anchor="t" rtlCol="false" tIns="0" lIns="0" bIns="0" rIns="0">
            <a:spAutoFit/>
          </a:bodyPr>
          <a:lstStyle/>
          <a:p>
            <a:pPr algn="l">
              <a:lnSpc>
                <a:spcPts val="1584"/>
              </a:lnSpc>
            </a:pPr>
            <a:r>
              <a:rPr lang="en-US" sz="1200" b="true">
                <a:solidFill>
                  <a:srgbClr val="C9D2F0"/>
                </a:solidFill>
                <a:latin typeface="Montserrat Bold"/>
                <a:ea typeface="Montserrat Bold"/>
                <a:cs typeface="Montserrat Bold"/>
                <a:sym typeface="Montserrat Bold"/>
              </a:rPr>
              <a:t>Consola Interna · scripts 07 y 08</a:t>
            </a:r>
          </a:p>
        </p:txBody>
      </p:sp>
      <p:sp>
        <p:nvSpPr>
          <p:cNvPr name="TextBox 104" id="104"/>
          <p:cNvSpPr txBox="true"/>
          <p:nvPr/>
        </p:nvSpPr>
        <p:spPr>
          <a:xfrm rot="0">
            <a:off x="8275320" y="9124950"/>
            <a:ext cx="9326880" cy="567690"/>
          </a:xfrm>
          <a:prstGeom prst="rect">
            <a:avLst/>
          </a:prstGeom>
        </p:spPr>
        <p:txBody>
          <a:bodyPr anchor="t" rtlCol="false" tIns="0" lIns="0" bIns="0" rIns="0">
            <a:spAutoFit/>
          </a:bodyPr>
          <a:lstStyle/>
          <a:p>
            <a:pPr algn="l">
              <a:lnSpc>
                <a:spcPts val="1517"/>
              </a:lnSpc>
            </a:pPr>
            <a:r>
              <a:rPr lang="en-US" sz="1149">
                <a:solidFill>
                  <a:srgbClr val="2B41B5"/>
                </a:solidFill>
                <a:latin typeface="Montserrat"/>
                <a:ea typeface="Montserrat"/>
                <a:cs typeface="Montserrat"/>
                <a:sym typeface="Montserrat"/>
              </a:rPr>
              <a:t>■ </a:t>
            </a:r>
            <a:r>
              <a:rPr lang="en-US" sz="1149">
                <a:solidFill>
                  <a:srgbClr val="C9D2F0"/>
                </a:solidFill>
                <a:latin typeface="Montserrat"/>
                <a:ea typeface="Montserrat"/>
                <a:cs typeface="Montserrat"/>
                <a:sym typeface="Montserrat"/>
              </a:rPr>
              <a:t>tablas del módulo    □ tablas base relacionadas</a:t>
            </a:r>
          </a:p>
        </p:txBody>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24384000" cy="13716000"/>
          </a:xfrm>
        </p:grpSpPr>
        <p:sp>
          <p:nvSpPr>
            <p:cNvPr name="Freeform 3" id="3" descr="fondo37_55.jpg"/>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lnTo>
                    <a:pt x="0" y="0"/>
                  </a:lnTo>
                  <a:close/>
                </a:path>
              </a:pathLst>
            </a:custGeom>
            <a:blipFill>
              <a:blip r:embed="rId2"/>
              <a:stretch>
                <a:fillRect l="0" t="-666" r="0" b="-666"/>
              </a:stretch>
            </a:blipFill>
          </p:spPr>
        </p:sp>
      </p:grpSp>
      <p:sp>
        <p:nvSpPr>
          <p:cNvPr name="TextBox 4" id="4"/>
          <p:cNvSpPr txBox="true"/>
          <p:nvPr/>
        </p:nvSpPr>
        <p:spPr>
          <a:xfrm rot="0">
            <a:off x="914400" y="355473"/>
            <a:ext cx="16459200" cy="760095"/>
          </a:xfrm>
          <a:prstGeom prst="rect">
            <a:avLst/>
          </a:prstGeom>
        </p:spPr>
        <p:txBody>
          <a:bodyPr anchor="t" rtlCol="false" tIns="0" lIns="0" bIns="0" rIns="0">
            <a:spAutoFit/>
          </a:bodyPr>
          <a:lstStyle/>
          <a:p>
            <a:pPr algn="ctr">
              <a:lnSpc>
                <a:spcPts val="3960"/>
              </a:lnSpc>
            </a:pPr>
            <a:r>
              <a:rPr lang="en-US" sz="3000">
                <a:solidFill>
                  <a:srgbClr val="FFFFFF"/>
                </a:solidFill>
                <a:latin typeface="Montserrat Light"/>
                <a:ea typeface="Montserrat Light"/>
                <a:cs typeface="Montserrat Light"/>
                <a:sym typeface="Montserrat Light"/>
              </a:rPr>
              <a:t>FUNCIONALIDADES</a:t>
            </a:r>
          </a:p>
        </p:txBody>
      </p:sp>
      <p:sp>
        <p:nvSpPr>
          <p:cNvPr name="TextBox 5" id="5"/>
          <p:cNvSpPr txBox="true"/>
          <p:nvPr/>
        </p:nvSpPr>
        <p:spPr>
          <a:xfrm rot="0">
            <a:off x="914400" y="912495"/>
            <a:ext cx="16459200" cy="1144905"/>
          </a:xfrm>
          <a:prstGeom prst="rect">
            <a:avLst/>
          </a:prstGeom>
        </p:spPr>
        <p:txBody>
          <a:bodyPr anchor="t" rtlCol="false" tIns="0" lIns="0" bIns="0" rIns="0">
            <a:spAutoFit/>
          </a:bodyPr>
          <a:lstStyle/>
          <a:p>
            <a:pPr algn="ctr">
              <a:lnSpc>
                <a:spcPts val="6863"/>
              </a:lnSpc>
            </a:pPr>
            <a:r>
              <a:rPr lang="en-US" sz="5199" b="true">
                <a:solidFill>
                  <a:srgbClr val="FFFFFF"/>
                </a:solidFill>
                <a:latin typeface="Montserrat Bold"/>
                <a:ea typeface="Montserrat Bold"/>
                <a:cs typeface="Montserrat Bold"/>
                <a:sym typeface="Montserrat Bold"/>
              </a:rPr>
              <a:t>DESARROLLADAS</a:t>
            </a:r>
          </a:p>
        </p:txBody>
      </p:sp>
      <p:grpSp>
        <p:nvGrpSpPr>
          <p:cNvPr name="Group 6" id="6"/>
          <p:cNvGrpSpPr/>
          <p:nvPr/>
        </p:nvGrpSpPr>
        <p:grpSpPr>
          <a:xfrm rot="0">
            <a:off x="731520" y="2468880"/>
            <a:ext cx="6035040" cy="7360920"/>
            <a:chOff x="0" y="0"/>
            <a:chExt cx="8046720" cy="9814560"/>
          </a:xfrm>
        </p:grpSpPr>
        <p:sp>
          <p:nvSpPr>
            <p:cNvPr name="Freeform 7" id="7"/>
            <p:cNvSpPr/>
            <p:nvPr/>
          </p:nvSpPr>
          <p:spPr>
            <a:xfrm flipH="false" flipV="false" rot="0">
              <a:off x="0" y="0"/>
              <a:ext cx="8046720" cy="9814561"/>
            </a:xfrm>
            <a:custGeom>
              <a:avLst/>
              <a:gdLst/>
              <a:ahLst/>
              <a:cxnLst/>
              <a:rect r="r" b="b" t="t" l="l"/>
              <a:pathLst>
                <a:path h="9814561" w="8046720">
                  <a:moveTo>
                    <a:pt x="0" y="965581"/>
                  </a:moveTo>
                  <a:cubicBezTo>
                    <a:pt x="0" y="432308"/>
                    <a:pt x="432308" y="0"/>
                    <a:pt x="965581" y="0"/>
                  </a:cubicBezTo>
                  <a:lnTo>
                    <a:pt x="7081139" y="0"/>
                  </a:lnTo>
                  <a:cubicBezTo>
                    <a:pt x="7614412" y="0"/>
                    <a:pt x="8046720" y="432308"/>
                    <a:pt x="8046720" y="965581"/>
                  </a:cubicBezTo>
                  <a:lnTo>
                    <a:pt x="8046720" y="8848979"/>
                  </a:lnTo>
                  <a:cubicBezTo>
                    <a:pt x="8046720" y="9382252"/>
                    <a:pt x="7614412" y="9814561"/>
                    <a:pt x="7081139" y="9814561"/>
                  </a:cubicBezTo>
                  <a:lnTo>
                    <a:pt x="965581" y="9814561"/>
                  </a:lnTo>
                  <a:cubicBezTo>
                    <a:pt x="432308" y="9814560"/>
                    <a:pt x="0" y="9382252"/>
                    <a:pt x="0" y="8848979"/>
                  </a:cubicBezTo>
                  <a:close/>
                </a:path>
              </a:pathLst>
            </a:custGeom>
            <a:solidFill>
              <a:srgbClr val="15193A"/>
            </a:solidFill>
          </p:spPr>
        </p:sp>
      </p:grpSp>
      <p:sp>
        <p:nvSpPr>
          <p:cNvPr name="TextBox 8" id="8"/>
          <p:cNvSpPr txBox="true"/>
          <p:nvPr/>
        </p:nvSpPr>
        <p:spPr>
          <a:xfrm rot="0">
            <a:off x="1005840" y="2548890"/>
            <a:ext cx="2926080" cy="1245870"/>
          </a:xfrm>
          <a:prstGeom prst="rect">
            <a:avLst/>
          </a:prstGeom>
        </p:spPr>
        <p:txBody>
          <a:bodyPr anchor="t" rtlCol="false" tIns="0" lIns="0" bIns="0" rIns="0">
            <a:spAutoFit/>
          </a:bodyPr>
          <a:lstStyle/>
          <a:p>
            <a:pPr algn="l">
              <a:lnSpc>
                <a:spcPts val="6600"/>
              </a:lnSpc>
            </a:pPr>
            <a:r>
              <a:rPr lang="en-US" sz="5000" b="true">
                <a:solidFill>
                  <a:srgbClr val="FFFFFF"/>
                </a:solidFill>
                <a:latin typeface="Montserrat Bold"/>
                <a:ea typeface="Montserrat Bold"/>
                <a:cs typeface="Montserrat Bold"/>
                <a:sym typeface="Montserrat Bold"/>
              </a:rPr>
              <a:t>9 / 15</a:t>
            </a:r>
          </a:p>
        </p:txBody>
      </p:sp>
      <p:sp>
        <p:nvSpPr>
          <p:cNvPr name="TextBox 9" id="9"/>
          <p:cNvSpPr txBox="true"/>
          <p:nvPr/>
        </p:nvSpPr>
        <p:spPr>
          <a:xfrm rot="0">
            <a:off x="4023360" y="2668905"/>
            <a:ext cx="2560320" cy="1125855"/>
          </a:xfrm>
          <a:prstGeom prst="rect">
            <a:avLst/>
          </a:prstGeom>
        </p:spPr>
        <p:txBody>
          <a:bodyPr anchor="t" rtlCol="false" tIns="0" lIns="0" bIns="0" rIns="0">
            <a:spAutoFit/>
          </a:bodyPr>
          <a:lstStyle/>
          <a:p>
            <a:pPr algn="l">
              <a:lnSpc>
                <a:spcPts val="3960"/>
              </a:lnSpc>
            </a:pPr>
            <a:r>
              <a:rPr lang="en-US" sz="3000" b="true">
                <a:solidFill>
                  <a:srgbClr val="FFFFFF"/>
                </a:solidFill>
                <a:latin typeface="Montserrat Bold"/>
                <a:ea typeface="Montserrat Bold"/>
                <a:cs typeface="Montserrat Bold"/>
                <a:sym typeface="Montserrat Bold"/>
              </a:rPr>
              <a:t>60 %</a:t>
            </a:r>
          </a:p>
          <a:p>
            <a:pPr algn="l">
              <a:lnSpc>
                <a:spcPts val="1584"/>
              </a:lnSpc>
            </a:pPr>
            <a:r>
              <a:rPr lang="en-US" sz="1200">
                <a:solidFill>
                  <a:srgbClr val="C9D2F0"/>
                </a:solidFill>
                <a:latin typeface="Montserrat"/>
                <a:ea typeface="Montserrat"/>
                <a:cs typeface="Montserrat"/>
                <a:sym typeface="Montserrat"/>
              </a:rPr>
              <a:t>requerimientos terminados</a:t>
            </a:r>
          </a:p>
        </p:txBody>
      </p:sp>
      <p:grpSp>
        <p:nvGrpSpPr>
          <p:cNvPr name="Group 10" id="10"/>
          <p:cNvGrpSpPr/>
          <p:nvPr/>
        </p:nvGrpSpPr>
        <p:grpSpPr>
          <a:xfrm rot="0">
            <a:off x="1005840" y="3886200"/>
            <a:ext cx="5486400" cy="256032"/>
            <a:chOff x="0" y="0"/>
            <a:chExt cx="7315200" cy="341376"/>
          </a:xfrm>
        </p:grpSpPr>
        <p:sp>
          <p:nvSpPr>
            <p:cNvPr name="Freeform 11" id="11"/>
            <p:cNvSpPr/>
            <p:nvPr/>
          </p:nvSpPr>
          <p:spPr>
            <a:xfrm flipH="false" flipV="false" rot="0">
              <a:off x="0" y="0"/>
              <a:ext cx="7315200" cy="341376"/>
            </a:xfrm>
            <a:custGeom>
              <a:avLst/>
              <a:gdLst/>
              <a:ahLst/>
              <a:cxnLst/>
              <a:rect r="r" b="b" t="t" l="l"/>
              <a:pathLst>
                <a:path h="341376" w="7315200">
                  <a:moveTo>
                    <a:pt x="0" y="170688"/>
                  </a:moveTo>
                  <a:cubicBezTo>
                    <a:pt x="0" y="76454"/>
                    <a:pt x="76454" y="0"/>
                    <a:pt x="170688" y="0"/>
                  </a:cubicBezTo>
                  <a:lnTo>
                    <a:pt x="7144512" y="0"/>
                  </a:lnTo>
                  <a:cubicBezTo>
                    <a:pt x="7238746" y="0"/>
                    <a:pt x="7315200" y="76454"/>
                    <a:pt x="7315200" y="170688"/>
                  </a:cubicBezTo>
                  <a:cubicBezTo>
                    <a:pt x="7315200" y="264922"/>
                    <a:pt x="7238746" y="341376"/>
                    <a:pt x="7144512" y="341376"/>
                  </a:cubicBezTo>
                  <a:lnTo>
                    <a:pt x="170688" y="341376"/>
                  </a:lnTo>
                  <a:cubicBezTo>
                    <a:pt x="76454" y="341376"/>
                    <a:pt x="0" y="264922"/>
                    <a:pt x="0" y="170688"/>
                  </a:cubicBezTo>
                  <a:close/>
                </a:path>
              </a:pathLst>
            </a:custGeom>
            <a:solidFill>
              <a:srgbClr val="1C2350"/>
            </a:solidFill>
          </p:spPr>
        </p:sp>
      </p:grpSp>
      <p:grpSp>
        <p:nvGrpSpPr>
          <p:cNvPr name="Group 12" id="12"/>
          <p:cNvGrpSpPr/>
          <p:nvPr/>
        </p:nvGrpSpPr>
        <p:grpSpPr>
          <a:xfrm rot="0">
            <a:off x="1005840" y="3886200"/>
            <a:ext cx="3291840" cy="256032"/>
            <a:chOff x="0" y="0"/>
            <a:chExt cx="4389120" cy="341376"/>
          </a:xfrm>
        </p:grpSpPr>
        <p:sp>
          <p:nvSpPr>
            <p:cNvPr name="Freeform 13" id="13"/>
            <p:cNvSpPr/>
            <p:nvPr/>
          </p:nvSpPr>
          <p:spPr>
            <a:xfrm flipH="false" flipV="false" rot="0">
              <a:off x="0" y="0"/>
              <a:ext cx="4389120" cy="341376"/>
            </a:xfrm>
            <a:custGeom>
              <a:avLst/>
              <a:gdLst/>
              <a:ahLst/>
              <a:cxnLst/>
              <a:rect r="r" b="b" t="t" l="l"/>
              <a:pathLst>
                <a:path h="341376" w="4389120">
                  <a:moveTo>
                    <a:pt x="0" y="170688"/>
                  </a:moveTo>
                  <a:cubicBezTo>
                    <a:pt x="0" y="76454"/>
                    <a:pt x="76454" y="0"/>
                    <a:pt x="170688" y="0"/>
                  </a:cubicBezTo>
                  <a:lnTo>
                    <a:pt x="4218432" y="0"/>
                  </a:lnTo>
                  <a:cubicBezTo>
                    <a:pt x="4312666" y="0"/>
                    <a:pt x="4389120" y="76454"/>
                    <a:pt x="4389120" y="170688"/>
                  </a:cubicBezTo>
                  <a:cubicBezTo>
                    <a:pt x="4389120" y="264922"/>
                    <a:pt x="4312666" y="341376"/>
                    <a:pt x="4218432" y="341376"/>
                  </a:cubicBezTo>
                  <a:lnTo>
                    <a:pt x="170688" y="341376"/>
                  </a:lnTo>
                  <a:cubicBezTo>
                    <a:pt x="76454" y="341376"/>
                    <a:pt x="0" y="264922"/>
                    <a:pt x="0" y="170688"/>
                  </a:cubicBezTo>
                  <a:close/>
                </a:path>
              </a:pathLst>
            </a:custGeom>
            <a:solidFill>
              <a:srgbClr val="4ADE80"/>
            </a:solidFill>
          </p:spPr>
        </p:sp>
      </p:grpSp>
      <p:grpSp>
        <p:nvGrpSpPr>
          <p:cNvPr name="Group 14" id="14"/>
          <p:cNvGrpSpPr/>
          <p:nvPr/>
        </p:nvGrpSpPr>
        <p:grpSpPr>
          <a:xfrm rot="0">
            <a:off x="4297680" y="3886200"/>
            <a:ext cx="1828800" cy="256032"/>
            <a:chOff x="0" y="0"/>
            <a:chExt cx="2438400" cy="341376"/>
          </a:xfrm>
        </p:grpSpPr>
        <p:sp>
          <p:nvSpPr>
            <p:cNvPr name="Freeform 15" id="15"/>
            <p:cNvSpPr/>
            <p:nvPr/>
          </p:nvSpPr>
          <p:spPr>
            <a:xfrm flipH="false" flipV="false" rot="0">
              <a:off x="0" y="0"/>
              <a:ext cx="2438400" cy="341376"/>
            </a:xfrm>
            <a:custGeom>
              <a:avLst/>
              <a:gdLst/>
              <a:ahLst/>
              <a:cxnLst/>
              <a:rect r="r" b="b" t="t" l="l"/>
              <a:pathLst>
                <a:path h="341376" w="2438400">
                  <a:moveTo>
                    <a:pt x="0" y="170688"/>
                  </a:moveTo>
                  <a:cubicBezTo>
                    <a:pt x="0" y="76454"/>
                    <a:pt x="76454" y="0"/>
                    <a:pt x="170688" y="0"/>
                  </a:cubicBezTo>
                  <a:lnTo>
                    <a:pt x="2267712" y="0"/>
                  </a:lnTo>
                  <a:cubicBezTo>
                    <a:pt x="2361946" y="0"/>
                    <a:pt x="2438400" y="76454"/>
                    <a:pt x="2438400" y="170688"/>
                  </a:cubicBezTo>
                  <a:cubicBezTo>
                    <a:pt x="2438400" y="264922"/>
                    <a:pt x="2361946" y="341376"/>
                    <a:pt x="2267712" y="341376"/>
                  </a:cubicBezTo>
                  <a:lnTo>
                    <a:pt x="170688" y="341376"/>
                  </a:lnTo>
                  <a:cubicBezTo>
                    <a:pt x="76454" y="341376"/>
                    <a:pt x="0" y="264922"/>
                    <a:pt x="0" y="170688"/>
                  </a:cubicBezTo>
                  <a:close/>
                </a:path>
              </a:pathLst>
            </a:custGeom>
            <a:solidFill>
              <a:srgbClr val="FBA94C"/>
            </a:solidFill>
          </p:spPr>
        </p:sp>
      </p:grpSp>
      <p:grpSp>
        <p:nvGrpSpPr>
          <p:cNvPr name="Group 16" id="16"/>
          <p:cNvGrpSpPr/>
          <p:nvPr/>
        </p:nvGrpSpPr>
        <p:grpSpPr>
          <a:xfrm rot="0">
            <a:off x="6126480" y="3886200"/>
            <a:ext cx="365760" cy="256032"/>
            <a:chOff x="0" y="0"/>
            <a:chExt cx="487680" cy="341376"/>
          </a:xfrm>
        </p:grpSpPr>
        <p:sp>
          <p:nvSpPr>
            <p:cNvPr name="Freeform 17" id="17"/>
            <p:cNvSpPr/>
            <p:nvPr/>
          </p:nvSpPr>
          <p:spPr>
            <a:xfrm flipH="false" flipV="false" rot="0">
              <a:off x="0" y="0"/>
              <a:ext cx="487680" cy="341376"/>
            </a:xfrm>
            <a:custGeom>
              <a:avLst/>
              <a:gdLst/>
              <a:ahLst/>
              <a:cxnLst/>
              <a:rect r="r" b="b" t="t" l="l"/>
              <a:pathLst>
                <a:path h="341376" w="487680">
                  <a:moveTo>
                    <a:pt x="0" y="170688"/>
                  </a:moveTo>
                  <a:cubicBezTo>
                    <a:pt x="0" y="76454"/>
                    <a:pt x="76454" y="0"/>
                    <a:pt x="170688" y="0"/>
                  </a:cubicBezTo>
                  <a:lnTo>
                    <a:pt x="316992" y="0"/>
                  </a:lnTo>
                  <a:cubicBezTo>
                    <a:pt x="411226" y="0"/>
                    <a:pt x="487680" y="76454"/>
                    <a:pt x="487680" y="170688"/>
                  </a:cubicBezTo>
                  <a:cubicBezTo>
                    <a:pt x="487680" y="264922"/>
                    <a:pt x="411226" y="341376"/>
                    <a:pt x="316992" y="341376"/>
                  </a:cubicBezTo>
                  <a:lnTo>
                    <a:pt x="170688" y="341376"/>
                  </a:lnTo>
                  <a:cubicBezTo>
                    <a:pt x="76454" y="341376"/>
                    <a:pt x="0" y="264922"/>
                    <a:pt x="0" y="170688"/>
                  </a:cubicBezTo>
                  <a:close/>
                </a:path>
              </a:pathLst>
            </a:custGeom>
            <a:solidFill>
              <a:srgbClr val="8A93B8"/>
            </a:solidFill>
          </p:spPr>
        </p:sp>
      </p:grpSp>
      <p:sp>
        <p:nvSpPr>
          <p:cNvPr name="TextBox 18" id="18"/>
          <p:cNvSpPr txBox="true"/>
          <p:nvPr/>
        </p:nvSpPr>
        <p:spPr>
          <a:xfrm rot="0">
            <a:off x="1005840" y="4295775"/>
            <a:ext cx="5577840" cy="4985385"/>
          </a:xfrm>
          <a:prstGeom prst="rect">
            <a:avLst/>
          </a:prstGeom>
        </p:spPr>
        <p:txBody>
          <a:bodyPr anchor="t" rtlCol="false" tIns="0" lIns="0" bIns="0" rIns="0">
            <a:spAutoFit/>
          </a:bodyPr>
          <a:lstStyle/>
          <a:p>
            <a:pPr algn="l">
              <a:lnSpc>
                <a:spcPts val="2100"/>
              </a:lnSpc>
            </a:pPr>
            <a:r>
              <a:rPr lang="en-US" sz="1400">
                <a:solidFill>
                  <a:srgbClr val="4ADE80"/>
                </a:solidFill>
                <a:latin typeface="Montserrat"/>
                <a:ea typeface="Montserrat"/>
                <a:cs typeface="Montserrat"/>
                <a:sym typeface="Montserrat"/>
              </a:rPr>
              <a:t>●  </a:t>
            </a:r>
            <a:r>
              <a:rPr lang="en-US" sz="1400">
                <a:solidFill>
                  <a:srgbClr val="FFFFFF"/>
                </a:solidFill>
                <a:latin typeface="Montserrat"/>
                <a:ea typeface="Montserrat"/>
                <a:cs typeface="Montserrat"/>
                <a:sym typeface="Montserrat"/>
              </a:rPr>
              <a:t>Dashboard global</a:t>
            </a:r>
          </a:p>
          <a:p>
            <a:pPr algn="l">
              <a:lnSpc>
                <a:spcPts val="2100"/>
              </a:lnSpc>
            </a:pPr>
            <a:r>
              <a:rPr lang="en-US" sz="1400">
                <a:solidFill>
                  <a:srgbClr val="4ADE80"/>
                </a:solidFill>
                <a:latin typeface="Montserrat"/>
                <a:ea typeface="Montserrat"/>
                <a:cs typeface="Montserrat"/>
                <a:sym typeface="Montserrat"/>
              </a:rPr>
              <a:t>●  </a:t>
            </a:r>
            <a:r>
              <a:rPr lang="en-US" sz="1400">
                <a:solidFill>
                  <a:srgbClr val="FFFFFF"/>
                </a:solidFill>
                <a:latin typeface="Montserrat"/>
                <a:ea typeface="Montserrat"/>
                <a:cs typeface="Montserrat"/>
                <a:sym typeface="Montserrat"/>
              </a:rPr>
              <a:t>Gestión global de empresas</a:t>
            </a:r>
          </a:p>
          <a:p>
            <a:pPr algn="l">
              <a:lnSpc>
                <a:spcPts val="2100"/>
              </a:lnSpc>
            </a:pPr>
            <a:r>
              <a:rPr lang="en-US" sz="1400">
                <a:solidFill>
                  <a:srgbClr val="4ADE80"/>
                </a:solidFill>
                <a:latin typeface="Montserrat"/>
                <a:ea typeface="Montserrat"/>
                <a:cs typeface="Montserrat"/>
                <a:sym typeface="Montserrat"/>
              </a:rPr>
              <a:t>●  </a:t>
            </a:r>
            <a:r>
              <a:rPr lang="en-US" sz="1400">
                <a:solidFill>
                  <a:srgbClr val="FFFFFF"/>
                </a:solidFill>
                <a:latin typeface="Montserrat"/>
                <a:ea typeface="Montserrat"/>
                <a:cs typeface="Montserrat"/>
                <a:sym typeface="Montserrat"/>
              </a:rPr>
              <a:t>Buscador global</a:t>
            </a:r>
          </a:p>
          <a:p>
            <a:pPr algn="l">
              <a:lnSpc>
                <a:spcPts val="2100"/>
              </a:lnSpc>
            </a:pPr>
            <a:r>
              <a:rPr lang="en-US" sz="1400">
                <a:solidFill>
                  <a:srgbClr val="FBA94C"/>
                </a:solidFill>
                <a:latin typeface="Montserrat"/>
                <a:ea typeface="Montserrat"/>
                <a:cs typeface="Montserrat"/>
                <a:sym typeface="Montserrat"/>
              </a:rPr>
              <a:t>●  </a:t>
            </a:r>
            <a:r>
              <a:rPr lang="en-US" sz="1400">
                <a:solidFill>
                  <a:srgbClr val="FFFFFF"/>
                </a:solidFill>
                <a:latin typeface="Montserrat"/>
                <a:ea typeface="Montserrat"/>
                <a:cs typeface="Montserrat"/>
                <a:sym typeface="Montserrat"/>
              </a:rPr>
              <a:t>Métricas SaaS (falta tiempo de uso)</a:t>
            </a:r>
          </a:p>
          <a:p>
            <a:pPr algn="l">
              <a:lnSpc>
                <a:spcPts val="2100"/>
              </a:lnSpc>
            </a:pPr>
            <a:r>
              <a:rPr lang="en-US" sz="1400">
                <a:solidFill>
                  <a:srgbClr val="4ADE80"/>
                </a:solidFill>
                <a:latin typeface="Montserrat"/>
                <a:ea typeface="Montserrat"/>
                <a:cs typeface="Montserrat"/>
                <a:sym typeface="Montserrat"/>
              </a:rPr>
              <a:t>●  </a:t>
            </a:r>
            <a:r>
              <a:rPr lang="en-US" sz="1400">
                <a:solidFill>
                  <a:srgbClr val="FFFFFF"/>
                </a:solidFill>
                <a:latin typeface="Montserrat"/>
                <a:ea typeface="Montserrat"/>
                <a:cs typeface="Montserrat"/>
                <a:sym typeface="Montserrat"/>
              </a:rPr>
              <a:t>Alertas y salud de clientes</a:t>
            </a:r>
          </a:p>
          <a:p>
            <a:pPr algn="l">
              <a:lnSpc>
                <a:spcPts val="2100"/>
              </a:lnSpc>
            </a:pPr>
            <a:r>
              <a:rPr lang="en-US" sz="1400">
                <a:solidFill>
                  <a:srgbClr val="4ADE80"/>
                </a:solidFill>
                <a:latin typeface="Montserrat"/>
                <a:ea typeface="Montserrat"/>
                <a:cs typeface="Montserrat"/>
                <a:sym typeface="Montserrat"/>
              </a:rPr>
              <a:t>●  </a:t>
            </a:r>
            <a:r>
              <a:rPr lang="en-US" sz="1400">
                <a:solidFill>
                  <a:srgbClr val="FFFFFF"/>
                </a:solidFill>
                <a:latin typeface="Montserrat"/>
                <a:ea typeface="Montserrat"/>
                <a:cs typeface="Montserrat"/>
                <a:sym typeface="Montserrat"/>
              </a:rPr>
              <a:t>Usuarios, roles y permisos</a:t>
            </a:r>
          </a:p>
          <a:p>
            <a:pPr algn="l">
              <a:lnSpc>
                <a:spcPts val="2100"/>
              </a:lnSpc>
            </a:pPr>
            <a:r>
              <a:rPr lang="en-US" sz="1400">
                <a:solidFill>
                  <a:srgbClr val="4ADE80"/>
                </a:solidFill>
                <a:latin typeface="Montserrat"/>
                <a:ea typeface="Montserrat"/>
                <a:cs typeface="Montserrat"/>
                <a:sym typeface="Montserrat"/>
              </a:rPr>
              <a:t>●  </a:t>
            </a:r>
            <a:r>
              <a:rPr lang="en-US" sz="1400">
                <a:solidFill>
                  <a:srgbClr val="FFFFFF"/>
                </a:solidFill>
                <a:latin typeface="Montserrat"/>
                <a:ea typeface="Montserrat"/>
                <a:cs typeface="Montserrat"/>
                <a:sym typeface="Montserrat"/>
              </a:rPr>
              <a:t>Auditoría y trazabilidad</a:t>
            </a:r>
          </a:p>
          <a:p>
            <a:pPr algn="l">
              <a:lnSpc>
                <a:spcPts val="2100"/>
              </a:lnSpc>
            </a:pPr>
            <a:r>
              <a:rPr lang="en-US" sz="1400">
                <a:solidFill>
                  <a:srgbClr val="4ADE80"/>
                </a:solidFill>
                <a:latin typeface="Montserrat"/>
                <a:ea typeface="Montserrat"/>
                <a:cs typeface="Montserrat"/>
                <a:sym typeface="Montserrat"/>
              </a:rPr>
              <a:t>●  </a:t>
            </a:r>
            <a:r>
              <a:rPr lang="en-US" sz="1400">
                <a:solidFill>
                  <a:srgbClr val="FFFFFF"/>
                </a:solidFill>
                <a:latin typeface="Montserrat"/>
                <a:ea typeface="Montserrat"/>
                <a:cs typeface="Montserrat"/>
                <a:sym typeface="Montserrat"/>
              </a:rPr>
              <a:t>Seguridad y aislamiento</a:t>
            </a:r>
          </a:p>
          <a:p>
            <a:pPr algn="l">
              <a:lnSpc>
                <a:spcPts val="2100"/>
              </a:lnSpc>
            </a:pPr>
            <a:r>
              <a:rPr lang="en-US" sz="1400">
                <a:solidFill>
                  <a:srgbClr val="4ADE80"/>
                </a:solidFill>
                <a:latin typeface="Montserrat"/>
                <a:ea typeface="Montserrat"/>
                <a:cs typeface="Montserrat"/>
                <a:sym typeface="Montserrat"/>
              </a:rPr>
              <a:t>●  </a:t>
            </a:r>
            <a:r>
              <a:rPr lang="en-US" sz="1400">
                <a:solidFill>
                  <a:srgbClr val="FFFFFF"/>
                </a:solidFill>
                <a:latin typeface="Montserrat"/>
                <a:ea typeface="Montserrat"/>
                <a:cs typeface="Montserrat"/>
                <a:sym typeface="Montserrat"/>
              </a:rPr>
              <a:t>Inicio de sesión y aprobación</a:t>
            </a:r>
          </a:p>
          <a:p>
            <a:pPr algn="l">
              <a:lnSpc>
                <a:spcPts val="2100"/>
              </a:lnSpc>
            </a:pPr>
            <a:r>
              <a:rPr lang="en-US" sz="1400">
                <a:solidFill>
                  <a:srgbClr val="4ADE80"/>
                </a:solidFill>
                <a:latin typeface="Montserrat"/>
                <a:ea typeface="Montserrat"/>
                <a:cs typeface="Montserrat"/>
                <a:sym typeface="Montserrat"/>
              </a:rPr>
              <a:t>●  </a:t>
            </a:r>
            <a:r>
              <a:rPr lang="en-US" sz="1400">
                <a:solidFill>
                  <a:srgbClr val="FFFFFF"/>
                </a:solidFill>
                <a:latin typeface="Montserrat"/>
                <a:ea typeface="Montserrat"/>
                <a:cs typeface="Montserrat"/>
                <a:sym typeface="Montserrat"/>
              </a:rPr>
              <a:t>Control de morosidad</a:t>
            </a:r>
          </a:p>
          <a:p>
            <a:pPr algn="l">
              <a:lnSpc>
                <a:spcPts val="2100"/>
              </a:lnSpc>
            </a:pPr>
            <a:r>
              <a:rPr lang="en-US" sz="1400">
                <a:solidFill>
                  <a:srgbClr val="FBA94C"/>
                </a:solidFill>
                <a:latin typeface="Montserrat"/>
                <a:ea typeface="Montserrat"/>
                <a:cs typeface="Montserrat"/>
                <a:sym typeface="Montserrat"/>
              </a:rPr>
              <a:t>●  </a:t>
            </a:r>
            <a:r>
              <a:rPr lang="en-US" sz="1400">
                <a:solidFill>
                  <a:srgbClr val="FFFFFF"/>
                </a:solidFill>
                <a:latin typeface="Montserrat"/>
                <a:ea typeface="Montserrat"/>
                <a:cs typeface="Montserrat"/>
                <a:sym typeface="Montserrat"/>
              </a:rPr>
              <a:t>Sistema de pagos (simulado)</a:t>
            </a:r>
          </a:p>
          <a:p>
            <a:pPr algn="l">
              <a:lnSpc>
                <a:spcPts val="2100"/>
              </a:lnSpc>
            </a:pPr>
            <a:r>
              <a:rPr lang="en-US" sz="1400">
                <a:solidFill>
                  <a:srgbClr val="FBA94C"/>
                </a:solidFill>
                <a:latin typeface="Montserrat"/>
                <a:ea typeface="Montserrat"/>
                <a:cs typeface="Montserrat"/>
                <a:sym typeface="Montserrat"/>
              </a:rPr>
              <a:t>●  </a:t>
            </a:r>
            <a:r>
              <a:rPr lang="en-US" sz="1400">
                <a:solidFill>
                  <a:srgbClr val="FFFFFF"/>
                </a:solidFill>
                <a:latin typeface="Montserrat"/>
                <a:ea typeface="Montserrat"/>
                <a:cs typeface="Montserrat"/>
                <a:sym typeface="Montserrat"/>
              </a:rPr>
              <a:t>Facturación (falta PDF)</a:t>
            </a:r>
          </a:p>
          <a:p>
            <a:pPr algn="l">
              <a:lnSpc>
                <a:spcPts val="2100"/>
              </a:lnSpc>
            </a:pPr>
            <a:r>
              <a:rPr lang="en-US" sz="1400">
                <a:solidFill>
                  <a:srgbClr val="FBA94C"/>
                </a:solidFill>
                <a:latin typeface="Montserrat"/>
                <a:ea typeface="Montserrat"/>
                <a:cs typeface="Montserrat"/>
                <a:sym typeface="Montserrat"/>
              </a:rPr>
              <a:t>●  </a:t>
            </a:r>
            <a:r>
              <a:rPr lang="en-US" sz="1400">
                <a:solidFill>
                  <a:srgbClr val="FFFFFF"/>
                </a:solidFill>
                <a:latin typeface="Montserrat"/>
                <a:ea typeface="Montserrat"/>
                <a:cs typeface="Montserrat"/>
                <a:sym typeface="Montserrat"/>
              </a:rPr>
              <a:t>Gestión de planes (falta pantalla)</a:t>
            </a:r>
          </a:p>
          <a:p>
            <a:pPr algn="l">
              <a:lnSpc>
                <a:spcPts val="2100"/>
              </a:lnSpc>
            </a:pPr>
            <a:r>
              <a:rPr lang="en-US" sz="1400">
                <a:solidFill>
                  <a:srgbClr val="FBA94C"/>
                </a:solidFill>
                <a:latin typeface="Montserrat"/>
                <a:ea typeface="Montserrat"/>
                <a:cs typeface="Montserrat"/>
                <a:sym typeface="Montserrat"/>
              </a:rPr>
              <a:t>●  </a:t>
            </a:r>
            <a:r>
              <a:rPr lang="en-US" sz="1400">
                <a:solidFill>
                  <a:srgbClr val="FFFFFF"/>
                </a:solidFill>
                <a:latin typeface="Montserrat"/>
                <a:ea typeface="Montserrat"/>
                <a:cs typeface="Montserrat"/>
                <a:sym typeface="Montserrat"/>
              </a:rPr>
              <a:t>Catálogos globales (faltan pantallas)</a:t>
            </a:r>
          </a:p>
          <a:p>
            <a:pPr algn="l">
              <a:lnSpc>
                <a:spcPts val="2100"/>
              </a:lnSpc>
            </a:pPr>
            <a:r>
              <a:rPr lang="en-US" sz="1400">
                <a:solidFill>
                  <a:srgbClr val="8A93B8"/>
                </a:solidFill>
                <a:latin typeface="Montserrat"/>
                <a:ea typeface="Montserrat"/>
                <a:cs typeface="Montserrat"/>
                <a:sym typeface="Montserrat"/>
              </a:rPr>
              <a:t>●  </a:t>
            </a:r>
            <a:r>
              <a:rPr lang="en-US" sz="1400">
                <a:solidFill>
                  <a:srgbClr val="FFFFFF"/>
                </a:solidFill>
                <a:latin typeface="Montserrat"/>
                <a:ea typeface="Montserrat"/>
                <a:cs typeface="Montserrat"/>
                <a:sym typeface="Montserrat"/>
              </a:rPr>
              <a:t>Notificación por correo</a:t>
            </a:r>
          </a:p>
        </p:txBody>
      </p:sp>
      <p:sp>
        <p:nvSpPr>
          <p:cNvPr name="TextBox 19" id="19"/>
          <p:cNvSpPr txBox="true"/>
          <p:nvPr/>
        </p:nvSpPr>
        <p:spPr>
          <a:xfrm rot="0">
            <a:off x="1005840" y="9353550"/>
            <a:ext cx="5669280" cy="384810"/>
          </a:xfrm>
          <a:prstGeom prst="rect">
            <a:avLst/>
          </a:prstGeom>
        </p:spPr>
        <p:txBody>
          <a:bodyPr anchor="t" rtlCol="false" tIns="0" lIns="0" bIns="0" rIns="0">
            <a:spAutoFit/>
          </a:bodyPr>
          <a:lstStyle/>
          <a:p>
            <a:pPr algn="l">
              <a:lnSpc>
                <a:spcPts val="1517"/>
              </a:lnSpc>
            </a:pPr>
            <a:r>
              <a:rPr lang="en-US" sz="1149">
                <a:solidFill>
                  <a:srgbClr val="4ADE80"/>
                </a:solidFill>
                <a:latin typeface="Montserrat"/>
                <a:ea typeface="Montserrat"/>
                <a:cs typeface="Montserrat"/>
                <a:sym typeface="Montserrat"/>
              </a:rPr>
              <a:t>● </a:t>
            </a:r>
            <a:r>
              <a:rPr lang="en-US" sz="1149">
                <a:solidFill>
                  <a:srgbClr val="C9D2F0"/>
                </a:solidFill>
                <a:latin typeface="Montserrat"/>
                <a:ea typeface="Montserrat"/>
                <a:cs typeface="Montserrat"/>
                <a:sym typeface="Montserrat"/>
              </a:rPr>
              <a:t>terminado 9   </a:t>
            </a:r>
            <a:r>
              <a:rPr lang="en-US" sz="1149">
                <a:solidFill>
                  <a:srgbClr val="FBA94C"/>
                </a:solidFill>
                <a:latin typeface="Montserrat"/>
                <a:ea typeface="Montserrat"/>
                <a:cs typeface="Montserrat"/>
                <a:sym typeface="Montserrat"/>
              </a:rPr>
              <a:t>● </a:t>
            </a:r>
            <a:r>
              <a:rPr lang="en-US" sz="1149">
                <a:solidFill>
                  <a:srgbClr val="C9D2F0"/>
                </a:solidFill>
                <a:latin typeface="Montserrat"/>
                <a:ea typeface="Montserrat"/>
                <a:cs typeface="Montserrat"/>
                <a:sym typeface="Montserrat"/>
              </a:rPr>
              <a:t>parcial 5   </a:t>
            </a:r>
            <a:r>
              <a:rPr lang="en-US" sz="1149">
                <a:solidFill>
                  <a:srgbClr val="8A93B8"/>
                </a:solidFill>
                <a:latin typeface="Montserrat"/>
                <a:ea typeface="Montserrat"/>
                <a:cs typeface="Montserrat"/>
                <a:sym typeface="Montserrat"/>
              </a:rPr>
              <a:t>● </a:t>
            </a:r>
            <a:r>
              <a:rPr lang="en-US" sz="1149">
                <a:solidFill>
                  <a:srgbClr val="C9D2F0"/>
                </a:solidFill>
                <a:latin typeface="Montserrat"/>
                <a:ea typeface="Montserrat"/>
                <a:cs typeface="Montserrat"/>
                <a:sym typeface="Montserrat"/>
              </a:rPr>
              <a:t>pendiente 1</a:t>
            </a:r>
          </a:p>
        </p:txBody>
      </p:sp>
      <p:grpSp>
        <p:nvGrpSpPr>
          <p:cNvPr name="Group 20" id="20"/>
          <p:cNvGrpSpPr/>
          <p:nvPr/>
        </p:nvGrpSpPr>
        <p:grpSpPr>
          <a:xfrm rot="0">
            <a:off x="7223760" y="2468880"/>
            <a:ext cx="3383280" cy="2114550"/>
            <a:chOff x="0" y="0"/>
            <a:chExt cx="4511040" cy="2819400"/>
          </a:xfrm>
        </p:grpSpPr>
        <p:sp>
          <p:nvSpPr>
            <p:cNvPr name="Freeform 21" id="21" descr="01_consola_resumen.png"/>
            <p:cNvSpPr/>
            <p:nvPr/>
          </p:nvSpPr>
          <p:spPr>
            <a:xfrm flipH="false" flipV="false" rot="0">
              <a:off x="0" y="0"/>
              <a:ext cx="4511040" cy="2819400"/>
            </a:xfrm>
            <a:custGeom>
              <a:avLst/>
              <a:gdLst/>
              <a:ahLst/>
              <a:cxnLst/>
              <a:rect r="r" b="b" t="t" l="l"/>
              <a:pathLst>
                <a:path h="2819400" w="4511040">
                  <a:moveTo>
                    <a:pt x="0" y="0"/>
                  </a:moveTo>
                  <a:lnTo>
                    <a:pt x="4511040" y="0"/>
                  </a:lnTo>
                  <a:lnTo>
                    <a:pt x="4511040" y="2819400"/>
                  </a:lnTo>
                  <a:lnTo>
                    <a:pt x="0" y="2819400"/>
                  </a:lnTo>
                  <a:lnTo>
                    <a:pt x="0" y="0"/>
                  </a:lnTo>
                  <a:close/>
                </a:path>
              </a:pathLst>
            </a:custGeom>
            <a:blipFill>
              <a:blip r:embed="rId3"/>
              <a:stretch>
                <a:fillRect l="0" t="0" r="0" b="0"/>
              </a:stretch>
            </a:blipFill>
          </p:spPr>
        </p:sp>
      </p:grpSp>
      <p:sp>
        <p:nvSpPr>
          <p:cNvPr name="TextBox 22" id="22"/>
          <p:cNvSpPr txBox="true"/>
          <p:nvPr/>
        </p:nvSpPr>
        <p:spPr>
          <a:xfrm rot="0">
            <a:off x="7223760" y="4619244"/>
            <a:ext cx="3383280" cy="293370"/>
          </a:xfrm>
          <a:prstGeom prst="rect">
            <a:avLst/>
          </a:prstGeom>
        </p:spPr>
        <p:txBody>
          <a:bodyPr anchor="t" rtlCol="false" tIns="0" lIns="0" bIns="0" rIns="0">
            <a:spAutoFit/>
          </a:bodyPr>
          <a:lstStyle/>
          <a:p>
            <a:pPr algn="ctr">
              <a:lnSpc>
                <a:spcPts val="1319"/>
              </a:lnSpc>
            </a:pPr>
            <a:r>
              <a:rPr lang="en-US" sz="999">
                <a:solidFill>
                  <a:srgbClr val="C9D2F0"/>
                </a:solidFill>
                <a:latin typeface="Montserrat"/>
                <a:ea typeface="Montserrat"/>
                <a:cs typeface="Montserrat"/>
                <a:sym typeface="Montserrat"/>
              </a:rPr>
              <a:t>Consola: resumen global</a:t>
            </a:r>
          </a:p>
        </p:txBody>
      </p:sp>
      <p:grpSp>
        <p:nvGrpSpPr>
          <p:cNvPr name="Group 23" id="23"/>
          <p:cNvGrpSpPr/>
          <p:nvPr/>
        </p:nvGrpSpPr>
        <p:grpSpPr>
          <a:xfrm rot="0">
            <a:off x="10789920" y="2468880"/>
            <a:ext cx="3383280" cy="2114550"/>
            <a:chOff x="0" y="0"/>
            <a:chExt cx="4511040" cy="2819400"/>
          </a:xfrm>
        </p:grpSpPr>
        <p:sp>
          <p:nvSpPr>
            <p:cNvPr name="Freeform 24" id="24" descr="03_consola_suscripciones.png"/>
            <p:cNvSpPr/>
            <p:nvPr/>
          </p:nvSpPr>
          <p:spPr>
            <a:xfrm flipH="false" flipV="false" rot="0">
              <a:off x="0" y="0"/>
              <a:ext cx="4511040" cy="2819400"/>
            </a:xfrm>
            <a:custGeom>
              <a:avLst/>
              <a:gdLst/>
              <a:ahLst/>
              <a:cxnLst/>
              <a:rect r="r" b="b" t="t" l="l"/>
              <a:pathLst>
                <a:path h="2819400" w="4511040">
                  <a:moveTo>
                    <a:pt x="0" y="0"/>
                  </a:moveTo>
                  <a:lnTo>
                    <a:pt x="4511040" y="0"/>
                  </a:lnTo>
                  <a:lnTo>
                    <a:pt x="4511040" y="2819400"/>
                  </a:lnTo>
                  <a:lnTo>
                    <a:pt x="0" y="2819400"/>
                  </a:lnTo>
                  <a:lnTo>
                    <a:pt x="0" y="0"/>
                  </a:lnTo>
                  <a:close/>
                </a:path>
              </a:pathLst>
            </a:custGeom>
            <a:blipFill>
              <a:blip r:embed="rId4"/>
              <a:stretch>
                <a:fillRect l="0" t="0" r="0" b="0"/>
              </a:stretch>
            </a:blipFill>
          </p:spPr>
        </p:sp>
      </p:grpSp>
      <p:sp>
        <p:nvSpPr>
          <p:cNvPr name="TextBox 25" id="25"/>
          <p:cNvSpPr txBox="true"/>
          <p:nvPr/>
        </p:nvSpPr>
        <p:spPr>
          <a:xfrm rot="0">
            <a:off x="10789920" y="4619244"/>
            <a:ext cx="3383280" cy="293370"/>
          </a:xfrm>
          <a:prstGeom prst="rect">
            <a:avLst/>
          </a:prstGeom>
        </p:spPr>
        <p:txBody>
          <a:bodyPr anchor="t" rtlCol="false" tIns="0" lIns="0" bIns="0" rIns="0">
            <a:spAutoFit/>
          </a:bodyPr>
          <a:lstStyle/>
          <a:p>
            <a:pPr algn="ctr">
              <a:lnSpc>
                <a:spcPts val="1319"/>
              </a:lnSpc>
            </a:pPr>
            <a:r>
              <a:rPr lang="en-US" sz="999">
                <a:solidFill>
                  <a:srgbClr val="C9D2F0"/>
                </a:solidFill>
                <a:latin typeface="Montserrat"/>
                <a:ea typeface="Montserrat"/>
                <a:cs typeface="Montserrat"/>
                <a:sym typeface="Montserrat"/>
              </a:rPr>
              <a:t>Consola: suscripciones y pagos</a:t>
            </a:r>
          </a:p>
        </p:txBody>
      </p:sp>
      <p:grpSp>
        <p:nvGrpSpPr>
          <p:cNvPr name="Group 26" id="26"/>
          <p:cNvGrpSpPr/>
          <p:nvPr/>
        </p:nvGrpSpPr>
        <p:grpSpPr>
          <a:xfrm rot="0">
            <a:off x="14356080" y="2468880"/>
            <a:ext cx="3383280" cy="2114550"/>
            <a:chOff x="0" y="0"/>
            <a:chExt cx="4511040" cy="2819400"/>
          </a:xfrm>
        </p:grpSpPr>
        <p:sp>
          <p:nvSpPr>
            <p:cNvPr name="Freeform 27" id="27" descr="05_portal_suscripcion.png"/>
            <p:cNvSpPr/>
            <p:nvPr/>
          </p:nvSpPr>
          <p:spPr>
            <a:xfrm flipH="false" flipV="false" rot="0">
              <a:off x="0" y="0"/>
              <a:ext cx="4511040" cy="2819400"/>
            </a:xfrm>
            <a:custGeom>
              <a:avLst/>
              <a:gdLst/>
              <a:ahLst/>
              <a:cxnLst/>
              <a:rect r="r" b="b" t="t" l="l"/>
              <a:pathLst>
                <a:path h="2819400" w="4511040">
                  <a:moveTo>
                    <a:pt x="0" y="0"/>
                  </a:moveTo>
                  <a:lnTo>
                    <a:pt x="4511040" y="0"/>
                  </a:lnTo>
                  <a:lnTo>
                    <a:pt x="4511040" y="2819400"/>
                  </a:lnTo>
                  <a:lnTo>
                    <a:pt x="0" y="2819400"/>
                  </a:lnTo>
                  <a:lnTo>
                    <a:pt x="0" y="0"/>
                  </a:lnTo>
                  <a:close/>
                </a:path>
              </a:pathLst>
            </a:custGeom>
            <a:blipFill>
              <a:blip r:embed="rId5"/>
              <a:stretch>
                <a:fillRect l="0" t="0" r="0" b="0"/>
              </a:stretch>
            </a:blipFill>
          </p:spPr>
        </p:sp>
      </p:grpSp>
      <p:sp>
        <p:nvSpPr>
          <p:cNvPr name="TextBox 28" id="28"/>
          <p:cNvSpPr txBox="true"/>
          <p:nvPr/>
        </p:nvSpPr>
        <p:spPr>
          <a:xfrm rot="0">
            <a:off x="14356080" y="4619244"/>
            <a:ext cx="3383280" cy="293370"/>
          </a:xfrm>
          <a:prstGeom prst="rect">
            <a:avLst/>
          </a:prstGeom>
        </p:spPr>
        <p:txBody>
          <a:bodyPr anchor="t" rtlCol="false" tIns="0" lIns="0" bIns="0" rIns="0">
            <a:spAutoFit/>
          </a:bodyPr>
          <a:lstStyle/>
          <a:p>
            <a:pPr algn="ctr">
              <a:lnSpc>
                <a:spcPts val="1319"/>
              </a:lnSpc>
            </a:pPr>
            <a:r>
              <a:rPr lang="en-US" sz="999">
                <a:solidFill>
                  <a:srgbClr val="C9D2F0"/>
                </a:solidFill>
                <a:latin typeface="Montserrat"/>
                <a:ea typeface="Montserrat"/>
                <a:cs typeface="Montserrat"/>
                <a:sym typeface="Montserrat"/>
              </a:rPr>
              <a:t>Portal: empresa morosa</a:t>
            </a:r>
          </a:p>
        </p:txBody>
      </p:sp>
      <p:grpSp>
        <p:nvGrpSpPr>
          <p:cNvPr name="Group 29" id="29"/>
          <p:cNvGrpSpPr/>
          <p:nvPr/>
        </p:nvGrpSpPr>
        <p:grpSpPr>
          <a:xfrm rot="0">
            <a:off x="7223760" y="5120640"/>
            <a:ext cx="10515600" cy="4709160"/>
            <a:chOff x="0" y="0"/>
            <a:chExt cx="14020800" cy="6278880"/>
          </a:xfrm>
        </p:grpSpPr>
        <p:sp>
          <p:nvSpPr>
            <p:cNvPr name="Freeform 30" id="30"/>
            <p:cNvSpPr/>
            <p:nvPr/>
          </p:nvSpPr>
          <p:spPr>
            <a:xfrm flipH="false" flipV="false" rot="0">
              <a:off x="0" y="0"/>
              <a:ext cx="14020800" cy="6278880"/>
            </a:xfrm>
            <a:custGeom>
              <a:avLst/>
              <a:gdLst/>
              <a:ahLst/>
              <a:cxnLst/>
              <a:rect r="r" b="b" t="t" l="l"/>
              <a:pathLst>
                <a:path h="6278880" w="14020800">
                  <a:moveTo>
                    <a:pt x="0" y="753491"/>
                  </a:moveTo>
                  <a:cubicBezTo>
                    <a:pt x="0" y="337312"/>
                    <a:pt x="337312" y="0"/>
                    <a:pt x="753491" y="0"/>
                  </a:cubicBezTo>
                  <a:lnTo>
                    <a:pt x="13267310" y="0"/>
                  </a:lnTo>
                  <a:cubicBezTo>
                    <a:pt x="13683487" y="0"/>
                    <a:pt x="14020800" y="337312"/>
                    <a:pt x="14020800" y="753491"/>
                  </a:cubicBezTo>
                  <a:lnTo>
                    <a:pt x="14020800" y="5525389"/>
                  </a:lnTo>
                  <a:cubicBezTo>
                    <a:pt x="14020800" y="5941568"/>
                    <a:pt x="13683489" y="6278880"/>
                    <a:pt x="13267310" y="6278880"/>
                  </a:cubicBezTo>
                  <a:lnTo>
                    <a:pt x="753491" y="6278880"/>
                  </a:lnTo>
                  <a:cubicBezTo>
                    <a:pt x="337312" y="6278880"/>
                    <a:pt x="0" y="5941568"/>
                    <a:pt x="0" y="5525389"/>
                  </a:cubicBezTo>
                  <a:close/>
                </a:path>
              </a:pathLst>
            </a:custGeom>
            <a:solidFill>
              <a:srgbClr val="15193A"/>
            </a:solidFill>
          </p:spPr>
        </p:sp>
      </p:grpSp>
      <p:sp>
        <p:nvSpPr>
          <p:cNvPr name="TextBox 31" id="31"/>
          <p:cNvSpPr txBox="true"/>
          <p:nvPr/>
        </p:nvSpPr>
        <p:spPr>
          <a:xfrm rot="0">
            <a:off x="7543800" y="5284470"/>
            <a:ext cx="10058400" cy="476250"/>
          </a:xfrm>
          <a:prstGeom prst="rect">
            <a:avLst/>
          </a:prstGeom>
        </p:spPr>
        <p:txBody>
          <a:bodyPr anchor="t" rtlCol="false" tIns="0" lIns="0" bIns="0" rIns="0">
            <a:spAutoFit/>
          </a:bodyPr>
          <a:lstStyle/>
          <a:p>
            <a:pPr algn="l">
              <a:lnSpc>
                <a:spcPts val="2376"/>
              </a:lnSpc>
            </a:pPr>
            <a:r>
              <a:rPr lang="en-US" sz="1800" b="true">
                <a:solidFill>
                  <a:srgbClr val="FFFFFF"/>
                </a:solidFill>
                <a:latin typeface="Montserrat Bold"/>
                <a:ea typeface="Montserrat Bold"/>
                <a:cs typeface="Montserrat Bold"/>
                <a:sym typeface="Montserrat Bold"/>
              </a:rPr>
              <a:t>Demo en vivo · 2 minutos</a:t>
            </a:r>
          </a:p>
        </p:txBody>
      </p:sp>
      <p:grpSp>
        <p:nvGrpSpPr>
          <p:cNvPr name="Group 32" id="32"/>
          <p:cNvGrpSpPr/>
          <p:nvPr/>
        </p:nvGrpSpPr>
        <p:grpSpPr>
          <a:xfrm rot="0">
            <a:off x="7543800" y="5897880"/>
            <a:ext cx="530352" cy="530352"/>
            <a:chOff x="0" y="0"/>
            <a:chExt cx="707136" cy="707136"/>
          </a:xfrm>
        </p:grpSpPr>
        <p:sp>
          <p:nvSpPr>
            <p:cNvPr name="Freeform 33" id="33" descr="image22.png"/>
            <p:cNvSpPr/>
            <p:nvPr/>
          </p:nvSpPr>
          <p:spPr>
            <a:xfrm flipH="false" flipV="false" rot="0">
              <a:off x="0" y="0"/>
              <a:ext cx="707136" cy="707136"/>
            </a:xfrm>
            <a:custGeom>
              <a:avLst/>
              <a:gdLst/>
              <a:ahLst/>
              <a:cxnLst/>
              <a:rect r="r" b="b" t="t" l="l"/>
              <a:pathLst>
                <a:path h="707136" w="707136">
                  <a:moveTo>
                    <a:pt x="0" y="0"/>
                  </a:moveTo>
                  <a:lnTo>
                    <a:pt x="707136" y="0"/>
                  </a:lnTo>
                  <a:lnTo>
                    <a:pt x="707136" y="707136"/>
                  </a:lnTo>
                  <a:lnTo>
                    <a:pt x="0" y="707136"/>
                  </a:lnTo>
                  <a:lnTo>
                    <a:pt x="0" y="0"/>
                  </a:lnTo>
                  <a:close/>
                </a:path>
              </a:pathLst>
            </a:custGeom>
            <a:blipFill>
              <a:blip r:embed="rId6"/>
              <a:stretch>
                <a:fillRect l="0" t="0" r="0" b="0"/>
              </a:stretch>
            </a:blipFill>
          </p:spPr>
        </p:sp>
      </p:grpSp>
      <p:grpSp>
        <p:nvGrpSpPr>
          <p:cNvPr name="Group 34" id="34"/>
          <p:cNvGrpSpPr/>
          <p:nvPr/>
        </p:nvGrpSpPr>
        <p:grpSpPr>
          <a:xfrm rot="0">
            <a:off x="7543800" y="5897880"/>
            <a:ext cx="530352" cy="530352"/>
            <a:chOff x="0" y="0"/>
            <a:chExt cx="707136" cy="707136"/>
          </a:xfrm>
        </p:grpSpPr>
        <p:sp>
          <p:nvSpPr>
            <p:cNvPr name="Freeform 35" id="35"/>
            <p:cNvSpPr/>
            <p:nvPr/>
          </p:nvSpPr>
          <p:spPr>
            <a:xfrm flipH="false" flipV="false" rot="0">
              <a:off x="0" y="0"/>
              <a:ext cx="707136" cy="707136"/>
            </a:xfrm>
            <a:custGeom>
              <a:avLst/>
              <a:gdLst/>
              <a:ahLst/>
              <a:cxnLst/>
              <a:rect r="r" b="b" t="t" l="l"/>
              <a:pathLst>
                <a:path h="707136" w="707136">
                  <a:moveTo>
                    <a:pt x="0" y="0"/>
                  </a:moveTo>
                  <a:lnTo>
                    <a:pt x="707136" y="0"/>
                  </a:lnTo>
                  <a:lnTo>
                    <a:pt x="707136" y="707136"/>
                  </a:lnTo>
                  <a:lnTo>
                    <a:pt x="0" y="707136"/>
                  </a:lnTo>
                  <a:close/>
                </a:path>
              </a:pathLst>
            </a:custGeom>
            <a:blipFill>
              <a:blip r:embed="rId7">
                <a:alphaModFix amt="0"/>
              </a:blip>
              <a:stretch>
                <a:fillRect l="-78303" t="0" r="-78303" b="0"/>
              </a:stretch>
            </a:blipFill>
          </p:spPr>
        </p:sp>
        <p:sp>
          <p:nvSpPr>
            <p:cNvPr name="TextBox 36" id="36"/>
            <p:cNvSpPr txBox="true"/>
            <p:nvPr/>
          </p:nvSpPr>
          <p:spPr>
            <a:xfrm>
              <a:off x="0" y="-19050"/>
              <a:ext cx="707136" cy="726186"/>
            </a:xfrm>
            <a:prstGeom prst="rect">
              <a:avLst/>
            </a:prstGeom>
          </p:spPr>
          <p:txBody>
            <a:bodyPr anchor="ctr" rtlCol="false" tIns="0" lIns="0" bIns="0" rIns="0"/>
            <a:lstStyle/>
            <a:p>
              <a:pPr algn="ctr">
                <a:lnSpc>
                  <a:spcPts val="1980"/>
                </a:lnSpc>
              </a:pPr>
              <a:r>
                <a:rPr lang="en-US" sz="1500" b="true">
                  <a:solidFill>
                    <a:srgbClr val="FFFFFF"/>
                  </a:solidFill>
                  <a:latin typeface="Montserrat Bold"/>
                  <a:ea typeface="Montserrat Bold"/>
                  <a:cs typeface="Montserrat Bold"/>
                  <a:sym typeface="Montserrat Bold"/>
                </a:rPr>
                <a:t>1</a:t>
              </a:r>
            </a:p>
          </p:txBody>
        </p:sp>
      </p:grpSp>
      <p:sp>
        <p:nvSpPr>
          <p:cNvPr name="TextBox 37" id="37"/>
          <p:cNvSpPr txBox="true"/>
          <p:nvPr/>
        </p:nvSpPr>
        <p:spPr>
          <a:xfrm rot="0">
            <a:off x="8275320" y="5951982"/>
            <a:ext cx="8046720" cy="476250"/>
          </a:xfrm>
          <a:prstGeom prst="rect">
            <a:avLst/>
          </a:prstGeom>
        </p:spPr>
        <p:txBody>
          <a:bodyPr anchor="t" rtlCol="false" tIns="0" lIns="0" bIns="0" rIns="0">
            <a:spAutoFit/>
          </a:bodyPr>
          <a:lstStyle/>
          <a:p>
            <a:pPr algn="l">
              <a:lnSpc>
                <a:spcPts val="1913"/>
              </a:lnSpc>
            </a:pPr>
            <a:r>
              <a:rPr lang="en-US" sz="1449">
                <a:solidFill>
                  <a:srgbClr val="FFFFFF"/>
                </a:solidFill>
                <a:latin typeface="Montserrat"/>
                <a:ea typeface="Montserrat"/>
                <a:cs typeface="Montserrat"/>
                <a:sym typeface="Montserrat"/>
              </a:rPr>
              <a:t>Consola: resumen global con los indicadores</a:t>
            </a:r>
          </a:p>
        </p:txBody>
      </p:sp>
      <p:sp>
        <p:nvSpPr>
          <p:cNvPr name="TextBox 38" id="38"/>
          <p:cNvSpPr txBox="true"/>
          <p:nvPr/>
        </p:nvSpPr>
        <p:spPr>
          <a:xfrm rot="0">
            <a:off x="16367760" y="5951982"/>
            <a:ext cx="1097280" cy="476250"/>
          </a:xfrm>
          <a:prstGeom prst="rect">
            <a:avLst/>
          </a:prstGeom>
        </p:spPr>
        <p:txBody>
          <a:bodyPr anchor="t" rtlCol="false" tIns="0" lIns="0" bIns="0" rIns="0">
            <a:spAutoFit/>
          </a:bodyPr>
          <a:lstStyle/>
          <a:p>
            <a:pPr algn="r">
              <a:lnSpc>
                <a:spcPts val="1848"/>
              </a:lnSpc>
            </a:pPr>
            <a:r>
              <a:rPr lang="en-US" sz="1400" b="true">
                <a:solidFill>
                  <a:srgbClr val="C9D2F0"/>
                </a:solidFill>
                <a:latin typeface="Montserrat Bold"/>
                <a:ea typeface="Montserrat Bold"/>
                <a:cs typeface="Montserrat Bold"/>
                <a:sym typeface="Montserrat Bold"/>
              </a:rPr>
              <a:t>20 s</a:t>
            </a:r>
          </a:p>
        </p:txBody>
      </p:sp>
      <p:grpSp>
        <p:nvGrpSpPr>
          <p:cNvPr name="Group 39" id="39"/>
          <p:cNvGrpSpPr/>
          <p:nvPr/>
        </p:nvGrpSpPr>
        <p:grpSpPr>
          <a:xfrm rot="0">
            <a:off x="7543800" y="6556248"/>
            <a:ext cx="530352" cy="530352"/>
            <a:chOff x="0" y="0"/>
            <a:chExt cx="707136" cy="707136"/>
          </a:xfrm>
        </p:grpSpPr>
        <p:sp>
          <p:nvSpPr>
            <p:cNvPr name="Freeform 40" id="40" descr="image22.png"/>
            <p:cNvSpPr/>
            <p:nvPr/>
          </p:nvSpPr>
          <p:spPr>
            <a:xfrm flipH="false" flipV="false" rot="0">
              <a:off x="0" y="0"/>
              <a:ext cx="707136" cy="707136"/>
            </a:xfrm>
            <a:custGeom>
              <a:avLst/>
              <a:gdLst/>
              <a:ahLst/>
              <a:cxnLst/>
              <a:rect r="r" b="b" t="t" l="l"/>
              <a:pathLst>
                <a:path h="707136" w="707136">
                  <a:moveTo>
                    <a:pt x="0" y="0"/>
                  </a:moveTo>
                  <a:lnTo>
                    <a:pt x="707136" y="0"/>
                  </a:lnTo>
                  <a:lnTo>
                    <a:pt x="707136" y="707136"/>
                  </a:lnTo>
                  <a:lnTo>
                    <a:pt x="0" y="707136"/>
                  </a:lnTo>
                  <a:lnTo>
                    <a:pt x="0" y="0"/>
                  </a:lnTo>
                  <a:close/>
                </a:path>
              </a:pathLst>
            </a:custGeom>
            <a:blipFill>
              <a:blip r:embed="rId6"/>
              <a:stretch>
                <a:fillRect l="0" t="0" r="0" b="0"/>
              </a:stretch>
            </a:blipFill>
          </p:spPr>
        </p:sp>
      </p:grpSp>
      <p:grpSp>
        <p:nvGrpSpPr>
          <p:cNvPr name="Group 41" id="41"/>
          <p:cNvGrpSpPr/>
          <p:nvPr/>
        </p:nvGrpSpPr>
        <p:grpSpPr>
          <a:xfrm rot="0">
            <a:off x="7543800" y="6556248"/>
            <a:ext cx="530352" cy="530352"/>
            <a:chOff x="0" y="0"/>
            <a:chExt cx="707136" cy="707136"/>
          </a:xfrm>
        </p:grpSpPr>
        <p:sp>
          <p:nvSpPr>
            <p:cNvPr name="Freeform 42" id="42"/>
            <p:cNvSpPr/>
            <p:nvPr/>
          </p:nvSpPr>
          <p:spPr>
            <a:xfrm flipH="false" flipV="false" rot="0">
              <a:off x="0" y="0"/>
              <a:ext cx="707136" cy="707136"/>
            </a:xfrm>
            <a:custGeom>
              <a:avLst/>
              <a:gdLst/>
              <a:ahLst/>
              <a:cxnLst/>
              <a:rect r="r" b="b" t="t" l="l"/>
              <a:pathLst>
                <a:path h="707136" w="707136">
                  <a:moveTo>
                    <a:pt x="0" y="0"/>
                  </a:moveTo>
                  <a:lnTo>
                    <a:pt x="707136" y="0"/>
                  </a:lnTo>
                  <a:lnTo>
                    <a:pt x="707136" y="707136"/>
                  </a:lnTo>
                  <a:lnTo>
                    <a:pt x="0" y="707136"/>
                  </a:lnTo>
                  <a:close/>
                </a:path>
              </a:pathLst>
            </a:custGeom>
            <a:blipFill>
              <a:blip r:embed="rId7">
                <a:alphaModFix amt="0"/>
              </a:blip>
              <a:stretch>
                <a:fillRect l="-78303" t="0" r="-78303" b="0"/>
              </a:stretch>
            </a:blipFill>
          </p:spPr>
        </p:sp>
        <p:sp>
          <p:nvSpPr>
            <p:cNvPr name="TextBox 43" id="43"/>
            <p:cNvSpPr txBox="true"/>
            <p:nvPr/>
          </p:nvSpPr>
          <p:spPr>
            <a:xfrm>
              <a:off x="0" y="-19050"/>
              <a:ext cx="707136" cy="726186"/>
            </a:xfrm>
            <a:prstGeom prst="rect">
              <a:avLst/>
            </a:prstGeom>
          </p:spPr>
          <p:txBody>
            <a:bodyPr anchor="ctr" rtlCol="false" tIns="0" lIns="0" bIns="0" rIns="0"/>
            <a:lstStyle/>
            <a:p>
              <a:pPr algn="ctr">
                <a:lnSpc>
                  <a:spcPts val="1980"/>
                </a:lnSpc>
              </a:pPr>
              <a:r>
                <a:rPr lang="en-US" sz="1500" b="true">
                  <a:solidFill>
                    <a:srgbClr val="FFFFFF"/>
                  </a:solidFill>
                  <a:latin typeface="Montserrat Bold"/>
                  <a:ea typeface="Montserrat Bold"/>
                  <a:cs typeface="Montserrat Bold"/>
                  <a:sym typeface="Montserrat Bold"/>
                </a:rPr>
                <a:t>2</a:t>
              </a:r>
            </a:p>
          </p:txBody>
        </p:sp>
      </p:grpSp>
      <p:sp>
        <p:nvSpPr>
          <p:cNvPr name="TextBox 44" id="44"/>
          <p:cNvSpPr txBox="true"/>
          <p:nvPr/>
        </p:nvSpPr>
        <p:spPr>
          <a:xfrm rot="0">
            <a:off x="8275320" y="6610350"/>
            <a:ext cx="8046720" cy="476250"/>
          </a:xfrm>
          <a:prstGeom prst="rect">
            <a:avLst/>
          </a:prstGeom>
        </p:spPr>
        <p:txBody>
          <a:bodyPr anchor="t" rtlCol="false" tIns="0" lIns="0" bIns="0" rIns="0">
            <a:spAutoFit/>
          </a:bodyPr>
          <a:lstStyle/>
          <a:p>
            <a:pPr algn="l">
              <a:lnSpc>
                <a:spcPts val="1913"/>
              </a:lnSpc>
            </a:pPr>
            <a:r>
              <a:rPr lang="en-US" sz="1449">
                <a:solidFill>
                  <a:srgbClr val="FFFFFF"/>
                </a:solidFill>
                <a:latin typeface="Montserrat"/>
                <a:ea typeface="Montserrat"/>
                <a:cs typeface="Montserrat"/>
                <a:sym typeface="Montserrat"/>
              </a:rPr>
              <a:t>Empresas: aprobar una solicitud; abre la prueba de 30 días</a:t>
            </a:r>
          </a:p>
        </p:txBody>
      </p:sp>
      <p:sp>
        <p:nvSpPr>
          <p:cNvPr name="TextBox 45" id="45"/>
          <p:cNvSpPr txBox="true"/>
          <p:nvPr/>
        </p:nvSpPr>
        <p:spPr>
          <a:xfrm rot="0">
            <a:off x="16367760" y="6610350"/>
            <a:ext cx="1097280" cy="476250"/>
          </a:xfrm>
          <a:prstGeom prst="rect">
            <a:avLst/>
          </a:prstGeom>
        </p:spPr>
        <p:txBody>
          <a:bodyPr anchor="t" rtlCol="false" tIns="0" lIns="0" bIns="0" rIns="0">
            <a:spAutoFit/>
          </a:bodyPr>
          <a:lstStyle/>
          <a:p>
            <a:pPr algn="r">
              <a:lnSpc>
                <a:spcPts val="1848"/>
              </a:lnSpc>
            </a:pPr>
            <a:r>
              <a:rPr lang="en-US" sz="1400" b="true">
                <a:solidFill>
                  <a:srgbClr val="C9D2F0"/>
                </a:solidFill>
                <a:latin typeface="Montserrat Bold"/>
                <a:ea typeface="Montserrat Bold"/>
                <a:cs typeface="Montserrat Bold"/>
                <a:sym typeface="Montserrat Bold"/>
              </a:rPr>
              <a:t>30 s</a:t>
            </a:r>
          </a:p>
        </p:txBody>
      </p:sp>
      <p:grpSp>
        <p:nvGrpSpPr>
          <p:cNvPr name="Group 46" id="46"/>
          <p:cNvGrpSpPr/>
          <p:nvPr/>
        </p:nvGrpSpPr>
        <p:grpSpPr>
          <a:xfrm rot="0">
            <a:off x="7543800" y="7214616"/>
            <a:ext cx="530352" cy="530352"/>
            <a:chOff x="0" y="0"/>
            <a:chExt cx="707136" cy="707136"/>
          </a:xfrm>
        </p:grpSpPr>
        <p:sp>
          <p:nvSpPr>
            <p:cNvPr name="Freeform 47" id="47" descr="image22.png"/>
            <p:cNvSpPr/>
            <p:nvPr/>
          </p:nvSpPr>
          <p:spPr>
            <a:xfrm flipH="false" flipV="false" rot="0">
              <a:off x="0" y="0"/>
              <a:ext cx="707136" cy="707136"/>
            </a:xfrm>
            <a:custGeom>
              <a:avLst/>
              <a:gdLst/>
              <a:ahLst/>
              <a:cxnLst/>
              <a:rect r="r" b="b" t="t" l="l"/>
              <a:pathLst>
                <a:path h="707136" w="707136">
                  <a:moveTo>
                    <a:pt x="0" y="0"/>
                  </a:moveTo>
                  <a:lnTo>
                    <a:pt x="707136" y="0"/>
                  </a:lnTo>
                  <a:lnTo>
                    <a:pt x="707136" y="707136"/>
                  </a:lnTo>
                  <a:lnTo>
                    <a:pt x="0" y="707136"/>
                  </a:lnTo>
                  <a:lnTo>
                    <a:pt x="0" y="0"/>
                  </a:lnTo>
                  <a:close/>
                </a:path>
              </a:pathLst>
            </a:custGeom>
            <a:blipFill>
              <a:blip r:embed="rId6"/>
              <a:stretch>
                <a:fillRect l="0" t="0" r="0" b="0"/>
              </a:stretch>
            </a:blipFill>
          </p:spPr>
        </p:sp>
      </p:grpSp>
      <p:grpSp>
        <p:nvGrpSpPr>
          <p:cNvPr name="Group 48" id="48"/>
          <p:cNvGrpSpPr/>
          <p:nvPr/>
        </p:nvGrpSpPr>
        <p:grpSpPr>
          <a:xfrm rot="0">
            <a:off x="7543800" y="7214616"/>
            <a:ext cx="530352" cy="530352"/>
            <a:chOff x="0" y="0"/>
            <a:chExt cx="707136" cy="707136"/>
          </a:xfrm>
        </p:grpSpPr>
        <p:sp>
          <p:nvSpPr>
            <p:cNvPr name="Freeform 49" id="49"/>
            <p:cNvSpPr/>
            <p:nvPr/>
          </p:nvSpPr>
          <p:spPr>
            <a:xfrm flipH="false" flipV="false" rot="0">
              <a:off x="0" y="0"/>
              <a:ext cx="707136" cy="707136"/>
            </a:xfrm>
            <a:custGeom>
              <a:avLst/>
              <a:gdLst/>
              <a:ahLst/>
              <a:cxnLst/>
              <a:rect r="r" b="b" t="t" l="l"/>
              <a:pathLst>
                <a:path h="707136" w="707136">
                  <a:moveTo>
                    <a:pt x="0" y="0"/>
                  </a:moveTo>
                  <a:lnTo>
                    <a:pt x="707136" y="0"/>
                  </a:lnTo>
                  <a:lnTo>
                    <a:pt x="707136" y="707136"/>
                  </a:lnTo>
                  <a:lnTo>
                    <a:pt x="0" y="707136"/>
                  </a:lnTo>
                  <a:close/>
                </a:path>
              </a:pathLst>
            </a:custGeom>
            <a:blipFill>
              <a:blip r:embed="rId7">
                <a:alphaModFix amt="0"/>
              </a:blip>
              <a:stretch>
                <a:fillRect l="-78303" t="0" r="-78303" b="0"/>
              </a:stretch>
            </a:blipFill>
          </p:spPr>
        </p:sp>
        <p:sp>
          <p:nvSpPr>
            <p:cNvPr name="TextBox 50" id="50"/>
            <p:cNvSpPr txBox="true"/>
            <p:nvPr/>
          </p:nvSpPr>
          <p:spPr>
            <a:xfrm>
              <a:off x="0" y="-19050"/>
              <a:ext cx="707136" cy="726186"/>
            </a:xfrm>
            <a:prstGeom prst="rect">
              <a:avLst/>
            </a:prstGeom>
          </p:spPr>
          <p:txBody>
            <a:bodyPr anchor="ctr" rtlCol="false" tIns="0" lIns="0" bIns="0" rIns="0"/>
            <a:lstStyle/>
            <a:p>
              <a:pPr algn="ctr">
                <a:lnSpc>
                  <a:spcPts val="1980"/>
                </a:lnSpc>
              </a:pPr>
              <a:r>
                <a:rPr lang="en-US" sz="1500" b="true">
                  <a:solidFill>
                    <a:srgbClr val="FFFFFF"/>
                  </a:solidFill>
                  <a:latin typeface="Montserrat Bold"/>
                  <a:ea typeface="Montserrat Bold"/>
                  <a:cs typeface="Montserrat Bold"/>
                  <a:sym typeface="Montserrat Bold"/>
                </a:rPr>
                <a:t>3</a:t>
              </a:r>
            </a:p>
          </p:txBody>
        </p:sp>
      </p:grpSp>
      <p:sp>
        <p:nvSpPr>
          <p:cNvPr name="TextBox 51" id="51"/>
          <p:cNvSpPr txBox="true"/>
          <p:nvPr/>
        </p:nvSpPr>
        <p:spPr>
          <a:xfrm rot="0">
            <a:off x="8275320" y="7268718"/>
            <a:ext cx="8046720" cy="476250"/>
          </a:xfrm>
          <a:prstGeom prst="rect">
            <a:avLst/>
          </a:prstGeom>
        </p:spPr>
        <p:txBody>
          <a:bodyPr anchor="t" rtlCol="false" tIns="0" lIns="0" bIns="0" rIns="0">
            <a:spAutoFit/>
          </a:bodyPr>
          <a:lstStyle/>
          <a:p>
            <a:pPr algn="l">
              <a:lnSpc>
                <a:spcPts val="1913"/>
              </a:lnSpc>
            </a:pPr>
            <a:r>
              <a:rPr lang="en-US" sz="1449">
                <a:solidFill>
                  <a:srgbClr val="FFFFFF"/>
                </a:solidFill>
                <a:latin typeface="Montserrat"/>
                <a:ea typeface="Montserrat"/>
                <a:cs typeface="Montserrat"/>
                <a:sym typeface="Montserrat"/>
              </a:rPr>
              <a:t>Suscripciones y pagos: estados, deuda y solo lectura</a:t>
            </a:r>
          </a:p>
        </p:txBody>
      </p:sp>
      <p:sp>
        <p:nvSpPr>
          <p:cNvPr name="TextBox 52" id="52"/>
          <p:cNvSpPr txBox="true"/>
          <p:nvPr/>
        </p:nvSpPr>
        <p:spPr>
          <a:xfrm rot="0">
            <a:off x="16367760" y="7268718"/>
            <a:ext cx="1097280" cy="476250"/>
          </a:xfrm>
          <a:prstGeom prst="rect">
            <a:avLst/>
          </a:prstGeom>
        </p:spPr>
        <p:txBody>
          <a:bodyPr anchor="t" rtlCol="false" tIns="0" lIns="0" bIns="0" rIns="0">
            <a:spAutoFit/>
          </a:bodyPr>
          <a:lstStyle/>
          <a:p>
            <a:pPr algn="r">
              <a:lnSpc>
                <a:spcPts val="1848"/>
              </a:lnSpc>
            </a:pPr>
            <a:r>
              <a:rPr lang="en-US" sz="1400" b="true">
                <a:solidFill>
                  <a:srgbClr val="C9D2F0"/>
                </a:solidFill>
                <a:latin typeface="Montserrat Bold"/>
                <a:ea typeface="Montserrat Bold"/>
                <a:cs typeface="Montserrat Bold"/>
                <a:sym typeface="Montserrat Bold"/>
              </a:rPr>
              <a:t>20 s</a:t>
            </a:r>
          </a:p>
        </p:txBody>
      </p:sp>
      <p:grpSp>
        <p:nvGrpSpPr>
          <p:cNvPr name="Group 53" id="53"/>
          <p:cNvGrpSpPr/>
          <p:nvPr/>
        </p:nvGrpSpPr>
        <p:grpSpPr>
          <a:xfrm rot="0">
            <a:off x="7543800" y="7872984"/>
            <a:ext cx="530352" cy="530352"/>
            <a:chOff x="0" y="0"/>
            <a:chExt cx="707136" cy="707136"/>
          </a:xfrm>
        </p:grpSpPr>
        <p:sp>
          <p:nvSpPr>
            <p:cNvPr name="Freeform 54" id="54" descr="image22.png"/>
            <p:cNvSpPr/>
            <p:nvPr/>
          </p:nvSpPr>
          <p:spPr>
            <a:xfrm flipH="false" flipV="false" rot="0">
              <a:off x="0" y="0"/>
              <a:ext cx="707136" cy="707136"/>
            </a:xfrm>
            <a:custGeom>
              <a:avLst/>
              <a:gdLst/>
              <a:ahLst/>
              <a:cxnLst/>
              <a:rect r="r" b="b" t="t" l="l"/>
              <a:pathLst>
                <a:path h="707136" w="707136">
                  <a:moveTo>
                    <a:pt x="0" y="0"/>
                  </a:moveTo>
                  <a:lnTo>
                    <a:pt x="707136" y="0"/>
                  </a:lnTo>
                  <a:lnTo>
                    <a:pt x="707136" y="707136"/>
                  </a:lnTo>
                  <a:lnTo>
                    <a:pt x="0" y="707136"/>
                  </a:lnTo>
                  <a:lnTo>
                    <a:pt x="0" y="0"/>
                  </a:lnTo>
                  <a:close/>
                </a:path>
              </a:pathLst>
            </a:custGeom>
            <a:blipFill>
              <a:blip r:embed="rId6"/>
              <a:stretch>
                <a:fillRect l="0" t="0" r="0" b="0"/>
              </a:stretch>
            </a:blipFill>
          </p:spPr>
        </p:sp>
      </p:grpSp>
      <p:grpSp>
        <p:nvGrpSpPr>
          <p:cNvPr name="Group 55" id="55"/>
          <p:cNvGrpSpPr/>
          <p:nvPr/>
        </p:nvGrpSpPr>
        <p:grpSpPr>
          <a:xfrm rot="0">
            <a:off x="7543800" y="7872984"/>
            <a:ext cx="530352" cy="530352"/>
            <a:chOff x="0" y="0"/>
            <a:chExt cx="707136" cy="707136"/>
          </a:xfrm>
        </p:grpSpPr>
        <p:sp>
          <p:nvSpPr>
            <p:cNvPr name="Freeform 56" id="56"/>
            <p:cNvSpPr/>
            <p:nvPr/>
          </p:nvSpPr>
          <p:spPr>
            <a:xfrm flipH="false" flipV="false" rot="0">
              <a:off x="0" y="0"/>
              <a:ext cx="707136" cy="707136"/>
            </a:xfrm>
            <a:custGeom>
              <a:avLst/>
              <a:gdLst/>
              <a:ahLst/>
              <a:cxnLst/>
              <a:rect r="r" b="b" t="t" l="l"/>
              <a:pathLst>
                <a:path h="707136" w="707136">
                  <a:moveTo>
                    <a:pt x="0" y="0"/>
                  </a:moveTo>
                  <a:lnTo>
                    <a:pt x="707136" y="0"/>
                  </a:lnTo>
                  <a:lnTo>
                    <a:pt x="707136" y="707136"/>
                  </a:lnTo>
                  <a:lnTo>
                    <a:pt x="0" y="707136"/>
                  </a:lnTo>
                  <a:close/>
                </a:path>
              </a:pathLst>
            </a:custGeom>
            <a:blipFill>
              <a:blip r:embed="rId7">
                <a:alphaModFix amt="0"/>
              </a:blip>
              <a:stretch>
                <a:fillRect l="-78303" t="0" r="-78303" b="0"/>
              </a:stretch>
            </a:blipFill>
          </p:spPr>
        </p:sp>
        <p:sp>
          <p:nvSpPr>
            <p:cNvPr name="TextBox 57" id="57"/>
            <p:cNvSpPr txBox="true"/>
            <p:nvPr/>
          </p:nvSpPr>
          <p:spPr>
            <a:xfrm>
              <a:off x="0" y="-19050"/>
              <a:ext cx="707136" cy="726186"/>
            </a:xfrm>
            <a:prstGeom prst="rect">
              <a:avLst/>
            </a:prstGeom>
          </p:spPr>
          <p:txBody>
            <a:bodyPr anchor="ctr" rtlCol="false" tIns="0" lIns="0" bIns="0" rIns="0"/>
            <a:lstStyle/>
            <a:p>
              <a:pPr algn="ctr">
                <a:lnSpc>
                  <a:spcPts val="1980"/>
                </a:lnSpc>
              </a:pPr>
              <a:r>
                <a:rPr lang="en-US" sz="1500" b="true">
                  <a:solidFill>
                    <a:srgbClr val="FFFFFF"/>
                  </a:solidFill>
                  <a:latin typeface="Montserrat Bold"/>
                  <a:ea typeface="Montserrat Bold"/>
                  <a:cs typeface="Montserrat Bold"/>
                  <a:sym typeface="Montserrat Bold"/>
                </a:rPr>
                <a:t>4</a:t>
              </a:r>
            </a:p>
          </p:txBody>
        </p:sp>
      </p:grpSp>
      <p:sp>
        <p:nvSpPr>
          <p:cNvPr name="TextBox 58" id="58"/>
          <p:cNvSpPr txBox="true"/>
          <p:nvPr/>
        </p:nvSpPr>
        <p:spPr>
          <a:xfrm rot="0">
            <a:off x="8275320" y="7927086"/>
            <a:ext cx="8046720" cy="476250"/>
          </a:xfrm>
          <a:prstGeom prst="rect">
            <a:avLst/>
          </a:prstGeom>
        </p:spPr>
        <p:txBody>
          <a:bodyPr anchor="t" rtlCol="false" tIns="0" lIns="0" bIns="0" rIns="0">
            <a:spAutoFit/>
          </a:bodyPr>
          <a:lstStyle/>
          <a:p>
            <a:pPr algn="l">
              <a:lnSpc>
                <a:spcPts val="1913"/>
              </a:lnSpc>
            </a:pPr>
            <a:r>
              <a:rPr lang="en-US" sz="1449">
                <a:solidFill>
                  <a:srgbClr val="FFFFFF"/>
                </a:solidFill>
                <a:latin typeface="Montserrat"/>
                <a:ea typeface="Montserrat"/>
                <a:cs typeface="Montserrat"/>
                <a:sym typeface="Montserrat"/>
              </a:rPr>
              <a:t>Portal: aviso de solo lectura, pagar y reactivar la cuenta</a:t>
            </a:r>
          </a:p>
        </p:txBody>
      </p:sp>
      <p:sp>
        <p:nvSpPr>
          <p:cNvPr name="TextBox 59" id="59"/>
          <p:cNvSpPr txBox="true"/>
          <p:nvPr/>
        </p:nvSpPr>
        <p:spPr>
          <a:xfrm rot="0">
            <a:off x="16367760" y="7927086"/>
            <a:ext cx="1097280" cy="476250"/>
          </a:xfrm>
          <a:prstGeom prst="rect">
            <a:avLst/>
          </a:prstGeom>
        </p:spPr>
        <p:txBody>
          <a:bodyPr anchor="t" rtlCol="false" tIns="0" lIns="0" bIns="0" rIns="0">
            <a:spAutoFit/>
          </a:bodyPr>
          <a:lstStyle/>
          <a:p>
            <a:pPr algn="r">
              <a:lnSpc>
                <a:spcPts val="1848"/>
              </a:lnSpc>
            </a:pPr>
            <a:r>
              <a:rPr lang="en-US" sz="1400" b="true">
                <a:solidFill>
                  <a:srgbClr val="C9D2F0"/>
                </a:solidFill>
                <a:latin typeface="Montserrat Bold"/>
                <a:ea typeface="Montserrat Bold"/>
                <a:cs typeface="Montserrat Bold"/>
                <a:sym typeface="Montserrat Bold"/>
              </a:rPr>
              <a:t>35 s</a:t>
            </a:r>
          </a:p>
        </p:txBody>
      </p:sp>
      <p:grpSp>
        <p:nvGrpSpPr>
          <p:cNvPr name="Group 60" id="60"/>
          <p:cNvGrpSpPr/>
          <p:nvPr/>
        </p:nvGrpSpPr>
        <p:grpSpPr>
          <a:xfrm rot="0">
            <a:off x="7543800" y="8531352"/>
            <a:ext cx="530352" cy="530352"/>
            <a:chOff x="0" y="0"/>
            <a:chExt cx="707136" cy="707136"/>
          </a:xfrm>
        </p:grpSpPr>
        <p:sp>
          <p:nvSpPr>
            <p:cNvPr name="Freeform 61" id="61" descr="image22.png"/>
            <p:cNvSpPr/>
            <p:nvPr/>
          </p:nvSpPr>
          <p:spPr>
            <a:xfrm flipH="false" flipV="false" rot="0">
              <a:off x="0" y="0"/>
              <a:ext cx="707136" cy="707136"/>
            </a:xfrm>
            <a:custGeom>
              <a:avLst/>
              <a:gdLst/>
              <a:ahLst/>
              <a:cxnLst/>
              <a:rect r="r" b="b" t="t" l="l"/>
              <a:pathLst>
                <a:path h="707136" w="707136">
                  <a:moveTo>
                    <a:pt x="0" y="0"/>
                  </a:moveTo>
                  <a:lnTo>
                    <a:pt x="707136" y="0"/>
                  </a:lnTo>
                  <a:lnTo>
                    <a:pt x="707136" y="707136"/>
                  </a:lnTo>
                  <a:lnTo>
                    <a:pt x="0" y="707136"/>
                  </a:lnTo>
                  <a:lnTo>
                    <a:pt x="0" y="0"/>
                  </a:lnTo>
                  <a:close/>
                </a:path>
              </a:pathLst>
            </a:custGeom>
            <a:blipFill>
              <a:blip r:embed="rId6"/>
              <a:stretch>
                <a:fillRect l="0" t="0" r="0" b="0"/>
              </a:stretch>
            </a:blipFill>
          </p:spPr>
        </p:sp>
      </p:grpSp>
      <p:grpSp>
        <p:nvGrpSpPr>
          <p:cNvPr name="Group 62" id="62"/>
          <p:cNvGrpSpPr/>
          <p:nvPr/>
        </p:nvGrpSpPr>
        <p:grpSpPr>
          <a:xfrm rot="0">
            <a:off x="7543800" y="8531352"/>
            <a:ext cx="530352" cy="530352"/>
            <a:chOff x="0" y="0"/>
            <a:chExt cx="707136" cy="707136"/>
          </a:xfrm>
        </p:grpSpPr>
        <p:sp>
          <p:nvSpPr>
            <p:cNvPr name="Freeform 63" id="63"/>
            <p:cNvSpPr/>
            <p:nvPr/>
          </p:nvSpPr>
          <p:spPr>
            <a:xfrm flipH="false" flipV="false" rot="0">
              <a:off x="0" y="0"/>
              <a:ext cx="707136" cy="707136"/>
            </a:xfrm>
            <a:custGeom>
              <a:avLst/>
              <a:gdLst/>
              <a:ahLst/>
              <a:cxnLst/>
              <a:rect r="r" b="b" t="t" l="l"/>
              <a:pathLst>
                <a:path h="707136" w="707136">
                  <a:moveTo>
                    <a:pt x="0" y="0"/>
                  </a:moveTo>
                  <a:lnTo>
                    <a:pt x="707136" y="0"/>
                  </a:lnTo>
                  <a:lnTo>
                    <a:pt x="707136" y="707136"/>
                  </a:lnTo>
                  <a:lnTo>
                    <a:pt x="0" y="707136"/>
                  </a:lnTo>
                  <a:close/>
                </a:path>
              </a:pathLst>
            </a:custGeom>
            <a:blipFill>
              <a:blip r:embed="rId7">
                <a:alphaModFix amt="0"/>
              </a:blip>
              <a:stretch>
                <a:fillRect l="-78303" t="0" r="-78303" b="0"/>
              </a:stretch>
            </a:blipFill>
          </p:spPr>
        </p:sp>
        <p:sp>
          <p:nvSpPr>
            <p:cNvPr name="TextBox 64" id="64"/>
            <p:cNvSpPr txBox="true"/>
            <p:nvPr/>
          </p:nvSpPr>
          <p:spPr>
            <a:xfrm>
              <a:off x="0" y="-19050"/>
              <a:ext cx="707136" cy="726186"/>
            </a:xfrm>
            <a:prstGeom prst="rect">
              <a:avLst/>
            </a:prstGeom>
          </p:spPr>
          <p:txBody>
            <a:bodyPr anchor="ctr" rtlCol="false" tIns="0" lIns="0" bIns="0" rIns="0"/>
            <a:lstStyle/>
            <a:p>
              <a:pPr algn="ctr">
                <a:lnSpc>
                  <a:spcPts val="1980"/>
                </a:lnSpc>
              </a:pPr>
              <a:r>
                <a:rPr lang="en-US" sz="1500" b="true">
                  <a:solidFill>
                    <a:srgbClr val="FFFFFF"/>
                  </a:solidFill>
                  <a:latin typeface="Montserrat Bold"/>
                  <a:ea typeface="Montserrat Bold"/>
                  <a:cs typeface="Montserrat Bold"/>
                  <a:sym typeface="Montserrat Bold"/>
                </a:rPr>
                <a:t>5</a:t>
              </a:r>
            </a:p>
          </p:txBody>
        </p:sp>
      </p:grpSp>
      <p:sp>
        <p:nvSpPr>
          <p:cNvPr name="TextBox 65" id="65"/>
          <p:cNvSpPr txBox="true"/>
          <p:nvPr/>
        </p:nvSpPr>
        <p:spPr>
          <a:xfrm rot="0">
            <a:off x="8275320" y="8585454"/>
            <a:ext cx="8046720" cy="476250"/>
          </a:xfrm>
          <a:prstGeom prst="rect">
            <a:avLst/>
          </a:prstGeom>
        </p:spPr>
        <p:txBody>
          <a:bodyPr anchor="t" rtlCol="false" tIns="0" lIns="0" bIns="0" rIns="0">
            <a:spAutoFit/>
          </a:bodyPr>
          <a:lstStyle/>
          <a:p>
            <a:pPr algn="l">
              <a:lnSpc>
                <a:spcPts val="1913"/>
              </a:lnSpc>
            </a:pPr>
            <a:r>
              <a:rPr lang="en-US" sz="1449">
                <a:solidFill>
                  <a:srgbClr val="FFFFFF"/>
                </a:solidFill>
                <a:latin typeface="Montserrat"/>
                <a:ea typeface="Montserrat"/>
                <a:cs typeface="Montserrat"/>
                <a:sym typeface="Montserrat"/>
              </a:rPr>
              <a:t>Auditoría: el ingreso y el pago quedan registrados</a:t>
            </a:r>
          </a:p>
        </p:txBody>
      </p:sp>
      <p:sp>
        <p:nvSpPr>
          <p:cNvPr name="TextBox 66" id="66"/>
          <p:cNvSpPr txBox="true"/>
          <p:nvPr/>
        </p:nvSpPr>
        <p:spPr>
          <a:xfrm rot="0">
            <a:off x="16367760" y="8585454"/>
            <a:ext cx="1097280" cy="476250"/>
          </a:xfrm>
          <a:prstGeom prst="rect">
            <a:avLst/>
          </a:prstGeom>
        </p:spPr>
        <p:txBody>
          <a:bodyPr anchor="t" rtlCol="false" tIns="0" lIns="0" bIns="0" rIns="0">
            <a:spAutoFit/>
          </a:bodyPr>
          <a:lstStyle/>
          <a:p>
            <a:pPr algn="r">
              <a:lnSpc>
                <a:spcPts val="1848"/>
              </a:lnSpc>
            </a:pPr>
            <a:r>
              <a:rPr lang="en-US" sz="1400" b="true">
                <a:solidFill>
                  <a:srgbClr val="C9D2F0"/>
                </a:solidFill>
                <a:latin typeface="Montserrat Bold"/>
                <a:ea typeface="Montserrat Bold"/>
                <a:cs typeface="Montserrat Bold"/>
                <a:sym typeface="Montserrat Bold"/>
              </a:rPr>
              <a:t>15 s</a:t>
            </a:r>
          </a:p>
        </p:txBody>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24384000" cy="13716000"/>
          </a:xfrm>
        </p:grpSpPr>
        <p:sp>
          <p:nvSpPr>
            <p:cNvPr name="Freeform 3" id="3" descr="fondo46_60.jpg"/>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lnTo>
                    <a:pt x="0" y="0"/>
                  </a:lnTo>
                  <a:close/>
                </a:path>
              </a:pathLst>
            </a:custGeom>
            <a:blipFill>
              <a:blip r:embed="rId2"/>
              <a:stretch>
                <a:fillRect l="0" t="-666" r="0" b="-666"/>
              </a:stretch>
            </a:blipFill>
          </p:spPr>
        </p:sp>
      </p:grpSp>
      <p:sp>
        <p:nvSpPr>
          <p:cNvPr name="TextBox 4" id="4"/>
          <p:cNvSpPr txBox="true"/>
          <p:nvPr/>
        </p:nvSpPr>
        <p:spPr>
          <a:xfrm rot="0">
            <a:off x="914400" y="355473"/>
            <a:ext cx="16459200" cy="760095"/>
          </a:xfrm>
          <a:prstGeom prst="rect">
            <a:avLst/>
          </a:prstGeom>
        </p:spPr>
        <p:txBody>
          <a:bodyPr anchor="t" rtlCol="false" tIns="0" lIns="0" bIns="0" rIns="0">
            <a:spAutoFit/>
          </a:bodyPr>
          <a:lstStyle/>
          <a:p>
            <a:pPr algn="ctr">
              <a:lnSpc>
                <a:spcPts val="3960"/>
              </a:lnSpc>
            </a:pPr>
            <a:r>
              <a:rPr lang="en-US" sz="3000">
                <a:solidFill>
                  <a:srgbClr val="FFFFFF"/>
                </a:solidFill>
                <a:latin typeface="Montserrat Light"/>
                <a:ea typeface="Montserrat Light"/>
                <a:cs typeface="Montserrat Light"/>
                <a:sym typeface="Montserrat Light"/>
              </a:rPr>
              <a:t>DOCUMENTACIÓN</a:t>
            </a:r>
          </a:p>
        </p:txBody>
      </p:sp>
      <p:sp>
        <p:nvSpPr>
          <p:cNvPr name="TextBox 5" id="5"/>
          <p:cNvSpPr txBox="true"/>
          <p:nvPr/>
        </p:nvSpPr>
        <p:spPr>
          <a:xfrm rot="0">
            <a:off x="914400" y="912495"/>
            <a:ext cx="16459200" cy="1144905"/>
          </a:xfrm>
          <a:prstGeom prst="rect">
            <a:avLst/>
          </a:prstGeom>
        </p:spPr>
        <p:txBody>
          <a:bodyPr anchor="t" rtlCol="false" tIns="0" lIns="0" bIns="0" rIns="0">
            <a:spAutoFit/>
          </a:bodyPr>
          <a:lstStyle/>
          <a:p>
            <a:pPr algn="ctr">
              <a:lnSpc>
                <a:spcPts val="6863"/>
              </a:lnSpc>
            </a:pPr>
            <a:r>
              <a:rPr lang="en-US" sz="5199" b="true">
                <a:solidFill>
                  <a:srgbClr val="FFFFFF"/>
                </a:solidFill>
                <a:latin typeface="Montserrat Bold"/>
                <a:ea typeface="Montserrat Bold"/>
                <a:cs typeface="Montserrat Bold"/>
                <a:sym typeface="Montserrat Bold"/>
              </a:rPr>
              <a:t>PRODUCIDA</a:t>
            </a:r>
          </a:p>
        </p:txBody>
      </p:sp>
      <p:grpSp>
        <p:nvGrpSpPr>
          <p:cNvPr name="Group 6" id="6"/>
          <p:cNvGrpSpPr/>
          <p:nvPr/>
        </p:nvGrpSpPr>
        <p:grpSpPr>
          <a:xfrm rot="0">
            <a:off x="822960" y="2606040"/>
            <a:ext cx="960120" cy="960120"/>
            <a:chOff x="0" y="0"/>
            <a:chExt cx="1280160" cy="1280160"/>
          </a:xfrm>
        </p:grpSpPr>
        <p:sp>
          <p:nvSpPr>
            <p:cNvPr name="Freeform 7" id="7" descr="image48.png"/>
            <p:cNvSpPr/>
            <p:nvPr/>
          </p:nvSpPr>
          <p:spPr>
            <a:xfrm flipH="false" flipV="false" rot="0">
              <a:off x="0" y="0"/>
              <a:ext cx="1280160" cy="1280160"/>
            </a:xfrm>
            <a:custGeom>
              <a:avLst/>
              <a:gdLst/>
              <a:ahLst/>
              <a:cxnLst/>
              <a:rect r="r" b="b" t="t" l="l"/>
              <a:pathLst>
                <a:path h="1280160" w="1280160">
                  <a:moveTo>
                    <a:pt x="0" y="0"/>
                  </a:moveTo>
                  <a:lnTo>
                    <a:pt x="1280160" y="0"/>
                  </a:lnTo>
                  <a:lnTo>
                    <a:pt x="1280160" y="1280160"/>
                  </a:lnTo>
                  <a:lnTo>
                    <a:pt x="0" y="1280160"/>
                  </a:lnTo>
                  <a:lnTo>
                    <a:pt x="0" y="0"/>
                  </a:lnTo>
                  <a:close/>
                </a:path>
              </a:pathLst>
            </a:custGeom>
            <a:blipFill>
              <a:blip r:embed="rId3"/>
              <a:stretch>
                <a:fillRect l="0" t="0" r="0" b="0"/>
              </a:stretch>
            </a:blipFill>
          </p:spPr>
        </p:sp>
      </p:grpSp>
      <p:sp>
        <p:nvSpPr>
          <p:cNvPr name="TextBox 8" id="8"/>
          <p:cNvSpPr txBox="true"/>
          <p:nvPr/>
        </p:nvSpPr>
        <p:spPr>
          <a:xfrm rot="0">
            <a:off x="2057400" y="2476500"/>
            <a:ext cx="6949440" cy="2049780"/>
          </a:xfrm>
          <a:prstGeom prst="rect">
            <a:avLst/>
          </a:prstGeom>
        </p:spPr>
        <p:txBody>
          <a:bodyPr anchor="t" rtlCol="false" tIns="0" lIns="0" bIns="0" rIns="0">
            <a:spAutoFit/>
          </a:bodyPr>
          <a:lstStyle/>
          <a:p>
            <a:pPr algn="l">
              <a:lnSpc>
                <a:spcPts val="2548"/>
              </a:lnSpc>
            </a:pPr>
            <a:r>
              <a:rPr lang="en-US" sz="1800" b="true">
                <a:solidFill>
                  <a:srgbClr val="FFFFFF"/>
                </a:solidFill>
                <a:latin typeface="Montserrat Bold"/>
                <a:ea typeface="Montserrat Bold"/>
                <a:cs typeface="Montserrat Bold"/>
                <a:sym typeface="Montserrat Bold"/>
              </a:rPr>
              <a:t>Product Vision / SRS</a:t>
            </a:r>
          </a:p>
          <a:p>
            <a:pPr algn="l">
              <a:lnSpc>
                <a:spcPts val="2265"/>
              </a:lnSpc>
            </a:pPr>
            <a:r>
              <a:rPr lang="en-US" sz="1599">
                <a:solidFill>
                  <a:srgbClr val="FFFFFF"/>
                </a:solidFill>
                <a:latin typeface="Montserrat"/>
                <a:ea typeface="Montserrat"/>
                <a:cs typeface="Montserrat"/>
                <a:sym typeface="Montserrat"/>
              </a:rPr>
              <a:t>Informe de Fase 1 corregido (objetivos y alcance) y el documento de requerimientos de Gonzalo Vera.</a:t>
            </a:r>
          </a:p>
        </p:txBody>
      </p:sp>
      <p:grpSp>
        <p:nvGrpSpPr>
          <p:cNvPr name="Group 9" id="9"/>
          <p:cNvGrpSpPr/>
          <p:nvPr/>
        </p:nvGrpSpPr>
        <p:grpSpPr>
          <a:xfrm rot="0">
            <a:off x="9418320" y="2606040"/>
            <a:ext cx="960120" cy="960120"/>
            <a:chOff x="0" y="0"/>
            <a:chExt cx="1280160" cy="1280160"/>
          </a:xfrm>
        </p:grpSpPr>
        <p:sp>
          <p:nvSpPr>
            <p:cNvPr name="Freeform 10" id="10" descr="image48.png"/>
            <p:cNvSpPr/>
            <p:nvPr/>
          </p:nvSpPr>
          <p:spPr>
            <a:xfrm flipH="false" flipV="false" rot="0">
              <a:off x="0" y="0"/>
              <a:ext cx="1280160" cy="1280160"/>
            </a:xfrm>
            <a:custGeom>
              <a:avLst/>
              <a:gdLst/>
              <a:ahLst/>
              <a:cxnLst/>
              <a:rect r="r" b="b" t="t" l="l"/>
              <a:pathLst>
                <a:path h="1280160" w="1280160">
                  <a:moveTo>
                    <a:pt x="0" y="0"/>
                  </a:moveTo>
                  <a:lnTo>
                    <a:pt x="1280160" y="0"/>
                  </a:lnTo>
                  <a:lnTo>
                    <a:pt x="1280160" y="1280160"/>
                  </a:lnTo>
                  <a:lnTo>
                    <a:pt x="0" y="1280160"/>
                  </a:lnTo>
                  <a:lnTo>
                    <a:pt x="0" y="0"/>
                  </a:lnTo>
                  <a:close/>
                </a:path>
              </a:pathLst>
            </a:custGeom>
            <a:blipFill>
              <a:blip r:embed="rId3"/>
              <a:stretch>
                <a:fillRect l="0" t="0" r="0" b="0"/>
              </a:stretch>
            </a:blipFill>
          </p:spPr>
        </p:sp>
      </p:grpSp>
      <p:sp>
        <p:nvSpPr>
          <p:cNvPr name="TextBox 11" id="11"/>
          <p:cNvSpPr txBox="true"/>
          <p:nvPr/>
        </p:nvSpPr>
        <p:spPr>
          <a:xfrm rot="0">
            <a:off x="10652760" y="2476500"/>
            <a:ext cx="6949440" cy="2049780"/>
          </a:xfrm>
          <a:prstGeom prst="rect">
            <a:avLst/>
          </a:prstGeom>
        </p:spPr>
        <p:txBody>
          <a:bodyPr anchor="t" rtlCol="false" tIns="0" lIns="0" bIns="0" rIns="0">
            <a:spAutoFit/>
          </a:bodyPr>
          <a:lstStyle/>
          <a:p>
            <a:pPr algn="l">
              <a:lnSpc>
                <a:spcPts val="2548"/>
              </a:lnSpc>
            </a:pPr>
            <a:r>
              <a:rPr lang="en-US" sz="1800" b="true">
                <a:solidFill>
                  <a:srgbClr val="FFFFFF"/>
                </a:solidFill>
                <a:latin typeface="Montserrat Bold"/>
                <a:ea typeface="Montserrat Bold"/>
                <a:cs typeface="Montserrat Bold"/>
                <a:sym typeface="Montserrat Bold"/>
              </a:rPr>
              <a:t>Backlog</a:t>
            </a:r>
          </a:p>
          <a:p>
            <a:pPr algn="l">
              <a:lnSpc>
                <a:spcPts val="2265"/>
              </a:lnSpc>
            </a:pPr>
            <a:r>
              <a:rPr lang="en-US" sz="1599">
                <a:solidFill>
                  <a:srgbClr val="FFFFFF"/>
                </a:solidFill>
                <a:latin typeface="Montserrat"/>
                <a:ea typeface="Montserrat"/>
                <a:cs typeface="Montserrat"/>
                <a:sym typeface="Montserrat"/>
              </a:rPr>
              <a:t>Los 15 requerimientos de la diapositiva anterior y el análisis de brechas del informe de avances. No hay un backlog formal en una herramienta.</a:t>
            </a:r>
          </a:p>
        </p:txBody>
      </p:sp>
      <p:grpSp>
        <p:nvGrpSpPr>
          <p:cNvPr name="Group 12" id="12"/>
          <p:cNvGrpSpPr/>
          <p:nvPr/>
        </p:nvGrpSpPr>
        <p:grpSpPr>
          <a:xfrm rot="0">
            <a:off x="822960" y="4846320"/>
            <a:ext cx="960120" cy="960120"/>
            <a:chOff x="0" y="0"/>
            <a:chExt cx="1280160" cy="1280160"/>
          </a:xfrm>
        </p:grpSpPr>
        <p:sp>
          <p:nvSpPr>
            <p:cNvPr name="Freeform 13" id="13" descr="image48.png"/>
            <p:cNvSpPr/>
            <p:nvPr/>
          </p:nvSpPr>
          <p:spPr>
            <a:xfrm flipH="false" flipV="false" rot="0">
              <a:off x="0" y="0"/>
              <a:ext cx="1280160" cy="1280160"/>
            </a:xfrm>
            <a:custGeom>
              <a:avLst/>
              <a:gdLst/>
              <a:ahLst/>
              <a:cxnLst/>
              <a:rect r="r" b="b" t="t" l="l"/>
              <a:pathLst>
                <a:path h="1280160" w="1280160">
                  <a:moveTo>
                    <a:pt x="0" y="0"/>
                  </a:moveTo>
                  <a:lnTo>
                    <a:pt x="1280160" y="0"/>
                  </a:lnTo>
                  <a:lnTo>
                    <a:pt x="1280160" y="1280160"/>
                  </a:lnTo>
                  <a:lnTo>
                    <a:pt x="0" y="1280160"/>
                  </a:lnTo>
                  <a:lnTo>
                    <a:pt x="0" y="0"/>
                  </a:lnTo>
                  <a:close/>
                </a:path>
              </a:pathLst>
            </a:custGeom>
            <a:blipFill>
              <a:blip r:embed="rId3"/>
              <a:stretch>
                <a:fillRect l="0" t="0" r="0" b="0"/>
              </a:stretch>
            </a:blipFill>
          </p:spPr>
        </p:sp>
      </p:grpSp>
      <p:sp>
        <p:nvSpPr>
          <p:cNvPr name="TextBox 14" id="14"/>
          <p:cNvSpPr txBox="true"/>
          <p:nvPr/>
        </p:nvSpPr>
        <p:spPr>
          <a:xfrm rot="0">
            <a:off x="2057400" y="4716780"/>
            <a:ext cx="6949440" cy="2049780"/>
          </a:xfrm>
          <a:prstGeom prst="rect">
            <a:avLst/>
          </a:prstGeom>
        </p:spPr>
        <p:txBody>
          <a:bodyPr anchor="t" rtlCol="false" tIns="0" lIns="0" bIns="0" rIns="0">
            <a:spAutoFit/>
          </a:bodyPr>
          <a:lstStyle/>
          <a:p>
            <a:pPr algn="l">
              <a:lnSpc>
                <a:spcPts val="2548"/>
              </a:lnSpc>
            </a:pPr>
            <a:r>
              <a:rPr lang="en-US" sz="1800" b="true">
                <a:solidFill>
                  <a:srgbClr val="FFFFFF"/>
                </a:solidFill>
                <a:latin typeface="Montserrat Bold"/>
                <a:ea typeface="Montserrat Bold"/>
                <a:cs typeface="Montserrat Bold"/>
                <a:sym typeface="Montserrat Bold"/>
              </a:rPr>
              <a:t>Documento de diseño</a:t>
            </a:r>
          </a:p>
          <a:p>
            <a:pPr algn="l">
              <a:lnSpc>
                <a:spcPts val="2265"/>
              </a:lnSpc>
            </a:pPr>
            <a:r>
              <a:rPr lang="en-US" sz="1599">
                <a:solidFill>
                  <a:srgbClr val="FFFFFF"/>
                </a:solidFill>
                <a:latin typeface="Montserrat"/>
                <a:ea typeface="Montserrat"/>
                <a:cs typeface="Montserrat"/>
                <a:sym typeface="Montserrat"/>
              </a:rPr>
              <a:t>Documentación de Administración del negocio, cambios por los requerimientos, CLAUDE.md y convenciones de la API (RUPTURAS.md).</a:t>
            </a:r>
          </a:p>
        </p:txBody>
      </p:sp>
      <p:grpSp>
        <p:nvGrpSpPr>
          <p:cNvPr name="Group 15" id="15"/>
          <p:cNvGrpSpPr/>
          <p:nvPr/>
        </p:nvGrpSpPr>
        <p:grpSpPr>
          <a:xfrm rot="0">
            <a:off x="9418320" y="4846320"/>
            <a:ext cx="960120" cy="960120"/>
            <a:chOff x="0" y="0"/>
            <a:chExt cx="1280160" cy="1280160"/>
          </a:xfrm>
        </p:grpSpPr>
        <p:sp>
          <p:nvSpPr>
            <p:cNvPr name="Freeform 16" id="16" descr="image22.png"/>
            <p:cNvSpPr/>
            <p:nvPr/>
          </p:nvSpPr>
          <p:spPr>
            <a:xfrm flipH="false" flipV="false" rot="0">
              <a:off x="0" y="0"/>
              <a:ext cx="1280160" cy="1280160"/>
            </a:xfrm>
            <a:custGeom>
              <a:avLst/>
              <a:gdLst/>
              <a:ahLst/>
              <a:cxnLst/>
              <a:rect r="r" b="b" t="t" l="l"/>
              <a:pathLst>
                <a:path h="1280160" w="1280160">
                  <a:moveTo>
                    <a:pt x="0" y="0"/>
                  </a:moveTo>
                  <a:lnTo>
                    <a:pt x="1280160" y="0"/>
                  </a:lnTo>
                  <a:lnTo>
                    <a:pt x="1280160" y="1280160"/>
                  </a:lnTo>
                  <a:lnTo>
                    <a:pt x="0" y="1280160"/>
                  </a:lnTo>
                  <a:lnTo>
                    <a:pt x="0" y="0"/>
                  </a:lnTo>
                  <a:close/>
                </a:path>
              </a:pathLst>
            </a:custGeom>
            <a:blipFill>
              <a:blip r:embed="rId4"/>
              <a:stretch>
                <a:fillRect l="0" t="0" r="0" b="0"/>
              </a:stretch>
            </a:blipFill>
          </p:spPr>
        </p:sp>
      </p:grpSp>
      <p:grpSp>
        <p:nvGrpSpPr>
          <p:cNvPr name="Group 17" id="17"/>
          <p:cNvGrpSpPr/>
          <p:nvPr/>
        </p:nvGrpSpPr>
        <p:grpSpPr>
          <a:xfrm rot="0">
            <a:off x="9418320" y="4846320"/>
            <a:ext cx="960120" cy="960120"/>
            <a:chOff x="0" y="0"/>
            <a:chExt cx="1280160" cy="1280160"/>
          </a:xfrm>
        </p:grpSpPr>
        <p:sp>
          <p:nvSpPr>
            <p:cNvPr name="Freeform 18" id="18"/>
            <p:cNvSpPr/>
            <p:nvPr/>
          </p:nvSpPr>
          <p:spPr>
            <a:xfrm flipH="false" flipV="false" rot="0">
              <a:off x="0" y="0"/>
              <a:ext cx="1280160" cy="1280160"/>
            </a:xfrm>
            <a:custGeom>
              <a:avLst/>
              <a:gdLst/>
              <a:ahLst/>
              <a:cxnLst/>
              <a:rect r="r" b="b" t="t" l="l"/>
              <a:pathLst>
                <a:path h="1280160" w="1280160">
                  <a:moveTo>
                    <a:pt x="0" y="0"/>
                  </a:moveTo>
                  <a:lnTo>
                    <a:pt x="1280160" y="0"/>
                  </a:lnTo>
                  <a:lnTo>
                    <a:pt x="1280160" y="1280160"/>
                  </a:lnTo>
                  <a:lnTo>
                    <a:pt x="0" y="1280160"/>
                  </a:lnTo>
                  <a:close/>
                </a:path>
              </a:pathLst>
            </a:custGeom>
            <a:blipFill>
              <a:blip r:embed="rId5">
                <a:alphaModFix amt="0"/>
              </a:blip>
              <a:stretch>
                <a:fillRect l="-78303" t="0" r="-78303" b="0"/>
              </a:stretch>
            </a:blipFill>
          </p:spPr>
        </p:sp>
        <p:sp>
          <p:nvSpPr>
            <p:cNvPr name="TextBox 19" id="19"/>
            <p:cNvSpPr txBox="true"/>
            <p:nvPr/>
          </p:nvSpPr>
          <p:spPr>
            <a:xfrm>
              <a:off x="0" y="-28575"/>
              <a:ext cx="1280160" cy="1308735"/>
            </a:xfrm>
            <a:prstGeom prst="rect">
              <a:avLst/>
            </a:prstGeom>
          </p:spPr>
          <p:txBody>
            <a:bodyPr anchor="ctr" rtlCol="false" tIns="0" lIns="0" bIns="0" rIns="0"/>
            <a:lstStyle/>
            <a:p>
              <a:pPr algn="ctr">
                <a:lnSpc>
                  <a:spcPts val="3960"/>
                </a:lnSpc>
              </a:pPr>
              <a:r>
                <a:rPr lang="en-US" sz="3000" b="true">
                  <a:solidFill>
                    <a:srgbClr val="FBA94C"/>
                  </a:solidFill>
                  <a:latin typeface="Montserrat Bold"/>
                  <a:ea typeface="Montserrat Bold"/>
                  <a:cs typeface="Montserrat Bold"/>
                  <a:sym typeface="Montserrat Bold"/>
                </a:rPr>
                <a:t>!</a:t>
              </a:r>
            </a:p>
          </p:txBody>
        </p:sp>
      </p:grpSp>
      <p:sp>
        <p:nvSpPr>
          <p:cNvPr name="TextBox 20" id="20"/>
          <p:cNvSpPr txBox="true"/>
          <p:nvPr/>
        </p:nvSpPr>
        <p:spPr>
          <a:xfrm rot="0">
            <a:off x="10652760" y="4716780"/>
            <a:ext cx="6949440" cy="2049780"/>
          </a:xfrm>
          <a:prstGeom prst="rect">
            <a:avLst/>
          </a:prstGeom>
        </p:spPr>
        <p:txBody>
          <a:bodyPr anchor="t" rtlCol="false" tIns="0" lIns="0" bIns="0" rIns="0">
            <a:spAutoFit/>
          </a:bodyPr>
          <a:lstStyle/>
          <a:p>
            <a:pPr algn="l">
              <a:lnSpc>
                <a:spcPts val="2548"/>
              </a:lnSpc>
            </a:pPr>
            <a:r>
              <a:rPr lang="en-US" sz="1800" b="true">
                <a:solidFill>
                  <a:srgbClr val="FFFFFF"/>
                </a:solidFill>
                <a:latin typeface="Montserrat Bold"/>
                <a:ea typeface="Montserrat Bold"/>
                <a:cs typeface="Montserrat Bold"/>
                <a:sym typeface="Montserrat Bold"/>
              </a:rPr>
              <a:t>Plan de pruebas</a:t>
            </a:r>
          </a:p>
          <a:p>
            <a:pPr algn="l">
              <a:lnSpc>
                <a:spcPts val="2265"/>
              </a:lnSpc>
            </a:pPr>
            <a:r>
              <a:rPr lang="en-US" sz="1599">
                <a:solidFill>
                  <a:srgbClr val="FFFFFF"/>
                </a:solidFill>
                <a:latin typeface="Montserrat"/>
                <a:ea typeface="Montserrat"/>
                <a:cs typeface="Montserrat"/>
                <a:sym typeface="Montserrat"/>
              </a:rPr>
              <a:t>No existe como documento; existe la suite de 339 pruebas automatizadas.</a:t>
            </a:r>
          </a:p>
        </p:txBody>
      </p:sp>
      <p:grpSp>
        <p:nvGrpSpPr>
          <p:cNvPr name="Group 21" id="21"/>
          <p:cNvGrpSpPr/>
          <p:nvPr/>
        </p:nvGrpSpPr>
        <p:grpSpPr>
          <a:xfrm rot="0">
            <a:off x="822960" y="7086600"/>
            <a:ext cx="960120" cy="960120"/>
            <a:chOff x="0" y="0"/>
            <a:chExt cx="1280160" cy="1280160"/>
          </a:xfrm>
        </p:grpSpPr>
        <p:sp>
          <p:nvSpPr>
            <p:cNvPr name="Freeform 22" id="22" descr="image48.png"/>
            <p:cNvSpPr/>
            <p:nvPr/>
          </p:nvSpPr>
          <p:spPr>
            <a:xfrm flipH="false" flipV="false" rot="0">
              <a:off x="0" y="0"/>
              <a:ext cx="1280160" cy="1280160"/>
            </a:xfrm>
            <a:custGeom>
              <a:avLst/>
              <a:gdLst/>
              <a:ahLst/>
              <a:cxnLst/>
              <a:rect r="r" b="b" t="t" l="l"/>
              <a:pathLst>
                <a:path h="1280160" w="1280160">
                  <a:moveTo>
                    <a:pt x="0" y="0"/>
                  </a:moveTo>
                  <a:lnTo>
                    <a:pt x="1280160" y="0"/>
                  </a:lnTo>
                  <a:lnTo>
                    <a:pt x="1280160" y="1280160"/>
                  </a:lnTo>
                  <a:lnTo>
                    <a:pt x="0" y="1280160"/>
                  </a:lnTo>
                  <a:lnTo>
                    <a:pt x="0" y="0"/>
                  </a:lnTo>
                  <a:close/>
                </a:path>
              </a:pathLst>
            </a:custGeom>
            <a:blipFill>
              <a:blip r:embed="rId3"/>
              <a:stretch>
                <a:fillRect l="0" t="0" r="0" b="0"/>
              </a:stretch>
            </a:blipFill>
          </p:spPr>
        </p:sp>
      </p:grpSp>
      <p:sp>
        <p:nvSpPr>
          <p:cNvPr name="TextBox 23" id="23"/>
          <p:cNvSpPr txBox="true"/>
          <p:nvPr/>
        </p:nvSpPr>
        <p:spPr>
          <a:xfrm rot="0">
            <a:off x="2057400" y="6957060"/>
            <a:ext cx="6949440" cy="2049780"/>
          </a:xfrm>
          <a:prstGeom prst="rect">
            <a:avLst/>
          </a:prstGeom>
        </p:spPr>
        <p:txBody>
          <a:bodyPr anchor="t" rtlCol="false" tIns="0" lIns="0" bIns="0" rIns="0">
            <a:spAutoFit/>
          </a:bodyPr>
          <a:lstStyle/>
          <a:p>
            <a:pPr algn="l">
              <a:lnSpc>
                <a:spcPts val="2548"/>
              </a:lnSpc>
            </a:pPr>
            <a:r>
              <a:rPr lang="en-US" sz="1800" b="true">
                <a:solidFill>
                  <a:srgbClr val="FFFFFF"/>
                </a:solidFill>
                <a:latin typeface="Montserrat Bold"/>
                <a:ea typeface="Montserrat Bold"/>
                <a:cs typeface="Montserrat Bold"/>
                <a:sym typeface="Montserrat Bold"/>
              </a:rPr>
              <a:t>README</a:t>
            </a:r>
          </a:p>
          <a:p>
            <a:pPr algn="l">
              <a:lnSpc>
                <a:spcPts val="2265"/>
              </a:lnSpc>
            </a:pPr>
            <a:r>
              <a:rPr lang="en-US" sz="1599">
                <a:solidFill>
                  <a:srgbClr val="FFFFFF"/>
                </a:solidFill>
                <a:latin typeface="Montserrat"/>
                <a:ea typeface="Montserrat"/>
                <a:cs typeface="Montserrat"/>
                <a:sym typeface="Montserrat"/>
              </a:rPr>
              <a:t>En la raíz del repositorio de documentación, con la información del proyecto y los integrantes.</a:t>
            </a:r>
          </a:p>
        </p:txBody>
      </p:sp>
      <p:grpSp>
        <p:nvGrpSpPr>
          <p:cNvPr name="Group 24" id="24"/>
          <p:cNvGrpSpPr/>
          <p:nvPr/>
        </p:nvGrpSpPr>
        <p:grpSpPr>
          <a:xfrm rot="0">
            <a:off x="9418320" y="7086600"/>
            <a:ext cx="960120" cy="960120"/>
            <a:chOff x="0" y="0"/>
            <a:chExt cx="1280160" cy="1280160"/>
          </a:xfrm>
        </p:grpSpPr>
        <p:sp>
          <p:nvSpPr>
            <p:cNvPr name="Freeform 25" id="25" descr="image48.png"/>
            <p:cNvSpPr/>
            <p:nvPr/>
          </p:nvSpPr>
          <p:spPr>
            <a:xfrm flipH="false" flipV="false" rot="0">
              <a:off x="0" y="0"/>
              <a:ext cx="1280160" cy="1280160"/>
            </a:xfrm>
            <a:custGeom>
              <a:avLst/>
              <a:gdLst/>
              <a:ahLst/>
              <a:cxnLst/>
              <a:rect r="r" b="b" t="t" l="l"/>
              <a:pathLst>
                <a:path h="1280160" w="1280160">
                  <a:moveTo>
                    <a:pt x="0" y="0"/>
                  </a:moveTo>
                  <a:lnTo>
                    <a:pt x="1280160" y="0"/>
                  </a:lnTo>
                  <a:lnTo>
                    <a:pt x="1280160" y="1280160"/>
                  </a:lnTo>
                  <a:lnTo>
                    <a:pt x="0" y="1280160"/>
                  </a:lnTo>
                  <a:lnTo>
                    <a:pt x="0" y="0"/>
                  </a:lnTo>
                  <a:close/>
                </a:path>
              </a:pathLst>
            </a:custGeom>
            <a:blipFill>
              <a:blip r:embed="rId3"/>
              <a:stretch>
                <a:fillRect l="0" t="0" r="0" b="0"/>
              </a:stretch>
            </a:blipFill>
          </p:spPr>
        </p:sp>
      </p:grpSp>
      <p:sp>
        <p:nvSpPr>
          <p:cNvPr name="TextBox 26" id="26"/>
          <p:cNvSpPr txBox="true"/>
          <p:nvPr/>
        </p:nvSpPr>
        <p:spPr>
          <a:xfrm rot="0">
            <a:off x="10652760" y="6957060"/>
            <a:ext cx="6949440" cy="2049780"/>
          </a:xfrm>
          <a:prstGeom prst="rect">
            <a:avLst/>
          </a:prstGeom>
        </p:spPr>
        <p:txBody>
          <a:bodyPr anchor="t" rtlCol="false" tIns="0" lIns="0" bIns="0" rIns="0">
            <a:spAutoFit/>
          </a:bodyPr>
          <a:lstStyle/>
          <a:p>
            <a:pPr algn="l">
              <a:lnSpc>
                <a:spcPts val="2548"/>
              </a:lnSpc>
            </a:pPr>
            <a:r>
              <a:rPr lang="en-US" sz="1800" b="true">
                <a:solidFill>
                  <a:srgbClr val="FFFFFF"/>
                </a:solidFill>
                <a:latin typeface="Montserrat Bold"/>
                <a:ea typeface="Montserrat Bold"/>
                <a:cs typeface="Montserrat Bold"/>
                <a:sym typeface="Montserrat Bold"/>
              </a:rPr>
              <a:t>Otros</a:t>
            </a:r>
          </a:p>
          <a:p>
            <a:pPr algn="l">
              <a:lnSpc>
                <a:spcPts val="2265"/>
              </a:lnSpc>
            </a:pPr>
            <a:r>
              <a:rPr lang="en-US" sz="1599">
                <a:solidFill>
                  <a:srgbClr val="FFFFFF"/>
                </a:solidFill>
                <a:latin typeface="Montserrat"/>
                <a:ea typeface="Montserrat"/>
                <a:cs typeface="Montserrat"/>
                <a:sym typeface="Montserrat"/>
              </a:rPr>
              <a:t>Documentación de la API generada automáticamente (/docs) y la guía 2.4.</a:t>
            </a:r>
          </a:p>
        </p:txBody>
      </p:sp>
      <p:sp>
        <p:nvSpPr>
          <p:cNvPr name="TextBox 27" id="27"/>
          <p:cNvSpPr txBox="true"/>
          <p:nvPr/>
        </p:nvSpPr>
        <p:spPr>
          <a:xfrm rot="0">
            <a:off x="822960" y="9399270"/>
            <a:ext cx="16459200" cy="476250"/>
          </a:xfrm>
          <a:prstGeom prst="rect">
            <a:avLst/>
          </a:prstGeom>
        </p:spPr>
        <p:txBody>
          <a:bodyPr anchor="t" rtlCol="false" tIns="0" lIns="0" bIns="0" rIns="0">
            <a:spAutoFit/>
          </a:bodyPr>
          <a:lstStyle/>
          <a:p>
            <a:pPr algn="l">
              <a:lnSpc>
                <a:spcPts val="1715"/>
              </a:lnSpc>
            </a:pPr>
            <a:r>
              <a:rPr lang="en-US" sz="1299" b="true">
                <a:solidFill>
                  <a:srgbClr val="FFD54A"/>
                </a:solidFill>
                <a:latin typeface="Montserrat Bold"/>
                <a:ea typeface="Montserrat Bold"/>
                <a:cs typeface="Montserrat Bold"/>
                <a:sym typeface="Montserrat Bold"/>
              </a:rPr>
              <a:t>Pendiente: </a:t>
            </a:r>
            <a:r>
              <a:rPr lang="en-US" sz="1299">
                <a:solidFill>
                  <a:srgbClr val="FFD54A"/>
                </a:solidFill>
                <a:latin typeface="Montserrat"/>
                <a:ea typeface="Montserrat"/>
                <a:cs typeface="Montserrat"/>
                <a:sym typeface="Montserrat"/>
              </a:rPr>
              <a:t>revisar esta lista contra el Anexo del Instructivo (no lo tenemos).</a:t>
            </a:r>
          </a:p>
        </p:txBody>
      </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24384000" cy="13716000"/>
          </a:xfrm>
        </p:grpSpPr>
        <p:sp>
          <p:nvSpPr>
            <p:cNvPr name="Freeform 3" id="3" descr="fondo9_60.jpg"/>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lnTo>
                    <a:pt x="0" y="0"/>
                  </a:lnTo>
                  <a:close/>
                </a:path>
              </a:pathLst>
            </a:custGeom>
            <a:blipFill>
              <a:blip r:embed="rId2"/>
              <a:stretch>
                <a:fillRect l="0" t="-666" r="0" b="-666"/>
              </a:stretch>
            </a:blipFill>
          </p:spPr>
        </p:sp>
      </p:grpSp>
      <p:sp>
        <p:nvSpPr>
          <p:cNvPr name="TextBox 4" id="4"/>
          <p:cNvSpPr txBox="true"/>
          <p:nvPr/>
        </p:nvSpPr>
        <p:spPr>
          <a:xfrm rot="0">
            <a:off x="914400" y="355473"/>
            <a:ext cx="16459200" cy="760095"/>
          </a:xfrm>
          <a:prstGeom prst="rect">
            <a:avLst/>
          </a:prstGeom>
        </p:spPr>
        <p:txBody>
          <a:bodyPr anchor="t" rtlCol="false" tIns="0" lIns="0" bIns="0" rIns="0">
            <a:spAutoFit/>
          </a:bodyPr>
          <a:lstStyle/>
          <a:p>
            <a:pPr algn="ctr">
              <a:lnSpc>
                <a:spcPts val="3960"/>
              </a:lnSpc>
            </a:pPr>
            <a:r>
              <a:rPr lang="en-US" sz="3000">
                <a:solidFill>
                  <a:srgbClr val="FFFFFF"/>
                </a:solidFill>
                <a:latin typeface="Montserrat Light"/>
                <a:ea typeface="Montserrat Light"/>
                <a:cs typeface="Montserrat Light"/>
                <a:sym typeface="Montserrat Light"/>
              </a:rPr>
              <a:t>CALIDAD</a:t>
            </a:r>
          </a:p>
        </p:txBody>
      </p:sp>
      <p:sp>
        <p:nvSpPr>
          <p:cNvPr name="TextBox 5" id="5"/>
          <p:cNvSpPr txBox="true"/>
          <p:nvPr/>
        </p:nvSpPr>
        <p:spPr>
          <a:xfrm rot="0">
            <a:off x="914400" y="912495"/>
            <a:ext cx="16459200" cy="1144905"/>
          </a:xfrm>
          <a:prstGeom prst="rect">
            <a:avLst/>
          </a:prstGeom>
        </p:spPr>
        <p:txBody>
          <a:bodyPr anchor="t" rtlCol="false" tIns="0" lIns="0" bIns="0" rIns="0">
            <a:spAutoFit/>
          </a:bodyPr>
          <a:lstStyle/>
          <a:p>
            <a:pPr algn="ctr">
              <a:lnSpc>
                <a:spcPts val="6863"/>
              </a:lnSpc>
            </a:pPr>
            <a:r>
              <a:rPr lang="en-US" sz="5199" b="true">
                <a:solidFill>
                  <a:srgbClr val="FFFFFF"/>
                </a:solidFill>
                <a:latin typeface="Montserrat Bold"/>
                <a:ea typeface="Montserrat Bold"/>
                <a:cs typeface="Montserrat Bold"/>
                <a:sym typeface="Montserrat Bold"/>
              </a:rPr>
              <a:t>Y ESTÁNDARES</a:t>
            </a:r>
          </a:p>
        </p:txBody>
      </p:sp>
      <p:grpSp>
        <p:nvGrpSpPr>
          <p:cNvPr name="Group 6" id="6"/>
          <p:cNvGrpSpPr/>
          <p:nvPr/>
        </p:nvGrpSpPr>
        <p:grpSpPr>
          <a:xfrm rot="0">
            <a:off x="731520" y="2468880"/>
            <a:ext cx="7680960" cy="3520440"/>
            <a:chOff x="0" y="0"/>
            <a:chExt cx="10241280" cy="4693920"/>
          </a:xfrm>
        </p:grpSpPr>
        <p:sp>
          <p:nvSpPr>
            <p:cNvPr name="Freeform 7" id="7"/>
            <p:cNvSpPr/>
            <p:nvPr/>
          </p:nvSpPr>
          <p:spPr>
            <a:xfrm flipH="false" flipV="false" rot="0">
              <a:off x="0" y="0"/>
              <a:ext cx="10241280" cy="4693920"/>
            </a:xfrm>
            <a:custGeom>
              <a:avLst/>
              <a:gdLst/>
              <a:ahLst/>
              <a:cxnLst/>
              <a:rect r="r" b="b" t="t" l="l"/>
              <a:pathLst>
                <a:path h="4693920" w="10241280">
                  <a:moveTo>
                    <a:pt x="0" y="563245"/>
                  </a:moveTo>
                  <a:cubicBezTo>
                    <a:pt x="0" y="252222"/>
                    <a:pt x="252222" y="0"/>
                    <a:pt x="563245" y="0"/>
                  </a:cubicBezTo>
                  <a:lnTo>
                    <a:pt x="9678035" y="0"/>
                  </a:lnTo>
                  <a:cubicBezTo>
                    <a:pt x="9989058" y="0"/>
                    <a:pt x="10241280" y="252222"/>
                    <a:pt x="10241280" y="563245"/>
                  </a:cubicBezTo>
                  <a:lnTo>
                    <a:pt x="10241280" y="4130675"/>
                  </a:lnTo>
                  <a:cubicBezTo>
                    <a:pt x="10241280" y="4441698"/>
                    <a:pt x="9989058" y="4693920"/>
                    <a:pt x="9678035" y="4693920"/>
                  </a:cubicBezTo>
                  <a:lnTo>
                    <a:pt x="563245" y="4693920"/>
                  </a:lnTo>
                  <a:cubicBezTo>
                    <a:pt x="252222" y="4693920"/>
                    <a:pt x="0" y="4441698"/>
                    <a:pt x="0" y="4130675"/>
                  </a:cubicBezTo>
                  <a:close/>
                </a:path>
              </a:pathLst>
            </a:custGeom>
            <a:solidFill>
              <a:srgbClr val="15193A"/>
            </a:solidFill>
          </p:spPr>
        </p:sp>
      </p:grpSp>
      <p:sp>
        <p:nvSpPr>
          <p:cNvPr name="TextBox 8" id="8"/>
          <p:cNvSpPr txBox="true"/>
          <p:nvPr/>
        </p:nvSpPr>
        <p:spPr>
          <a:xfrm rot="0">
            <a:off x="1005840" y="2474595"/>
            <a:ext cx="3291840" cy="1548765"/>
          </a:xfrm>
          <a:prstGeom prst="rect">
            <a:avLst/>
          </a:prstGeom>
        </p:spPr>
        <p:txBody>
          <a:bodyPr anchor="t" rtlCol="false" tIns="0" lIns="0" bIns="0" rIns="0">
            <a:spAutoFit/>
          </a:bodyPr>
          <a:lstStyle/>
          <a:p>
            <a:pPr algn="l">
              <a:lnSpc>
                <a:spcPts val="9504"/>
              </a:lnSpc>
            </a:pPr>
            <a:r>
              <a:rPr lang="en-US" sz="7200" b="true">
                <a:solidFill>
                  <a:srgbClr val="4ADE80"/>
                </a:solidFill>
                <a:latin typeface="Montserrat Bold"/>
                <a:ea typeface="Montserrat Bold"/>
                <a:cs typeface="Montserrat Bold"/>
                <a:sym typeface="Montserrat Bold"/>
              </a:rPr>
              <a:t>339</a:t>
            </a:r>
          </a:p>
        </p:txBody>
      </p:sp>
      <p:sp>
        <p:nvSpPr>
          <p:cNvPr name="TextBox 9" id="9"/>
          <p:cNvSpPr txBox="true"/>
          <p:nvPr/>
        </p:nvSpPr>
        <p:spPr>
          <a:xfrm rot="0">
            <a:off x="4206240" y="2769870"/>
            <a:ext cx="4023360" cy="1207770"/>
          </a:xfrm>
          <a:prstGeom prst="rect">
            <a:avLst/>
          </a:prstGeom>
        </p:spPr>
        <p:txBody>
          <a:bodyPr anchor="t" rtlCol="false" tIns="0" lIns="0" bIns="0" rIns="0">
            <a:spAutoFit/>
          </a:bodyPr>
          <a:lstStyle/>
          <a:p>
            <a:pPr algn="l">
              <a:lnSpc>
                <a:spcPts val="2376"/>
              </a:lnSpc>
            </a:pPr>
            <a:r>
              <a:rPr lang="en-US" sz="1800" b="true">
                <a:solidFill>
                  <a:srgbClr val="FFFFFF"/>
                </a:solidFill>
                <a:latin typeface="Montserrat Bold"/>
                <a:ea typeface="Montserrat Bold"/>
                <a:cs typeface="Montserrat Bold"/>
                <a:sym typeface="Montserrat Bold"/>
              </a:rPr>
              <a:t>pruebas automatizadas</a:t>
            </a:r>
          </a:p>
          <a:p>
            <a:pPr algn="l">
              <a:lnSpc>
                <a:spcPts val="1715"/>
              </a:lnSpc>
            </a:pPr>
            <a:r>
              <a:rPr lang="en-US" sz="1299">
                <a:solidFill>
                  <a:srgbClr val="C9D2F0"/>
                </a:solidFill>
                <a:latin typeface="Montserrat"/>
                <a:ea typeface="Montserrat"/>
                <a:cs typeface="Montserrat"/>
                <a:sym typeface="Montserrat"/>
              </a:rPr>
              <a:t>todas aprobadas · 14-oct · 5 min 54 s</a:t>
            </a:r>
          </a:p>
        </p:txBody>
      </p:sp>
      <p:sp>
        <p:nvSpPr>
          <p:cNvPr name="TextBox 10" id="10"/>
          <p:cNvSpPr txBox="true"/>
          <p:nvPr/>
        </p:nvSpPr>
        <p:spPr>
          <a:xfrm rot="0">
            <a:off x="1005840" y="4030980"/>
            <a:ext cx="7223760" cy="2415540"/>
          </a:xfrm>
          <a:prstGeom prst="rect">
            <a:avLst/>
          </a:prstGeom>
        </p:spPr>
        <p:txBody>
          <a:bodyPr anchor="t" rtlCol="false" tIns="0" lIns="0" bIns="0" rIns="0">
            <a:spAutoFit/>
          </a:bodyPr>
          <a:lstStyle/>
          <a:p>
            <a:pPr algn="l">
              <a:lnSpc>
                <a:spcPts val="2016"/>
              </a:lnSpc>
            </a:pPr>
            <a:r>
              <a:rPr lang="en-US" sz="1400" b="true">
                <a:solidFill>
                  <a:srgbClr val="FFFFFF"/>
                </a:solidFill>
                <a:latin typeface="Montserrat Bold"/>
                <a:ea typeface="Montserrat Bold"/>
                <a:cs typeface="Montserrat Bold"/>
                <a:sym typeface="Montserrat Bold"/>
              </a:rPr>
              <a:t>65 de los módulos propios:</a:t>
            </a:r>
          </a:p>
          <a:p>
            <a:pPr algn="l">
              <a:lnSpc>
                <a:spcPts val="2016"/>
              </a:lnSpc>
            </a:pPr>
            <a:r>
              <a:rPr lang="en-US" sz="1400">
                <a:solidFill>
                  <a:srgbClr val="FFFFFF"/>
                </a:solidFill>
                <a:latin typeface="Montserrat"/>
                <a:ea typeface="Montserrat"/>
                <a:cs typeface="Montserrat"/>
                <a:sym typeface="Montserrat"/>
              </a:rPr>
              <a:t>test_cobranza (18) · test_ops (21)</a:t>
            </a:r>
          </a:p>
          <a:p>
            <a:pPr algn="l">
              <a:lnSpc>
                <a:spcPts val="2016"/>
              </a:lnSpc>
            </a:pPr>
            <a:r>
              <a:rPr lang="en-US" sz="1400">
                <a:solidFill>
                  <a:srgbClr val="FFFFFF"/>
                </a:solidFill>
                <a:latin typeface="Montserrat"/>
                <a:ea typeface="Montserrat"/>
                <a:cs typeface="Montserrat"/>
                <a:sym typeface="Montserrat"/>
              </a:rPr>
              <a:t>test_admin_panel (16) · test_auditoria_accesos (10)</a:t>
            </a:r>
          </a:p>
          <a:p>
            <a:pPr algn="l">
              <a:lnSpc>
                <a:spcPts val="2016"/>
              </a:lnSpc>
            </a:pPr>
            <a:r>
              <a:rPr lang="en-US" sz="1400">
                <a:solidFill>
                  <a:srgbClr val="C9D2F0"/>
                </a:solidFill>
                <a:latin typeface="Montserrat"/>
                <a:ea typeface="Montserrat"/>
                <a:cs typeface="Montserrat"/>
                <a:sym typeface="Montserrat"/>
              </a:rPr>
              <a:t>Además: aislamiento entre empresas e integridad del esquema.</a:t>
            </a:r>
          </a:p>
        </p:txBody>
      </p:sp>
      <p:grpSp>
        <p:nvGrpSpPr>
          <p:cNvPr name="Group 11" id="11"/>
          <p:cNvGrpSpPr/>
          <p:nvPr/>
        </p:nvGrpSpPr>
        <p:grpSpPr>
          <a:xfrm rot="0">
            <a:off x="731520" y="6400800"/>
            <a:ext cx="7680960" cy="2087509"/>
            <a:chOff x="0" y="0"/>
            <a:chExt cx="10241280" cy="2783345"/>
          </a:xfrm>
        </p:grpSpPr>
        <p:sp>
          <p:nvSpPr>
            <p:cNvPr name="Freeform 12" id="12" descr="08_pruebas.png"/>
            <p:cNvSpPr/>
            <p:nvPr/>
          </p:nvSpPr>
          <p:spPr>
            <a:xfrm flipH="false" flipV="false" rot="0">
              <a:off x="0" y="0"/>
              <a:ext cx="10241280" cy="2783332"/>
            </a:xfrm>
            <a:custGeom>
              <a:avLst/>
              <a:gdLst/>
              <a:ahLst/>
              <a:cxnLst/>
              <a:rect r="r" b="b" t="t" l="l"/>
              <a:pathLst>
                <a:path h="2783332" w="10241280">
                  <a:moveTo>
                    <a:pt x="0" y="0"/>
                  </a:moveTo>
                  <a:lnTo>
                    <a:pt x="10241280" y="0"/>
                  </a:lnTo>
                  <a:lnTo>
                    <a:pt x="10241280" y="2783332"/>
                  </a:lnTo>
                  <a:lnTo>
                    <a:pt x="0" y="2783332"/>
                  </a:lnTo>
                  <a:lnTo>
                    <a:pt x="0" y="0"/>
                  </a:lnTo>
                  <a:close/>
                </a:path>
              </a:pathLst>
            </a:custGeom>
            <a:blipFill>
              <a:blip r:embed="rId3"/>
              <a:stretch>
                <a:fillRect l="0" t="0" r="0" b="0"/>
              </a:stretch>
            </a:blipFill>
          </p:spPr>
        </p:sp>
      </p:grpSp>
      <p:sp>
        <p:nvSpPr>
          <p:cNvPr name="TextBox 13" id="13"/>
          <p:cNvSpPr txBox="true"/>
          <p:nvPr/>
        </p:nvSpPr>
        <p:spPr>
          <a:xfrm rot="0">
            <a:off x="731520" y="8524123"/>
            <a:ext cx="7680960" cy="293370"/>
          </a:xfrm>
          <a:prstGeom prst="rect">
            <a:avLst/>
          </a:prstGeom>
        </p:spPr>
        <p:txBody>
          <a:bodyPr anchor="t" rtlCol="false" tIns="0" lIns="0" bIns="0" rIns="0">
            <a:spAutoFit/>
          </a:bodyPr>
          <a:lstStyle/>
          <a:p>
            <a:pPr algn="ctr">
              <a:lnSpc>
                <a:spcPts val="1319"/>
              </a:lnSpc>
            </a:pPr>
            <a:r>
              <a:rPr lang="en-US" sz="999">
                <a:solidFill>
                  <a:srgbClr val="C9D2F0"/>
                </a:solidFill>
                <a:latin typeface="Montserrat"/>
                <a:ea typeface="Montserrat"/>
                <a:cs typeface="Montserrat"/>
                <a:sym typeface="Montserrat"/>
              </a:rPr>
              <a:t>Salida real de pytest (figura 8 de la guía 2.4)</a:t>
            </a:r>
          </a:p>
        </p:txBody>
      </p:sp>
      <p:grpSp>
        <p:nvGrpSpPr>
          <p:cNvPr name="Group 14" id="14"/>
          <p:cNvGrpSpPr/>
          <p:nvPr/>
        </p:nvGrpSpPr>
        <p:grpSpPr>
          <a:xfrm rot="0">
            <a:off x="9052560" y="2514600"/>
            <a:ext cx="777240" cy="777240"/>
            <a:chOff x="0" y="0"/>
            <a:chExt cx="1036320" cy="1036320"/>
          </a:xfrm>
        </p:grpSpPr>
        <p:sp>
          <p:nvSpPr>
            <p:cNvPr name="Freeform 15" id="15" descr="image22.png"/>
            <p:cNvSpPr/>
            <p:nvPr/>
          </p:nvSpPr>
          <p:spPr>
            <a:xfrm flipH="false" flipV="false" rot="0">
              <a:off x="0" y="0"/>
              <a:ext cx="1036320" cy="1036320"/>
            </a:xfrm>
            <a:custGeom>
              <a:avLst/>
              <a:gdLst/>
              <a:ahLst/>
              <a:cxnLst/>
              <a:rect r="r" b="b" t="t" l="l"/>
              <a:pathLst>
                <a:path h="1036320" w="1036320">
                  <a:moveTo>
                    <a:pt x="0" y="0"/>
                  </a:moveTo>
                  <a:lnTo>
                    <a:pt x="1036320" y="0"/>
                  </a:lnTo>
                  <a:lnTo>
                    <a:pt x="1036320" y="1036320"/>
                  </a:lnTo>
                  <a:lnTo>
                    <a:pt x="0" y="1036320"/>
                  </a:lnTo>
                  <a:lnTo>
                    <a:pt x="0" y="0"/>
                  </a:lnTo>
                  <a:close/>
                </a:path>
              </a:pathLst>
            </a:custGeom>
            <a:blipFill>
              <a:blip r:embed="rId4"/>
              <a:stretch>
                <a:fillRect l="0" t="0" r="0" b="0"/>
              </a:stretch>
            </a:blipFill>
          </p:spPr>
        </p:sp>
      </p:grpSp>
      <p:grpSp>
        <p:nvGrpSpPr>
          <p:cNvPr name="Group 16" id="16"/>
          <p:cNvGrpSpPr/>
          <p:nvPr/>
        </p:nvGrpSpPr>
        <p:grpSpPr>
          <a:xfrm rot="0">
            <a:off x="9052560" y="2514600"/>
            <a:ext cx="777240" cy="777240"/>
            <a:chOff x="0" y="0"/>
            <a:chExt cx="1036320" cy="1036320"/>
          </a:xfrm>
        </p:grpSpPr>
        <p:sp>
          <p:nvSpPr>
            <p:cNvPr name="Freeform 17" id="17"/>
            <p:cNvSpPr/>
            <p:nvPr/>
          </p:nvSpPr>
          <p:spPr>
            <a:xfrm flipH="false" flipV="false" rot="0">
              <a:off x="0" y="0"/>
              <a:ext cx="1036320" cy="1036320"/>
            </a:xfrm>
            <a:custGeom>
              <a:avLst/>
              <a:gdLst/>
              <a:ahLst/>
              <a:cxnLst/>
              <a:rect r="r" b="b" t="t" l="l"/>
              <a:pathLst>
                <a:path h="1036320" w="1036320">
                  <a:moveTo>
                    <a:pt x="0" y="0"/>
                  </a:moveTo>
                  <a:lnTo>
                    <a:pt x="1036320" y="0"/>
                  </a:lnTo>
                  <a:lnTo>
                    <a:pt x="1036320" y="1036320"/>
                  </a:lnTo>
                  <a:lnTo>
                    <a:pt x="0" y="1036320"/>
                  </a:lnTo>
                  <a:close/>
                </a:path>
              </a:pathLst>
            </a:custGeom>
            <a:blipFill>
              <a:blip r:embed="rId5">
                <a:alphaModFix amt="0"/>
              </a:blip>
              <a:stretch>
                <a:fillRect l="-78303" t="0" r="-78303" b="0"/>
              </a:stretch>
            </a:blipFill>
          </p:spPr>
        </p:sp>
        <p:sp>
          <p:nvSpPr>
            <p:cNvPr name="TextBox 18" id="18"/>
            <p:cNvSpPr txBox="true"/>
            <p:nvPr/>
          </p:nvSpPr>
          <p:spPr>
            <a:xfrm>
              <a:off x="0" y="-76200"/>
              <a:ext cx="1036320" cy="1112520"/>
            </a:xfrm>
            <a:prstGeom prst="rect">
              <a:avLst/>
            </a:prstGeom>
          </p:spPr>
          <p:txBody>
            <a:bodyPr anchor="ctr" rtlCol="false" tIns="0" lIns="0" bIns="0" rIns="0"/>
            <a:lstStyle/>
            <a:p>
              <a:pPr algn="ctr">
                <a:lnSpc>
                  <a:spcPts val="2903"/>
                </a:lnSpc>
              </a:pPr>
              <a:r>
                <a:rPr lang="en-US" sz="2199" b="true">
                  <a:solidFill>
                    <a:srgbClr val="4ADE80"/>
                  </a:solidFill>
                  <a:latin typeface="Calibri (MS) Bold"/>
                  <a:ea typeface="Calibri (MS) Bold"/>
                  <a:cs typeface="Calibri (MS) Bold"/>
                  <a:sym typeface="Calibri (MS) Bold"/>
                </a:rPr>
                <a:t>✓</a:t>
              </a:r>
            </a:p>
          </p:txBody>
        </p:sp>
      </p:grpSp>
      <p:sp>
        <p:nvSpPr>
          <p:cNvPr name="TextBox 19" id="19"/>
          <p:cNvSpPr txBox="true"/>
          <p:nvPr/>
        </p:nvSpPr>
        <p:spPr>
          <a:xfrm rot="0">
            <a:off x="10104120" y="2430780"/>
            <a:ext cx="7589520" cy="1775460"/>
          </a:xfrm>
          <a:prstGeom prst="rect">
            <a:avLst/>
          </a:prstGeom>
        </p:spPr>
        <p:txBody>
          <a:bodyPr anchor="t" rtlCol="false" tIns="0" lIns="0" bIns="0" rIns="0">
            <a:spAutoFit/>
          </a:bodyPr>
          <a:lstStyle/>
          <a:p>
            <a:pPr algn="l">
              <a:lnSpc>
                <a:spcPts val="2548"/>
              </a:lnSpc>
            </a:pPr>
            <a:r>
              <a:rPr lang="en-US" sz="1800" b="true">
                <a:solidFill>
                  <a:srgbClr val="FFFFFF"/>
                </a:solidFill>
                <a:latin typeface="Montserrat Bold"/>
                <a:ea typeface="Montserrat Bold"/>
                <a:cs typeface="Montserrat Bold"/>
                <a:sym typeface="Montserrat Bold"/>
              </a:rPr>
              <a:t>Convenciones</a:t>
            </a:r>
          </a:p>
          <a:p>
            <a:pPr algn="l">
              <a:lnSpc>
                <a:spcPts val="2265"/>
              </a:lnSpc>
            </a:pPr>
            <a:r>
              <a:rPr lang="en-US" sz="1599">
                <a:solidFill>
                  <a:srgbClr val="FFFFFF"/>
                </a:solidFill>
                <a:latin typeface="Montserrat"/>
                <a:ea typeface="Montserrat"/>
                <a:cs typeface="Montserrat"/>
                <a:sym typeface="Montserrat"/>
              </a:rPr>
              <a:t>API documentada en RUPTURAS.md: paginación, formato de errores y roles. Código y mensajes en español.</a:t>
            </a:r>
          </a:p>
        </p:txBody>
      </p:sp>
      <p:grpSp>
        <p:nvGrpSpPr>
          <p:cNvPr name="Group 20" id="20"/>
          <p:cNvGrpSpPr/>
          <p:nvPr/>
        </p:nvGrpSpPr>
        <p:grpSpPr>
          <a:xfrm rot="0">
            <a:off x="9052560" y="4389120"/>
            <a:ext cx="777240" cy="777240"/>
            <a:chOff x="0" y="0"/>
            <a:chExt cx="1036320" cy="1036320"/>
          </a:xfrm>
        </p:grpSpPr>
        <p:sp>
          <p:nvSpPr>
            <p:cNvPr name="Freeform 21" id="21" descr="image22.png"/>
            <p:cNvSpPr/>
            <p:nvPr/>
          </p:nvSpPr>
          <p:spPr>
            <a:xfrm flipH="false" flipV="false" rot="0">
              <a:off x="0" y="0"/>
              <a:ext cx="1036320" cy="1036320"/>
            </a:xfrm>
            <a:custGeom>
              <a:avLst/>
              <a:gdLst/>
              <a:ahLst/>
              <a:cxnLst/>
              <a:rect r="r" b="b" t="t" l="l"/>
              <a:pathLst>
                <a:path h="1036320" w="1036320">
                  <a:moveTo>
                    <a:pt x="0" y="0"/>
                  </a:moveTo>
                  <a:lnTo>
                    <a:pt x="1036320" y="0"/>
                  </a:lnTo>
                  <a:lnTo>
                    <a:pt x="1036320" y="1036320"/>
                  </a:lnTo>
                  <a:lnTo>
                    <a:pt x="0" y="1036320"/>
                  </a:lnTo>
                  <a:lnTo>
                    <a:pt x="0" y="0"/>
                  </a:lnTo>
                  <a:close/>
                </a:path>
              </a:pathLst>
            </a:custGeom>
            <a:blipFill>
              <a:blip r:embed="rId4"/>
              <a:stretch>
                <a:fillRect l="0" t="0" r="0" b="0"/>
              </a:stretch>
            </a:blipFill>
          </p:spPr>
        </p:sp>
      </p:grpSp>
      <p:grpSp>
        <p:nvGrpSpPr>
          <p:cNvPr name="Group 22" id="22"/>
          <p:cNvGrpSpPr/>
          <p:nvPr/>
        </p:nvGrpSpPr>
        <p:grpSpPr>
          <a:xfrm rot="0">
            <a:off x="9052560" y="4389120"/>
            <a:ext cx="777240" cy="777240"/>
            <a:chOff x="0" y="0"/>
            <a:chExt cx="1036320" cy="1036320"/>
          </a:xfrm>
        </p:grpSpPr>
        <p:sp>
          <p:nvSpPr>
            <p:cNvPr name="Freeform 23" id="23"/>
            <p:cNvSpPr/>
            <p:nvPr/>
          </p:nvSpPr>
          <p:spPr>
            <a:xfrm flipH="false" flipV="false" rot="0">
              <a:off x="0" y="0"/>
              <a:ext cx="1036320" cy="1036320"/>
            </a:xfrm>
            <a:custGeom>
              <a:avLst/>
              <a:gdLst/>
              <a:ahLst/>
              <a:cxnLst/>
              <a:rect r="r" b="b" t="t" l="l"/>
              <a:pathLst>
                <a:path h="1036320" w="1036320">
                  <a:moveTo>
                    <a:pt x="0" y="0"/>
                  </a:moveTo>
                  <a:lnTo>
                    <a:pt x="1036320" y="0"/>
                  </a:lnTo>
                  <a:lnTo>
                    <a:pt x="1036320" y="1036320"/>
                  </a:lnTo>
                  <a:lnTo>
                    <a:pt x="0" y="1036320"/>
                  </a:lnTo>
                  <a:close/>
                </a:path>
              </a:pathLst>
            </a:custGeom>
            <a:blipFill>
              <a:blip r:embed="rId5">
                <a:alphaModFix amt="0"/>
              </a:blip>
              <a:stretch>
                <a:fillRect l="-78303" t="0" r="-78303" b="0"/>
              </a:stretch>
            </a:blipFill>
          </p:spPr>
        </p:sp>
        <p:sp>
          <p:nvSpPr>
            <p:cNvPr name="TextBox 24" id="24"/>
            <p:cNvSpPr txBox="true"/>
            <p:nvPr/>
          </p:nvSpPr>
          <p:spPr>
            <a:xfrm>
              <a:off x="0" y="-76200"/>
              <a:ext cx="1036320" cy="1112520"/>
            </a:xfrm>
            <a:prstGeom prst="rect">
              <a:avLst/>
            </a:prstGeom>
          </p:spPr>
          <p:txBody>
            <a:bodyPr anchor="ctr" rtlCol="false" tIns="0" lIns="0" bIns="0" rIns="0"/>
            <a:lstStyle/>
            <a:p>
              <a:pPr algn="ctr">
                <a:lnSpc>
                  <a:spcPts val="2903"/>
                </a:lnSpc>
              </a:pPr>
              <a:r>
                <a:rPr lang="en-US" sz="2199" b="true">
                  <a:solidFill>
                    <a:srgbClr val="4ADE80"/>
                  </a:solidFill>
                  <a:latin typeface="Calibri (MS) Bold"/>
                  <a:ea typeface="Calibri (MS) Bold"/>
                  <a:cs typeface="Calibri (MS) Bold"/>
                  <a:sym typeface="Calibri (MS) Bold"/>
                </a:rPr>
                <a:t>✓</a:t>
              </a:r>
            </a:p>
          </p:txBody>
        </p:sp>
      </p:grpSp>
      <p:sp>
        <p:nvSpPr>
          <p:cNvPr name="TextBox 25" id="25"/>
          <p:cNvSpPr txBox="true"/>
          <p:nvPr/>
        </p:nvSpPr>
        <p:spPr>
          <a:xfrm rot="0">
            <a:off x="10104120" y="4305300"/>
            <a:ext cx="7589520" cy="1775460"/>
          </a:xfrm>
          <a:prstGeom prst="rect">
            <a:avLst/>
          </a:prstGeom>
        </p:spPr>
        <p:txBody>
          <a:bodyPr anchor="t" rtlCol="false" tIns="0" lIns="0" bIns="0" rIns="0">
            <a:spAutoFit/>
          </a:bodyPr>
          <a:lstStyle/>
          <a:p>
            <a:pPr algn="l">
              <a:lnSpc>
                <a:spcPts val="2548"/>
              </a:lnSpc>
            </a:pPr>
            <a:r>
              <a:rPr lang="en-US" sz="1800" b="true">
                <a:solidFill>
                  <a:srgbClr val="FFFFFF"/>
                </a:solidFill>
                <a:latin typeface="Montserrat Bold"/>
                <a:ea typeface="Montserrat Bold"/>
                <a:cs typeface="Montserrat Bold"/>
                <a:sym typeface="Montserrat Bold"/>
              </a:rPr>
              <a:t>Verificación del frontend</a:t>
            </a:r>
          </a:p>
          <a:p>
            <a:pPr algn="l">
              <a:lnSpc>
                <a:spcPts val="2265"/>
              </a:lnSpc>
            </a:pPr>
            <a:r>
              <a:rPr lang="en-US" sz="1599">
                <a:solidFill>
                  <a:srgbClr val="FFFFFF"/>
                </a:solidFill>
                <a:latin typeface="Montserrat"/>
                <a:ea typeface="Montserrat"/>
                <a:cs typeface="Montserrat"/>
                <a:sym typeface="Montserrat"/>
              </a:rPr>
              <a:t>La compilación de producción (next build) revisa los tipos de TypeScript.</a:t>
            </a:r>
          </a:p>
        </p:txBody>
      </p:sp>
      <p:grpSp>
        <p:nvGrpSpPr>
          <p:cNvPr name="Group 26" id="26"/>
          <p:cNvGrpSpPr/>
          <p:nvPr/>
        </p:nvGrpSpPr>
        <p:grpSpPr>
          <a:xfrm rot="0">
            <a:off x="9052560" y="6263640"/>
            <a:ext cx="777240" cy="777240"/>
            <a:chOff x="0" y="0"/>
            <a:chExt cx="1036320" cy="1036320"/>
          </a:xfrm>
        </p:grpSpPr>
        <p:sp>
          <p:nvSpPr>
            <p:cNvPr name="Freeform 27" id="27" descr="image22.png"/>
            <p:cNvSpPr/>
            <p:nvPr/>
          </p:nvSpPr>
          <p:spPr>
            <a:xfrm flipH="false" flipV="false" rot="0">
              <a:off x="0" y="0"/>
              <a:ext cx="1036320" cy="1036320"/>
            </a:xfrm>
            <a:custGeom>
              <a:avLst/>
              <a:gdLst/>
              <a:ahLst/>
              <a:cxnLst/>
              <a:rect r="r" b="b" t="t" l="l"/>
              <a:pathLst>
                <a:path h="1036320" w="1036320">
                  <a:moveTo>
                    <a:pt x="0" y="0"/>
                  </a:moveTo>
                  <a:lnTo>
                    <a:pt x="1036320" y="0"/>
                  </a:lnTo>
                  <a:lnTo>
                    <a:pt x="1036320" y="1036320"/>
                  </a:lnTo>
                  <a:lnTo>
                    <a:pt x="0" y="1036320"/>
                  </a:lnTo>
                  <a:lnTo>
                    <a:pt x="0" y="0"/>
                  </a:lnTo>
                  <a:close/>
                </a:path>
              </a:pathLst>
            </a:custGeom>
            <a:blipFill>
              <a:blip r:embed="rId4"/>
              <a:stretch>
                <a:fillRect l="0" t="0" r="0" b="0"/>
              </a:stretch>
            </a:blipFill>
          </p:spPr>
        </p:sp>
      </p:grpSp>
      <p:grpSp>
        <p:nvGrpSpPr>
          <p:cNvPr name="Group 28" id="28"/>
          <p:cNvGrpSpPr/>
          <p:nvPr/>
        </p:nvGrpSpPr>
        <p:grpSpPr>
          <a:xfrm rot="0">
            <a:off x="9052560" y="6263640"/>
            <a:ext cx="777240" cy="777240"/>
            <a:chOff x="0" y="0"/>
            <a:chExt cx="1036320" cy="1036320"/>
          </a:xfrm>
        </p:grpSpPr>
        <p:sp>
          <p:nvSpPr>
            <p:cNvPr name="Freeform 29" id="29"/>
            <p:cNvSpPr/>
            <p:nvPr/>
          </p:nvSpPr>
          <p:spPr>
            <a:xfrm flipH="false" flipV="false" rot="0">
              <a:off x="0" y="0"/>
              <a:ext cx="1036320" cy="1036320"/>
            </a:xfrm>
            <a:custGeom>
              <a:avLst/>
              <a:gdLst/>
              <a:ahLst/>
              <a:cxnLst/>
              <a:rect r="r" b="b" t="t" l="l"/>
              <a:pathLst>
                <a:path h="1036320" w="1036320">
                  <a:moveTo>
                    <a:pt x="0" y="0"/>
                  </a:moveTo>
                  <a:lnTo>
                    <a:pt x="1036320" y="0"/>
                  </a:lnTo>
                  <a:lnTo>
                    <a:pt x="1036320" y="1036320"/>
                  </a:lnTo>
                  <a:lnTo>
                    <a:pt x="0" y="1036320"/>
                  </a:lnTo>
                  <a:close/>
                </a:path>
              </a:pathLst>
            </a:custGeom>
            <a:blipFill>
              <a:blip r:embed="rId5">
                <a:alphaModFix amt="0"/>
              </a:blip>
              <a:stretch>
                <a:fillRect l="-78303" t="0" r="-78303" b="0"/>
              </a:stretch>
            </a:blipFill>
          </p:spPr>
        </p:sp>
        <p:sp>
          <p:nvSpPr>
            <p:cNvPr name="TextBox 30" id="30"/>
            <p:cNvSpPr txBox="true"/>
            <p:nvPr/>
          </p:nvSpPr>
          <p:spPr>
            <a:xfrm>
              <a:off x="0" y="-76200"/>
              <a:ext cx="1036320" cy="1112520"/>
            </a:xfrm>
            <a:prstGeom prst="rect">
              <a:avLst/>
            </a:prstGeom>
          </p:spPr>
          <p:txBody>
            <a:bodyPr anchor="ctr" rtlCol="false" tIns="0" lIns="0" bIns="0" rIns="0"/>
            <a:lstStyle/>
            <a:p>
              <a:pPr algn="ctr">
                <a:lnSpc>
                  <a:spcPts val="2903"/>
                </a:lnSpc>
              </a:pPr>
              <a:r>
                <a:rPr lang="en-US" sz="2199" b="true">
                  <a:solidFill>
                    <a:srgbClr val="4ADE80"/>
                  </a:solidFill>
                  <a:latin typeface="Calibri (MS) Bold"/>
                  <a:ea typeface="Calibri (MS) Bold"/>
                  <a:cs typeface="Calibri (MS) Bold"/>
                  <a:sym typeface="Calibri (MS) Bold"/>
                </a:rPr>
                <a:t>✓</a:t>
              </a:r>
            </a:p>
          </p:txBody>
        </p:sp>
      </p:grpSp>
      <p:sp>
        <p:nvSpPr>
          <p:cNvPr name="TextBox 31" id="31"/>
          <p:cNvSpPr txBox="true"/>
          <p:nvPr/>
        </p:nvSpPr>
        <p:spPr>
          <a:xfrm rot="0">
            <a:off x="10104120" y="6179820"/>
            <a:ext cx="7589520" cy="1775460"/>
          </a:xfrm>
          <a:prstGeom prst="rect">
            <a:avLst/>
          </a:prstGeom>
        </p:spPr>
        <p:txBody>
          <a:bodyPr anchor="t" rtlCol="false" tIns="0" lIns="0" bIns="0" rIns="0">
            <a:spAutoFit/>
          </a:bodyPr>
          <a:lstStyle/>
          <a:p>
            <a:pPr algn="l">
              <a:lnSpc>
                <a:spcPts val="2548"/>
              </a:lnSpc>
            </a:pPr>
            <a:r>
              <a:rPr lang="en-US" sz="1800" b="true">
                <a:solidFill>
                  <a:srgbClr val="FFFFFF"/>
                </a:solidFill>
                <a:latin typeface="Montserrat Bold"/>
                <a:ea typeface="Montserrat Bold"/>
                <a:cs typeface="Montserrat Bold"/>
                <a:sym typeface="Montserrat Bold"/>
              </a:rPr>
              <a:t>Estrategia de ramas</a:t>
            </a:r>
          </a:p>
          <a:p>
            <a:pPr algn="l">
              <a:lnSpc>
                <a:spcPts val="2265"/>
              </a:lnSpc>
            </a:pPr>
            <a:r>
              <a:rPr lang="en-US" sz="1599">
                <a:solidFill>
                  <a:srgbClr val="FFFFFF"/>
                </a:solidFill>
                <a:latin typeface="Montserrat"/>
                <a:ea typeface="Montserrat"/>
                <a:cs typeface="Montserrat"/>
                <a:sym typeface="Montserrat"/>
              </a:rPr>
              <a:t>Una rama por funcionalidad, fusionada a main solo después de pasar la suite.</a:t>
            </a:r>
          </a:p>
        </p:txBody>
      </p:sp>
      <p:grpSp>
        <p:nvGrpSpPr>
          <p:cNvPr name="Group 32" id="32"/>
          <p:cNvGrpSpPr/>
          <p:nvPr/>
        </p:nvGrpSpPr>
        <p:grpSpPr>
          <a:xfrm rot="0">
            <a:off x="9052560" y="8138160"/>
            <a:ext cx="777240" cy="777240"/>
            <a:chOff x="0" y="0"/>
            <a:chExt cx="1036320" cy="1036320"/>
          </a:xfrm>
        </p:grpSpPr>
        <p:sp>
          <p:nvSpPr>
            <p:cNvPr name="Freeform 33" id="33" descr="image22.png"/>
            <p:cNvSpPr/>
            <p:nvPr/>
          </p:nvSpPr>
          <p:spPr>
            <a:xfrm flipH="false" flipV="false" rot="0">
              <a:off x="0" y="0"/>
              <a:ext cx="1036320" cy="1036320"/>
            </a:xfrm>
            <a:custGeom>
              <a:avLst/>
              <a:gdLst/>
              <a:ahLst/>
              <a:cxnLst/>
              <a:rect r="r" b="b" t="t" l="l"/>
              <a:pathLst>
                <a:path h="1036320" w="1036320">
                  <a:moveTo>
                    <a:pt x="0" y="0"/>
                  </a:moveTo>
                  <a:lnTo>
                    <a:pt x="1036320" y="0"/>
                  </a:lnTo>
                  <a:lnTo>
                    <a:pt x="1036320" y="1036320"/>
                  </a:lnTo>
                  <a:lnTo>
                    <a:pt x="0" y="1036320"/>
                  </a:lnTo>
                  <a:lnTo>
                    <a:pt x="0" y="0"/>
                  </a:lnTo>
                  <a:close/>
                </a:path>
              </a:pathLst>
            </a:custGeom>
            <a:blipFill>
              <a:blip r:embed="rId4"/>
              <a:stretch>
                <a:fillRect l="0" t="0" r="0" b="0"/>
              </a:stretch>
            </a:blipFill>
          </p:spPr>
        </p:sp>
      </p:grpSp>
      <p:grpSp>
        <p:nvGrpSpPr>
          <p:cNvPr name="Group 34" id="34"/>
          <p:cNvGrpSpPr/>
          <p:nvPr/>
        </p:nvGrpSpPr>
        <p:grpSpPr>
          <a:xfrm rot="0">
            <a:off x="9052560" y="8138160"/>
            <a:ext cx="777240" cy="777240"/>
            <a:chOff x="0" y="0"/>
            <a:chExt cx="1036320" cy="1036320"/>
          </a:xfrm>
        </p:grpSpPr>
        <p:sp>
          <p:nvSpPr>
            <p:cNvPr name="Freeform 35" id="35"/>
            <p:cNvSpPr/>
            <p:nvPr/>
          </p:nvSpPr>
          <p:spPr>
            <a:xfrm flipH="false" flipV="false" rot="0">
              <a:off x="0" y="0"/>
              <a:ext cx="1036320" cy="1036320"/>
            </a:xfrm>
            <a:custGeom>
              <a:avLst/>
              <a:gdLst/>
              <a:ahLst/>
              <a:cxnLst/>
              <a:rect r="r" b="b" t="t" l="l"/>
              <a:pathLst>
                <a:path h="1036320" w="1036320">
                  <a:moveTo>
                    <a:pt x="0" y="0"/>
                  </a:moveTo>
                  <a:lnTo>
                    <a:pt x="1036320" y="0"/>
                  </a:lnTo>
                  <a:lnTo>
                    <a:pt x="1036320" y="1036320"/>
                  </a:lnTo>
                  <a:lnTo>
                    <a:pt x="0" y="1036320"/>
                  </a:lnTo>
                  <a:close/>
                </a:path>
              </a:pathLst>
            </a:custGeom>
            <a:blipFill>
              <a:blip r:embed="rId5">
                <a:alphaModFix amt="0"/>
              </a:blip>
              <a:stretch>
                <a:fillRect l="-78303" t="0" r="-78303" b="0"/>
              </a:stretch>
            </a:blipFill>
          </p:spPr>
        </p:sp>
        <p:sp>
          <p:nvSpPr>
            <p:cNvPr name="TextBox 36" id="36"/>
            <p:cNvSpPr txBox="true"/>
            <p:nvPr/>
          </p:nvSpPr>
          <p:spPr>
            <a:xfrm>
              <a:off x="0" y="-28575"/>
              <a:ext cx="1036320" cy="1064895"/>
            </a:xfrm>
            <a:prstGeom prst="rect">
              <a:avLst/>
            </a:prstGeom>
          </p:spPr>
          <p:txBody>
            <a:bodyPr anchor="ctr" rtlCol="false" tIns="0" lIns="0" bIns="0" rIns="0"/>
            <a:lstStyle/>
            <a:p>
              <a:pPr algn="ctr">
                <a:lnSpc>
                  <a:spcPts val="2903"/>
                </a:lnSpc>
              </a:pPr>
              <a:r>
                <a:rPr lang="en-US" sz="2199" b="true">
                  <a:solidFill>
                    <a:srgbClr val="FBA94C"/>
                  </a:solidFill>
                  <a:latin typeface="Montserrat Bold"/>
                  <a:ea typeface="Montserrat Bold"/>
                  <a:cs typeface="Montserrat Bold"/>
                  <a:sym typeface="Montserrat Bold"/>
                </a:rPr>
                <a:t>!</a:t>
              </a:r>
            </a:p>
          </p:txBody>
        </p:sp>
      </p:grpSp>
      <p:sp>
        <p:nvSpPr>
          <p:cNvPr name="TextBox 37" id="37"/>
          <p:cNvSpPr txBox="true"/>
          <p:nvPr/>
        </p:nvSpPr>
        <p:spPr>
          <a:xfrm rot="0">
            <a:off x="10104120" y="8054340"/>
            <a:ext cx="7589520" cy="1775460"/>
          </a:xfrm>
          <a:prstGeom prst="rect">
            <a:avLst/>
          </a:prstGeom>
        </p:spPr>
        <p:txBody>
          <a:bodyPr anchor="t" rtlCol="false" tIns="0" lIns="0" bIns="0" rIns="0">
            <a:spAutoFit/>
          </a:bodyPr>
          <a:lstStyle/>
          <a:p>
            <a:pPr algn="l">
              <a:lnSpc>
                <a:spcPts val="2548"/>
              </a:lnSpc>
            </a:pPr>
            <a:r>
              <a:rPr lang="en-US" sz="1800" b="true">
                <a:solidFill>
                  <a:srgbClr val="FFFFFF"/>
                </a:solidFill>
                <a:latin typeface="Montserrat Bold"/>
                <a:ea typeface="Montserrat Bold"/>
                <a:cs typeface="Montserrat Bold"/>
                <a:sym typeface="Montserrat Bold"/>
              </a:rPr>
              <a:t>Sin linter ni pull requests</a:t>
            </a:r>
          </a:p>
          <a:p>
            <a:pPr algn="l">
              <a:lnSpc>
                <a:spcPts val="2265"/>
              </a:lnSpc>
            </a:pPr>
            <a:r>
              <a:rPr lang="en-US" sz="1599">
                <a:solidFill>
                  <a:srgbClr val="FFFFFF"/>
                </a:solidFill>
                <a:latin typeface="Montserrat"/>
                <a:ea typeface="Montserrat"/>
                <a:cs typeface="Montserrat"/>
                <a:sym typeface="Montserrat"/>
              </a:rPr>
              <a:t>No hay linter configurado y la fusión a main del 14 de octubre se hizo de forma local.</a:t>
            </a:r>
          </a:p>
        </p:txBody>
      </p:sp>
    </p:spTree>
  </p:cSld>
  <p:clrMapOvr>
    <a:masterClrMapping/>
  </p:clrMapOvr>
</p:sld>
</file>

<file path=ppt/slides/slide1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24384000" cy="13716000"/>
          </a:xfrm>
        </p:grpSpPr>
        <p:sp>
          <p:nvSpPr>
            <p:cNvPr name="Freeform 3" id="3" descr="fondo11_60.jpg"/>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lnTo>
                    <a:pt x="0" y="0"/>
                  </a:lnTo>
                  <a:close/>
                </a:path>
              </a:pathLst>
            </a:custGeom>
            <a:blipFill>
              <a:blip r:embed="rId2"/>
              <a:stretch>
                <a:fillRect l="0" t="-666" r="0" b="-666"/>
              </a:stretch>
            </a:blipFill>
          </p:spPr>
        </p:sp>
      </p:grpSp>
      <p:sp>
        <p:nvSpPr>
          <p:cNvPr name="TextBox 4" id="4"/>
          <p:cNvSpPr txBox="true"/>
          <p:nvPr/>
        </p:nvSpPr>
        <p:spPr>
          <a:xfrm rot="0">
            <a:off x="914400" y="355473"/>
            <a:ext cx="16459200" cy="760095"/>
          </a:xfrm>
          <a:prstGeom prst="rect">
            <a:avLst/>
          </a:prstGeom>
        </p:spPr>
        <p:txBody>
          <a:bodyPr anchor="t" rtlCol="false" tIns="0" lIns="0" bIns="0" rIns="0">
            <a:spAutoFit/>
          </a:bodyPr>
          <a:lstStyle/>
          <a:p>
            <a:pPr algn="ctr">
              <a:lnSpc>
                <a:spcPts val="3960"/>
              </a:lnSpc>
            </a:pPr>
            <a:r>
              <a:rPr lang="en-US" sz="3000">
                <a:solidFill>
                  <a:srgbClr val="FFFFFF"/>
                </a:solidFill>
                <a:latin typeface="Montserrat Light"/>
                <a:ea typeface="Montserrat Light"/>
                <a:cs typeface="Montserrat Light"/>
                <a:sym typeface="Montserrat Light"/>
              </a:rPr>
              <a:t>REPOSITORIO</a:t>
            </a:r>
          </a:p>
        </p:txBody>
      </p:sp>
      <p:sp>
        <p:nvSpPr>
          <p:cNvPr name="TextBox 5" id="5"/>
          <p:cNvSpPr txBox="true"/>
          <p:nvPr/>
        </p:nvSpPr>
        <p:spPr>
          <a:xfrm rot="0">
            <a:off x="914400" y="912495"/>
            <a:ext cx="16459200" cy="1144905"/>
          </a:xfrm>
          <a:prstGeom prst="rect">
            <a:avLst/>
          </a:prstGeom>
        </p:spPr>
        <p:txBody>
          <a:bodyPr anchor="t" rtlCol="false" tIns="0" lIns="0" bIns="0" rIns="0">
            <a:spAutoFit/>
          </a:bodyPr>
          <a:lstStyle/>
          <a:p>
            <a:pPr algn="ctr">
              <a:lnSpc>
                <a:spcPts val="6863"/>
              </a:lnSpc>
            </a:pPr>
            <a:r>
              <a:rPr lang="en-US" sz="5199" b="true">
                <a:solidFill>
                  <a:srgbClr val="FFFFFF"/>
                </a:solidFill>
                <a:latin typeface="Montserrat Bold"/>
                <a:ea typeface="Montserrat Bold"/>
                <a:cs typeface="Montserrat Bold"/>
                <a:sym typeface="Montserrat Bold"/>
              </a:rPr>
              <a:t>GIT</a:t>
            </a:r>
          </a:p>
        </p:txBody>
      </p:sp>
      <p:grpSp>
        <p:nvGrpSpPr>
          <p:cNvPr name="Group 6" id="6"/>
          <p:cNvGrpSpPr/>
          <p:nvPr/>
        </p:nvGrpSpPr>
        <p:grpSpPr>
          <a:xfrm rot="0">
            <a:off x="731520" y="2468880"/>
            <a:ext cx="8138160" cy="6103620"/>
            <a:chOff x="0" y="0"/>
            <a:chExt cx="10850880" cy="8138160"/>
          </a:xfrm>
        </p:grpSpPr>
        <p:sp>
          <p:nvSpPr>
            <p:cNvPr name="Freeform 7" id="7" descr="tree_duoc.png"/>
            <p:cNvSpPr/>
            <p:nvPr/>
          </p:nvSpPr>
          <p:spPr>
            <a:xfrm flipH="false" flipV="false" rot="0">
              <a:off x="0" y="0"/>
              <a:ext cx="10850880" cy="8138160"/>
            </a:xfrm>
            <a:custGeom>
              <a:avLst/>
              <a:gdLst/>
              <a:ahLst/>
              <a:cxnLst/>
              <a:rect r="r" b="b" t="t" l="l"/>
              <a:pathLst>
                <a:path h="8138160" w="10850880">
                  <a:moveTo>
                    <a:pt x="0" y="0"/>
                  </a:moveTo>
                  <a:lnTo>
                    <a:pt x="10850880" y="0"/>
                  </a:lnTo>
                  <a:lnTo>
                    <a:pt x="10850880" y="8138160"/>
                  </a:lnTo>
                  <a:lnTo>
                    <a:pt x="0" y="8138160"/>
                  </a:lnTo>
                  <a:lnTo>
                    <a:pt x="0" y="0"/>
                  </a:lnTo>
                  <a:close/>
                </a:path>
              </a:pathLst>
            </a:custGeom>
            <a:blipFill>
              <a:blip r:embed="rId3"/>
              <a:stretch>
                <a:fillRect l="0" t="0" r="0" b="0"/>
              </a:stretch>
            </a:blipFill>
          </p:spPr>
        </p:sp>
      </p:grpSp>
      <p:sp>
        <p:nvSpPr>
          <p:cNvPr name="TextBox 8" id="8"/>
          <p:cNvSpPr txBox="true"/>
          <p:nvPr/>
        </p:nvSpPr>
        <p:spPr>
          <a:xfrm rot="0">
            <a:off x="731520" y="8608314"/>
            <a:ext cx="8138160" cy="293370"/>
          </a:xfrm>
          <a:prstGeom prst="rect">
            <a:avLst/>
          </a:prstGeom>
        </p:spPr>
        <p:txBody>
          <a:bodyPr anchor="t" rtlCol="false" tIns="0" lIns="0" bIns="0" rIns="0">
            <a:spAutoFit/>
          </a:bodyPr>
          <a:lstStyle/>
          <a:p>
            <a:pPr algn="ctr">
              <a:lnSpc>
                <a:spcPts val="1319"/>
              </a:lnSpc>
            </a:pPr>
            <a:r>
              <a:rPr lang="en-US" sz="999">
                <a:solidFill>
                  <a:srgbClr val="C9D2F0"/>
                </a:solidFill>
                <a:latin typeface="Montserrat"/>
                <a:ea typeface="Montserrat"/>
                <a:cs typeface="Montserrat"/>
                <a:sym typeface="Montserrat"/>
              </a:rPr>
              <a:t>Estructura del repositorio de documentación (14-oct-2026)</a:t>
            </a:r>
          </a:p>
        </p:txBody>
      </p:sp>
      <p:grpSp>
        <p:nvGrpSpPr>
          <p:cNvPr name="Group 9" id="9"/>
          <p:cNvGrpSpPr/>
          <p:nvPr/>
        </p:nvGrpSpPr>
        <p:grpSpPr>
          <a:xfrm rot="0">
            <a:off x="9372600" y="2542032"/>
            <a:ext cx="731520" cy="731520"/>
            <a:chOff x="0" y="0"/>
            <a:chExt cx="975360" cy="975360"/>
          </a:xfrm>
        </p:grpSpPr>
        <p:sp>
          <p:nvSpPr>
            <p:cNvPr name="Freeform 10" id="10" descr="image48.png"/>
            <p:cNvSpPr/>
            <p:nvPr/>
          </p:nvSpPr>
          <p:spPr>
            <a:xfrm flipH="false" flipV="false" rot="0">
              <a:off x="0" y="0"/>
              <a:ext cx="975360" cy="975360"/>
            </a:xfrm>
            <a:custGeom>
              <a:avLst/>
              <a:gdLst/>
              <a:ahLst/>
              <a:cxnLst/>
              <a:rect r="r" b="b" t="t" l="l"/>
              <a:pathLst>
                <a:path h="975360" w="975360">
                  <a:moveTo>
                    <a:pt x="0" y="0"/>
                  </a:moveTo>
                  <a:lnTo>
                    <a:pt x="975360" y="0"/>
                  </a:lnTo>
                  <a:lnTo>
                    <a:pt x="975360" y="975360"/>
                  </a:lnTo>
                  <a:lnTo>
                    <a:pt x="0" y="975360"/>
                  </a:lnTo>
                  <a:lnTo>
                    <a:pt x="0" y="0"/>
                  </a:lnTo>
                  <a:close/>
                </a:path>
              </a:pathLst>
            </a:custGeom>
            <a:blipFill>
              <a:blip r:embed="rId4"/>
              <a:stretch>
                <a:fillRect l="0" t="0" r="0" b="0"/>
              </a:stretch>
            </a:blipFill>
          </p:spPr>
        </p:sp>
      </p:grpSp>
      <p:sp>
        <p:nvSpPr>
          <p:cNvPr name="TextBox 11" id="11"/>
          <p:cNvSpPr txBox="true"/>
          <p:nvPr/>
        </p:nvSpPr>
        <p:spPr>
          <a:xfrm rot="0">
            <a:off x="10332720" y="2440305"/>
            <a:ext cx="7315200" cy="1765935"/>
          </a:xfrm>
          <a:prstGeom prst="rect">
            <a:avLst/>
          </a:prstGeom>
        </p:spPr>
        <p:txBody>
          <a:bodyPr anchor="t" rtlCol="false" tIns="0" lIns="0" bIns="0" rIns="0">
            <a:spAutoFit/>
          </a:bodyPr>
          <a:lstStyle/>
          <a:p>
            <a:pPr algn="l">
              <a:lnSpc>
                <a:spcPts val="2483"/>
              </a:lnSpc>
            </a:pPr>
            <a:r>
              <a:rPr lang="en-US" sz="1800" b="true">
                <a:solidFill>
                  <a:srgbClr val="FFFFFF"/>
                </a:solidFill>
                <a:latin typeface="Montserrat Bold"/>
                <a:ea typeface="Montserrat Bold"/>
                <a:cs typeface="Montserrat Bold"/>
                <a:sym typeface="Montserrat Bold"/>
              </a:rPr>
              <a:t>Documentación DUOC (público)</a:t>
            </a:r>
          </a:p>
          <a:p>
            <a:pPr algn="l">
              <a:lnSpc>
                <a:spcPts val="2070"/>
              </a:lnSpc>
            </a:pPr>
            <a:r>
              <a:rPr lang="en-US" sz="1500">
                <a:solidFill>
                  <a:srgbClr val="FFFFFF"/>
                </a:solidFill>
                <a:latin typeface="Montserrat"/>
                <a:ea typeface="Montserrat"/>
                <a:cs typeface="Montserrat"/>
                <a:sym typeface="Montserrat"/>
              </a:rPr>
              <a:t>github.com/Dntex2/proyecto-capstone-acredittia-administracion</a:t>
            </a:r>
          </a:p>
        </p:txBody>
      </p:sp>
      <p:grpSp>
        <p:nvGrpSpPr>
          <p:cNvPr name="Group 12" id="12"/>
          <p:cNvGrpSpPr/>
          <p:nvPr/>
        </p:nvGrpSpPr>
        <p:grpSpPr>
          <a:xfrm rot="0">
            <a:off x="9372600" y="4370832"/>
            <a:ext cx="731520" cy="731520"/>
            <a:chOff x="0" y="0"/>
            <a:chExt cx="975360" cy="975360"/>
          </a:xfrm>
        </p:grpSpPr>
        <p:sp>
          <p:nvSpPr>
            <p:cNvPr name="Freeform 13" id="13" descr="image48.png"/>
            <p:cNvSpPr/>
            <p:nvPr/>
          </p:nvSpPr>
          <p:spPr>
            <a:xfrm flipH="false" flipV="false" rot="0">
              <a:off x="0" y="0"/>
              <a:ext cx="975360" cy="975360"/>
            </a:xfrm>
            <a:custGeom>
              <a:avLst/>
              <a:gdLst/>
              <a:ahLst/>
              <a:cxnLst/>
              <a:rect r="r" b="b" t="t" l="l"/>
              <a:pathLst>
                <a:path h="975360" w="975360">
                  <a:moveTo>
                    <a:pt x="0" y="0"/>
                  </a:moveTo>
                  <a:lnTo>
                    <a:pt x="975360" y="0"/>
                  </a:lnTo>
                  <a:lnTo>
                    <a:pt x="975360" y="975360"/>
                  </a:lnTo>
                  <a:lnTo>
                    <a:pt x="0" y="975360"/>
                  </a:lnTo>
                  <a:lnTo>
                    <a:pt x="0" y="0"/>
                  </a:lnTo>
                  <a:close/>
                </a:path>
              </a:pathLst>
            </a:custGeom>
            <a:blipFill>
              <a:blip r:embed="rId4"/>
              <a:stretch>
                <a:fillRect l="0" t="0" r="0" b="0"/>
              </a:stretch>
            </a:blipFill>
          </p:spPr>
        </p:sp>
      </p:grpSp>
      <p:sp>
        <p:nvSpPr>
          <p:cNvPr name="TextBox 14" id="14"/>
          <p:cNvSpPr txBox="true"/>
          <p:nvPr/>
        </p:nvSpPr>
        <p:spPr>
          <a:xfrm rot="0">
            <a:off x="10332720" y="4269105"/>
            <a:ext cx="7315200" cy="1765935"/>
          </a:xfrm>
          <a:prstGeom prst="rect">
            <a:avLst/>
          </a:prstGeom>
        </p:spPr>
        <p:txBody>
          <a:bodyPr anchor="t" rtlCol="false" tIns="0" lIns="0" bIns="0" rIns="0">
            <a:spAutoFit/>
          </a:bodyPr>
          <a:lstStyle/>
          <a:p>
            <a:pPr algn="l">
              <a:lnSpc>
                <a:spcPts val="2483"/>
              </a:lnSpc>
            </a:pPr>
            <a:r>
              <a:rPr lang="en-US" sz="1800" b="true">
                <a:solidFill>
                  <a:srgbClr val="FFFFFF"/>
                </a:solidFill>
                <a:latin typeface="Montserrat Bold"/>
                <a:ea typeface="Montserrat Bold"/>
                <a:cs typeface="Montserrat Bold"/>
                <a:sym typeface="Montserrat Bold"/>
              </a:rPr>
              <a:t>Carpetas</a:t>
            </a:r>
          </a:p>
          <a:p>
            <a:pPr algn="l">
              <a:lnSpc>
                <a:spcPts val="2070"/>
              </a:lnSpc>
            </a:pPr>
            <a:r>
              <a:rPr lang="en-US" sz="1500">
                <a:solidFill>
                  <a:srgbClr val="FFFFFF"/>
                </a:solidFill>
                <a:latin typeface="Montserrat"/>
                <a:ea typeface="Montserrat"/>
                <a:cs typeface="Montserrat"/>
                <a:sym typeface="Montserrat"/>
              </a:rPr>
              <a:t>FASE 1/: informe y guía, autoevaluaciones y diarios por integrante, y presentación. Evaluacion 2/: documentos de la Fase 2.</a:t>
            </a:r>
          </a:p>
        </p:txBody>
      </p:sp>
      <p:grpSp>
        <p:nvGrpSpPr>
          <p:cNvPr name="Group 15" id="15"/>
          <p:cNvGrpSpPr/>
          <p:nvPr/>
        </p:nvGrpSpPr>
        <p:grpSpPr>
          <a:xfrm rot="0">
            <a:off x="9372600" y="6199632"/>
            <a:ext cx="731520" cy="731520"/>
            <a:chOff x="0" y="0"/>
            <a:chExt cx="975360" cy="975360"/>
          </a:xfrm>
        </p:grpSpPr>
        <p:sp>
          <p:nvSpPr>
            <p:cNvPr name="Freeform 16" id="16" descr="image48.png"/>
            <p:cNvSpPr/>
            <p:nvPr/>
          </p:nvSpPr>
          <p:spPr>
            <a:xfrm flipH="false" flipV="false" rot="0">
              <a:off x="0" y="0"/>
              <a:ext cx="975360" cy="975360"/>
            </a:xfrm>
            <a:custGeom>
              <a:avLst/>
              <a:gdLst/>
              <a:ahLst/>
              <a:cxnLst/>
              <a:rect r="r" b="b" t="t" l="l"/>
              <a:pathLst>
                <a:path h="975360" w="975360">
                  <a:moveTo>
                    <a:pt x="0" y="0"/>
                  </a:moveTo>
                  <a:lnTo>
                    <a:pt x="975360" y="0"/>
                  </a:lnTo>
                  <a:lnTo>
                    <a:pt x="975360" y="975360"/>
                  </a:lnTo>
                  <a:lnTo>
                    <a:pt x="0" y="975360"/>
                  </a:lnTo>
                  <a:lnTo>
                    <a:pt x="0" y="0"/>
                  </a:lnTo>
                  <a:close/>
                </a:path>
              </a:pathLst>
            </a:custGeom>
            <a:blipFill>
              <a:blip r:embed="rId4"/>
              <a:stretch>
                <a:fillRect l="0" t="0" r="0" b="0"/>
              </a:stretch>
            </a:blipFill>
          </p:spPr>
        </p:sp>
      </p:grpSp>
      <p:sp>
        <p:nvSpPr>
          <p:cNvPr name="TextBox 17" id="17"/>
          <p:cNvSpPr txBox="true"/>
          <p:nvPr/>
        </p:nvSpPr>
        <p:spPr>
          <a:xfrm rot="0">
            <a:off x="10332720" y="6097905"/>
            <a:ext cx="7315200" cy="1765935"/>
          </a:xfrm>
          <a:prstGeom prst="rect">
            <a:avLst/>
          </a:prstGeom>
        </p:spPr>
        <p:txBody>
          <a:bodyPr anchor="t" rtlCol="false" tIns="0" lIns="0" bIns="0" rIns="0">
            <a:spAutoFit/>
          </a:bodyPr>
          <a:lstStyle/>
          <a:p>
            <a:pPr algn="l">
              <a:lnSpc>
                <a:spcPts val="2483"/>
              </a:lnSpc>
            </a:pPr>
            <a:r>
              <a:rPr lang="en-US" sz="1800" b="true">
                <a:solidFill>
                  <a:srgbClr val="FFFFFF"/>
                </a:solidFill>
                <a:latin typeface="Montserrat Bold"/>
                <a:ea typeface="Montserrat Bold"/>
                <a:cs typeface="Montserrat Bold"/>
                <a:sym typeface="Montserrat Bold"/>
              </a:rPr>
              <a:t>README</a:t>
            </a:r>
          </a:p>
          <a:p>
            <a:pPr algn="l">
              <a:lnSpc>
                <a:spcPts val="2070"/>
              </a:lnSpc>
            </a:pPr>
            <a:r>
              <a:rPr lang="en-US" sz="1500">
                <a:solidFill>
                  <a:srgbClr val="FFFFFF"/>
                </a:solidFill>
                <a:latin typeface="Montserrat"/>
                <a:ea typeface="Montserrat"/>
                <a:cs typeface="Montserrat"/>
                <a:sym typeface="Montserrat"/>
              </a:rPr>
              <a:t>En la raíz, con la información del proyecto y los integrantes.</a:t>
            </a:r>
          </a:p>
        </p:txBody>
      </p:sp>
      <p:grpSp>
        <p:nvGrpSpPr>
          <p:cNvPr name="Group 18" id="18"/>
          <p:cNvGrpSpPr/>
          <p:nvPr/>
        </p:nvGrpSpPr>
        <p:grpSpPr>
          <a:xfrm rot="0">
            <a:off x="9372600" y="8028432"/>
            <a:ext cx="731520" cy="731520"/>
            <a:chOff x="0" y="0"/>
            <a:chExt cx="975360" cy="975360"/>
          </a:xfrm>
        </p:grpSpPr>
        <p:sp>
          <p:nvSpPr>
            <p:cNvPr name="Freeform 19" id="19" descr="image48.png"/>
            <p:cNvSpPr/>
            <p:nvPr/>
          </p:nvSpPr>
          <p:spPr>
            <a:xfrm flipH="false" flipV="false" rot="0">
              <a:off x="0" y="0"/>
              <a:ext cx="975360" cy="975360"/>
            </a:xfrm>
            <a:custGeom>
              <a:avLst/>
              <a:gdLst/>
              <a:ahLst/>
              <a:cxnLst/>
              <a:rect r="r" b="b" t="t" l="l"/>
              <a:pathLst>
                <a:path h="975360" w="975360">
                  <a:moveTo>
                    <a:pt x="0" y="0"/>
                  </a:moveTo>
                  <a:lnTo>
                    <a:pt x="975360" y="0"/>
                  </a:lnTo>
                  <a:lnTo>
                    <a:pt x="975360" y="975360"/>
                  </a:lnTo>
                  <a:lnTo>
                    <a:pt x="0" y="975360"/>
                  </a:lnTo>
                  <a:lnTo>
                    <a:pt x="0" y="0"/>
                  </a:lnTo>
                  <a:close/>
                </a:path>
              </a:pathLst>
            </a:custGeom>
            <a:blipFill>
              <a:blip r:embed="rId4"/>
              <a:stretch>
                <a:fillRect l="0" t="0" r="0" b="0"/>
              </a:stretch>
            </a:blipFill>
          </p:spPr>
        </p:sp>
      </p:grpSp>
      <p:sp>
        <p:nvSpPr>
          <p:cNvPr name="TextBox 20" id="20"/>
          <p:cNvSpPr txBox="true"/>
          <p:nvPr/>
        </p:nvSpPr>
        <p:spPr>
          <a:xfrm rot="0">
            <a:off x="10332720" y="7926705"/>
            <a:ext cx="7315200" cy="1765935"/>
          </a:xfrm>
          <a:prstGeom prst="rect">
            <a:avLst/>
          </a:prstGeom>
        </p:spPr>
        <p:txBody>
          <a:bodyPr anchor="t" rtlCol="false" tIns="0" lIns="0" bIns="0" rIns="0">
            <a:spAutoFit/>
          </a:bodyPr>
          <a:lstStyle/>
          <a:p>
            <a:pPr algn="l">
              <a:lnSpc>
                <a:spcPts val="2483"/>
              </a:lnSpc>
            </a:pPr>
            <a:r>
              <a:rPr lang="en-US" sz="1800" b="true">
                <a:solidFill>
                  <a:srgbClr val="FFFFFF"/>
                </a:solidFill>
                <a:latin typeface="Montserrat Bold"/>
                <a:ea typeface="Montserrat Bold"/>
                <a:cs typeface="Montserrat Bold"/>
                <a:sym typeface="Montserrat Bold"/>
              </a:rPr>
              <a:t>Código (privado)</a:t>
            </a:r>
          </a:p>
          <a:p>
            <a:pPr algn="l">
              <a:lnSpc>
                <a:spcPts val="2070"/>
              </a:lnSpc>
            </a:pPr>
            <a:r>
              <a:rPr lang="en-US" sz="1500">
                <a:solidFill>
                  <a:srgbClr val="FFFFFF"/>
                </a:solidFill>
                <a:latin typeface="Montserrat"/>
                <a:ea typeface="Montserrat"/>
                <a:cs typeface="Montserrat"/>
                <a:sym typeface="Montserrat"/>
              </a:rPr>
              <a:t>github.com/Dntex2/Acredittia-Administracion: solo el código de Acredittia. Ramas main, requerimientos-gonzalo y correcciones-revision.</a:t>
            </a:r>
          </a:p>
        </p:txBody>
      </p:sp>
    </p:spTree>
  </p:cSld>
  <p:clrMapOvr>
    <a:masterClrMapping/>
  </p:clrMapOvr>
</p:sld>
</file>

<file path=ppt/slides/slide1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24384000" cy="13716000"/>
          </a:xfrm>
        </p:grpSpPr>
        <p:sp>
          <p:nvSpPr>
            <p:cNvPr name="Freeform 3" id="3" descr="fondo37_55.jpg"/>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lnTo>
                    <a:pt x="0" y="0"/>
                  </a:lnTo>
                  <a:close/>
                </a:path>
              </a:pathLst>
            </a:custGeom>
            <a:blipFill>
              <a:blip r:embed="rId2"/>
              <a:stretch>
                <a:fillRect l="0" t="-666" r="0" b="-666"/>
              </a:stretch>
            </a:blipFill>
          </p:spPr>
        </p:sp>
      </p:grpSp>
      <p:sp>
        <p:nvSpPr>
          <p:cNvPr name="TextBox 4" id="4"/>
          <p:cNvSpPr txBox="true"/>
          <p:nvPr/>
        </p:nvSpPr>
        <p:spPr>
          <a:xfrm rot="0">
            <a:off x="914400" y="355473"/>
            <a:ext cx="16459200" cy="760095"/>
          </a:xfrm>
          <a:prstGeom prst="rect">
            <a:avLst/>
          </a:prstGeom>
        </p:spPr>
        <p:txBody>
          <a:bodyPr anchor="t" rtlCol="false" tIns="0" lIns="0" bIns="0" rIns="0">
            <a:spAutoFit/>
          </a:bodyPr>
          <a:lstStyle/>
          <a:p>
            <a:pPr algn="ctr">
              <a:lnSpc>
                <a:spcPts val="3960"/>
              </a:lnSpc>
            </a:pPr>
            <a:r>
              <a:rPr lang="en-US" sz="3000">
                <a:solidFill>
                  <a:srgbClr val="FFFFFF"/>
                </a:solidFill>
                <a:latin typeface="Montserrat Light"/>
                <a:ea typeface="Montserrat Light"/>
                <a:cs typeface="Montserrat Light"/>
                <a:sym typeface="Montserrat Light"/>
              </a:rPr>
              <a:t>APORTE POR</a:t>
            </a:r>
          </a:p>
        </p:txBody>
      </p:sp>
      <p:sp>
        <p:nvSpPr>
          <p:cNvPr name="TextBox 5" id="5"/>
          <p:cNvSpPr txBox="true"/>
          <p:nvPr/>
        </p:nvSpPr>
        <p:spPr>
          <a:xfrm rot="0">
            <a:off x="914400" y="912495"/>
            <a:ext cx="16459200" cy="1144905"/>
          </a:xfrm>
          <a:prstGeom prst="rect">
            <a:avLst/>
          </a:prstGeom>
        </p:spPr>
        <p:txBody>
          <a:bodyPr anchor="t" rtlCol="false" tIns="0" lIns="0" bIns="0" rIns="0">
            <a:spAutoFit/>
          </a:bodyPr>
          <a:lstStyle/>
          <a:p>
            <a:pPr algn="ctr">
              <a:lnSpc>
                <a:spcPts val="6863"/>
              </a:lnSpc>
            </a:pPr>
            <a:r>
              <a:rPr lang="en-US" sz="5199" b="true">
                <a:solidFill>
                  <a:srgbClr val="FFFFFF"/>
                </a:solidFill>
                <a:latin typeface="Montserrat Bold"/>
                <a:ea typeface="Montserrat Bold"/>
                <a:cs typeface="Montserrat Bold"/>
                <a:sym typeface="Montserrat Bold"/>
              </a:rPr>
              <a:t>INTEGRANTE</a:t>
            </a:r>
          </a:p>
        </p:txBody>
      </p:sp>
      <p:grpSp>
        <p:nvGrpSpPr>
          <p:cNvPr name="Group 6" id="6"/>
          <p:cNvGrpSpPr/>
          <p:nvPr/>
        </p:nvGrpSpPr>
        <p:grpSpPr>
          <a:xfrm rot="0">
            <a:off x="731520" y="2468880"/>
            <a:ext cx="5440680" cy="2743200"/>
            <a:chOff x="0" y="0"/>
            <a:chExt cx="7254240" cy="3657600"/>
          </a:xfrm>
        </p:grpSpPr>
        <p:sp>
          <p:nvSpPr>
            <p:cNvPr name="Freeform 7" id="7"/>
            <p:cNvSpPr/>
            <p:nvPr/>
          </p:nvSpPr>
          <p:spPr>
            <a:xfrm flipH="false" flipV="false" rot="0">
              <a:off x="0" y="0"/>
              <a:ext cx="7254240" cy="3657600"/>
            </a:xfrm>
            <a:custGeom>
              <a:avLst/>
              <a:gdLst/>
              <a:ahLst/>
              <a:cxnLst/>
              <a:rect r="r" b="b" t="t" l="l"/>
              <a:pathLst>
                <a:path h="3657600" w="7254240">
                  <a:moveTo>
                    <a:pt x="0" y="438912"/>
                  </a:moveTo>
                  <a:cubicBezTo>
                    <a:pt x="0" y="196469"/>
                    <a:pt x="196469" y="0"/>
                    <a:pt x="438912" y="0"/>
                  </a:cubicBezTo>
                  <a:lnTo>
                    <a:pt x="6815328" y="0"/>
                  </a:lnTo>
                  <a:cubicBezTo>
                    <a:pt x="7057772" y="0"/>
                    <a:pt x="7254240" y="196469"/>
                    <a:pt x="7254240" y="438912"/>
                  </a:cubicBezTo>
                  <a:lnTo>
                    <a:pt x="7254240" y="3218688"/>
                  </a:lnTo>
                  <a:cubicBezTo>
                    <a:pt x="7254240" y="3461131"/>
                    <a:pt x="7057772" y="3657600"/>
                    <a:pt x="6815328" y="3657600"/>
                  </a:cubicBezTo>
                  <a:lnTo>
                    <a:pt x="438912" y="3657600"/>
                  </a:lnTo>
                  <a:cubicBezTo>
                    <a:pt x="196469" y="3657600"/>
                    <a:pt x="0" y="3461131"/>
                    <a:pt x="0" y="3218688"/>
                  </a:cubicBezTo>
                  <a:close/>
                </a:path>
              </a:pathLst>
            </a:custGeom>
            <a:solidFill>
              <a:srgbClr val="15193A"/>
            </a:solidFill>
          </p:spPr>
        </p:sp>
      </p:grpSp>
      <p:grpSp>
        <p:nvGrpSpPr>
          <p:cNvPr name="Group 8" id="8"/>
          <p:cNvGrpSpPr/>
          <p:nvPr/>
        </p:nvGrpSpPr>
        <p:grpSpPr>
          <a:xfrm rot="0">
            <a:off x="3017520" y="2697480"/>
            <a:ext cx="868680" cy="689839"/>
            <a:chOff x="0" y="0"/>
            <a:chExt cx="1158240" cy="919785"/>
          </a:xfrm>
        </p:grpSpPr>
        <p:sp>
          <p:nvSpPr>
            <p:cNvPr name="Freeform 9" id="9" descr="image.png"/>
            <p:cNvSpPr/>
            <p:nvPr/>
          </p:nvSpPr>
          <p:spPr>
            <a:xfrm flipH="false" flipV="false" rot="0">
              <a:off x="0" y="0"/>
              <a:ext cx="1158240" cy="919734"/>
            </a:xfrm>
            <a:custGeom>
              <a:avLst/>
              <a:gdLst/>
              <a:ahLst/>
              <a:cxnLst/>
              <a:rect r="r" b="b" t="t" l="l"/>
              <a:pathLst>
                <a:path h="919734" w="1158240">
                  <a:moveTo>
                    <a:pt x="0" y="0"/>
                  </a:moveTo>
                  <a:lnTo>
                    <a:pt x="1158240" y="0"/>
                  </a:lnTo>
                  <a:lnTo>
                    <a:pt x="1158240" y="919734"/>
                  </a:lnTo>
                  <a:lnTo>
                    <a:pt x="0" y="919734"/>
                  </a:lnTo>
                  <a:lnTo>
                    <a:pt x="0" y="0"/>
                  </a:lnTo>
                  <a:close/>
                </a:path>
              </a:pathLst>
            </a:custGeom>
            <a:blipFill>
              <a:blip r:embed="rId3"/>
              <a:stretch>
                <a:fillRect l="0" t="0" r="0" b="-5"/>
              </a:stretch>
            </a:blipFill>
          </p:spPr>
        </p:sp>
      </p:grpSp>
      <p:sp>
        <p:nvSpPr>
          <p:cNvPr name="TextBox 10" id="10"/>
          <p:cNvSpPr txBox="true"/>
          <p:nvPr/>
        </p:nvSpPr>
        <p:spPr>
          <a:xfrm rot="0">
            <a:off x="914400" y="3547110"/>
            <a:ext cx="5074920" cy="476250"/>
          </a:xfrm>
          <a:prstGeom prst="rect">
            <a:avLst/>
          </a:prstGeom>
        </p:spPr>
        <p:txBody>
          <a:bodyPr anchor="t" rtlCol="false" tIns="0" lIns="0" bIns="0" rIns="0">
            <a:spAutoFit/>
          </a:bodyPr>
          <a:lstStyle/>
          <a:p>
            <a:pPr algn="ctr">
              <a:lnSpc>
                <a:spcPts val="2640"/>
              </a:lnSpc>
            </a:pPr>
            <a:r>
              <a:rPr lang="en-US" sz="2000" b="true">
                <a:solidFill>
                  <a:srgbClr val="FFFFFF"/>
                </a:solidFill>
                <a:latin typeface="Montserrat Bold"/>
                <a:ea typeface="Montserrat Bold"/>
                <a:cs typeface="Montserrat Bold"/>
                <a:sym typeface="Montserrat Bold"/>
              </a:rPr>
              <a:t>David Martinez</a:t>
            </a:r>
          </a:p>
        </p:txBody>
      </p:sp>
      <p:sp>
        <p:nvSpPr>
          <p:cNvPr name="TextBox 11" id="11"/>
          <p:cNvSpPr txBox="true"/>
          <p:nvPr/>
        </p:nvSpPr>
        <p:spPr>
          <a:xfrm rot="0">
            <a:off x="914400" y="4095750"/>
            <a:ext cx="5074920" cy="933450"/>
          </a:xfrm>
          <a:prstGeom prst="rect">
            <a:avLst/>
          </a:prstGeom>
        </p:spPr>
        <p:txBody>
          <a:bodyPr anchor="t" rtlCol="false" tIns="0" lIns="0" bIns="0" rIns="0">
            <a:spAutoFit/>
          </a:bodyPr>
          <a:lstStyle/>
          <a:p>
            <a:pPr algn="ctr">
              <a:lnSpc>
                <a:spcPts val="2111"/>
              </a:lnSpc>
            </a:pPr>
            <a:r>
              <a:rPr lang="en-US" sz="1599">
                <a:solidFill>
                  <a:srgbClr val="C9D2F0"/>
                </a:solidFill>
                <a:latin typeface="Montserrat"/>
                <a:ea typeface="Montserrat"/>
                <a:cs typeface="Montserrat"/>
                <a:sym typeface="Montserrat"/>
              </a:rPr>
              <a:t>Modelo de datos, integración y despliegue</a:t>
            </a:r>
          </a:p>
        </p:txBody>
      </p:sp>
      <p:grpSp>
        <p:nvGrpSpPr>
          <p:cNvPr name="Group 12" id="12"/>
          <p:cNvGrpSpPr/>
          <p:nvPr/>
        </p:nvGrpSpPr>
        <p:grpSpPr>
          <a:xfrm rot="0">
            <a:off x="6446520" y="2468880"/>
            <a:ext cx="5440680" cy="2743200"/>
            <a:chOff x="0" y="0"/>
            <a:chExt cx="7254240" cy="3657600"/>
          </a:xfrm>
        </p:grpSpPr>
        <p:sp>
          <p:nvSpPr>
            <p:cNvPr name="Freeform 13" id="13"/>
            <p:cNvSpPr/>
            <p:nvPr/>
          </p:nvSpPr>
          <p:spPr>
            <a:xfrm flipH="false" flipV="false" rot="0">
              <a:off x="0" y="0"/>
              <a:ext cx="7254240" cy="3657600"/>
            </a:xfrm>
            <a:custGeom>
              <a:avLst/>
              <a:gdLst/>
              <a:ahLst/>
              <a:cxnLst/>
              <a:rect r="r" b="b" t="t" l="l"/>
              <a:pathLst>
                <a:path h="3657600" w="7254240">
                  <a:moveTo>
                    <a:pt x="0" y="438912"/>
                  </a:moveTo>
                  <a:cubicBezTo>
                    <a:pt x="0" y="196469"/>
                    <a:pt x="196469" y="0"/>
                    <a:pt x="438912" y="0"/>
                  </a:cubicBezTo>
                  <a:lnTo>
                    <a:pt x="6815328" y="0"/>
                  </a:lnTo>
                  <a:cubicBezTo>
                    <a:pt x="7057772" y="0"/>
                    <a:pt x="7254240" y="196469"/>
                    <a:pt x="7254240" y="438912"/>
                  </a:cubicBezTo>
                  <a:lnTo>
                    <a:pt x="7254240" y="3218688"/>
                  </a:lnTo>
                  <a:cubicBezTo>
                    <a:pt x="7254240" y="3461131"/>
                    <a:pt x="7057772" y="3657600"/>
                    <a:pt x="6815328" y="3657600"/>
                  </a:cubicBezTo>
                  <a:lnTo>
                    <a:pt x="438912" y="3657600"/>
                  </a:lnTo>
                  <a:cubicBezTo>
                    <a:pt x="196469" y="3657600"/>
                    <a:pt x="0" y="3461131"/>
                    <a:pt x="0" y="3218688"/>
                  </a:cubicBezTo>
                  <a:close/>
                </a:path>
              </a:pathLst>
            </a:custGeom>
            <a:solidFill>
              <a:srgbClr val="15193A"/>
            </a:solidFill>
          </p:spPr>
        </p:sp>
      </p:grpSp>
      <p:grpSp>
        <p:nvGrpSpPr>
          <p:cNvPr name="Group 14" id="14"/>
          <p:cNvGrpSpPr/>
          <p:nvPr/>
        </p:nvGrpSpPr>
        <p:grpSpPr>
          <a:xfrm rot="0">
            <a:off x="8732520" y="2697480"/>
            <a:ext cx="868680" cy="689839"/>
            <a:chOff x="0" y="0"/>
            <a:chExt cx="1158240" cy="919785"/>
          </a:xfrm>
        </p:grpSpPr>
        <p:sp>
          <p:nvSpPr>
            <p:cNvPr name="Freeform 15" id="15" descr="image.png"/>
            <p:cNvSpPr/>
            <p:nvPr/>
          </p:nvSpPr>
          <p:spPr>
            <a:xfrm flipH="false" flipV="false" rot="0">
              <a:off x="0" y="0"/>
              <a:ext cx="1158240" cy="919734"/>
            </a:xfrm>
            <a:custGeom>
              <a:avLst/>
              <a:gdLst/>
              <a:ahLst/>
              <a:cxnLst/>
              <a:rect r="r" b="b" t="t" l="l"/>
              <a:pathLst>
                <a:path h="919734" w="1158240">
                  <a:moveTo>
                    <a:pt x="0" y="0"/>
                  </a:moveTo>
                  <a:lnTo>
                    <a:pt x="1158240" y="0"/>
                  </a:lnTo>
                  <a:lnTo>
                    <a:pt x="1158240" y="919734"/>
                  </a:lnTo>
                  <a:lnTo>
                    <a:pt x="0" y="919734"/>
                  </a:lnTo>
                  <a:lnTo>
                    <a:pt x="0" y="0"/>
                  </a:lnTo>
                  <a:close/>
                </a:path>
              </a:pathLst>
            </a:custGeom>
            <a:blipFill>
              <a:blip r:embed="rId3"/>
              <a:stretch>
                <a:fillRect l="0" t="0" r="0" b="-5"/>
              </a:stretch>
            </a:blipFill>
          </p:spPr>
        </p:sp>
      </p:grpSp>
      <p:sp>
        <p:nvSpPr>
          <p:cNvPr name="TextBox 16" id="16"/>
          <p:cNvSpPr txBox="true"/>
          <p:nvPr/>
        </p:nvSpPr>
        <p:spPr>
          <a:xfrm rot="0">
            <a:off x="6629400" y="3547110"/>
            <a:ext cx="5074920" cy="476250"/>
          </a:xfrm>
          <a:prstGeom prst="rect">
            <a:avLst/>
          </a:prstGeom>
        </p:spPr>
        <p:txBody>
          <a:bodyPr anchor="t" rtlCol="false" tIns="0" lIns="0" bIns="0" rIns="0">
            <a:spAutoFit/>
          </a:bodyPr>
          <a:lstStyle/>
          <a:p>
            <a:pPr algn="ctr">
              <a:lnSpc>
                <a:spcPts val="2640"/>
              </a:lnSpc>
            </a:pPr>
            <a:r>
              <a:rPr lang="en-US" sz="2000" b="true">
                <a:solidFill>
                  <a:srgbClr val="FFFFFF"/>
                </a:solidFill>
                <a:latin typeface="Montserrat Bold"/>
                <a:ea typeface="Montserrat Bold"/>
                <a:cs typeface="Montserrat Bold"/>
                <a:sym typeface="Montserrat Bold"/>
              </a:rPr>
              <a:t>Jean Arriagada</a:t>
            </a:r>
          </a:p>
        </p:txBody>
      </p:sp>
      <p:sp>
        <p:nvSpPr>
          <p:cNvPr name="TextBox 17" id="17"/>
          <p:cNvSpPr txBox="true"/>
          <p:nvPr/>
        </p:nvSpPr>
        <p:spPr>
          <a:xfrm rot="0">
            <a:off x="6629400" y="4095750"/>
            <a:ext cx="5074920" cy="933450"/>
          </a:xfrm>
          <a:prstGeom prst="rect">
            <a:avLst/>
          </a:prstGeom>
        </p:spPr>
        <p:txBody>
          <a:bodyPr anchor="t" rtlCol="false" tIns="0" lIns="0" bIns="0" rIns="0">
            <a:spAutoFit/>
          </a:bodyPr>
          <a:lstStyle/>
          <a:p>
            <a:pPr algn="ctr">
              <a:lnSpc>
                <a:spcPts val="2111"/>
              </a:lnSpc>
            </a:pPr>
            <a:r>
              <a:rPr lang="en-US" sz="1599">
                <a:solidFill>
                  <a:srgbClr val="C9D2F0"/>
                </a:solidFill>
                <a:latin typeface="Montserrat"/>
                <a:ea typeface="Montserrat"/>
                <a:cs typeface="Montserrat"/>
                <a:sym typeface="Montserrat"/>
              </a:rPr>
              <a:t>Módulo de administración</a:t>
            </a:r>
          </a:p>
        </p:txBody>
      </p:sp>
      <p:grpSp>
        <p:nvGrpSpPr>
          <p:cNvPr name="Group 18" id="18"/>
          <p:cNvGrpSpPr/>
          <p:nvPr/>
        </p:nvGrpSpPr>
        <p:grpSpPr>
          <a:xfrm rot="0">
            <a:off x="12161520" y="2468880"/>
            <a:ext cx="5440680" cy="2743200"/>
            <a:chOff x="0" y="0"/>
            <a:chExt cx="7254240" cy="3657600"/>
          </a:xfrm>
        </p:grpSpPr>
        <p:sp>
          <p:nvSpPr>
            <p:cNvPr name="Freeform 19" id="19"/>
            <p:cNvSpPr/>
            <p:nvPr/>
          </p:nvSpPr>
          <p:spPr>
            <a:xfrm flipH="false" flipV="false" rot="0">
              <a:off x="0" y="0"/>
              <a:ext cx="7254240" cy="3657600"/>
            </a:xfrm>
            <a:custGeom>
              <a:avLst/>
              <a:gdLst/>
              <a:ahLst/>
              <a:cxnLst/>
              <a:rect r="r" b="b" t="t" l="l"/>
              <a:pathLst>
                <a:path h="3657600" w="7254240">
                  <a:moveTo>
                    <a:pt x="0" y="438912"/>
                  </a:moveTo>
                  <a:cubicBezTo>
                    <a:pt x="0" y="196469"/>
                    <a:pt x="196469" y="0"/>
                    <a:pt x="438912" y="0"/>
                  </a:cubicBezTo>
                  <a:lnTo>
                    <a:pt x="6815328" y="0"/>
                  </a:lnTo>
                  <a:cubicBezTo>
                    <a:pt x="7057772" y="0"/>
                    <a:pt x="7254240" y="196469"/>
                    <a:pt x="7254240" y="438912"/>
                  </a:cubicBezTo>
                  <a:lnTo>
                    <a:pt x="7254240" y="3218688"/>
                  </a:lnTo>
                  <a:cubicBezTo>
                    <a:pt x="7254240" y="3461131"/>
                    <a:pt x="7057772" y="3657600"/>
                    <a:pt x="6815328" y="3657600"/>
                  </a:cubicBezTo>
                  <a:lnTo>
                    <a:pt x="438912" y="3657600"/>
                  </a:lnTo>
                  <a:cubicBezTo>
                    <a:pt x="196469" y="3657600"/>
                    <a:pt x="0" y="3461131"/>
                    <a:pt x="0" y="3218688"/>
                  </a:cubicBezTo>
                  <a:close/>
                </a:path>
              </a:pathLst>
            </a:custGeom>
            <a:solidFill>
              <a:srgbClr val="15193A"/>
            </a:solidFill>
          </p:spPr>
        </p:sp>
      </p:grpSp>
      <p:grpSp>
        <p:nvGrpSpPr>
          <p:cNvPr name="Group 20" id="20"/>
          <p:cNvGrpSpPr/>
          <p:nvPr/>
        </p:nvGrpSpPr>
        <p:grpSpPr>
          <a:xfrm rot="0">
            <a:off x="14447520" y="2697480"/>
            <a:ext cx="868680" cy="689839"/>
            <a:chOff x="0" y="0"/>
            <a:chExt cx="1158240" cy="919785"/>
          </a:xfrm>
        </p:grpSpPr>
        <p:sp>
          <p:nvSpPr>
            <p:cNvPr name="Freeform 21" id="21" descr="image.png"/>
            <p:cNvSpPr/>
            <p:nvPr/>
          </p:nvSpPr>
          <p:spPr>
            <a:xfrm flipH="false" flipV="false" rot="0">
              <a:off x="0" y="0"/>
              <a:ext cx="1158240" cy="919734"/>
            </a:xfrm>
            <a:custGeom>
              <a:avLst/>
              <a:gdLst/>
              <a:ahLst/>
              <a:cxnLst/>
              <a:rect r="r" b="b" t="t" l="l"/>
              <a:pathLst>
                <a:path h="919734" w="1158240">
                  <a:moveTo>
                    <a:pt x="0" y="0"/>
                  </a:moveTo>
                  <a:lnTo>
                    <a:pt x="1158240" y="0"/>
                  </a:lnTo>
                  <a:lnTo>
                    <a:pt x="1158240" y="919734"/>
                  </a:lnTo>
                  <a:lnTo>
                    <a:pt x="0" y="919734"/>
                  </a:lnTo>
                  <a:lnTo>
                    <a:pt x="0" y="0"/>
                  </a:lnTo>
                  <a:close/>
                </a:path>
              </a:pathLst>
            </a:custGeom>
            <a:blipFill>
              <a:blip r:embed="rId3"/>
              <a:stretch>
                <a:fillRect l="0" t="0" r="0" b="-5"/>
              </a:stretch>
            </a:blipFill>
          </p:spPr>
        </p:sp>
      </p:grpSp>
      <p:sp>
        <p:nvSpPr>
          <p:cNvPr name="TextBox 22" id="22"/>
          <p:cNvSpPr txBox="true"/>
          <p:nvPr/>
        </p:nvSpPr>
        <p:spPr>
          <a:xfrm rot="0">
            <a:off x="12344400" y="3547110"/>
            <a:ext cx="5074920" cy="476250"/>
          </a:xfrm>
          <a:prstGeom prst="rect">
            <a:avLst/>
          </a:prstGeom>
        </p:spPr>
        <p:txBody>
          <a:bodyPr anchor="t" rtlCol="false" tIns="0" lIns="0" bIns="0" rIns="0">
            <a:spAutoFit/>
          </a:bodyPr>
          <a:lstStyle/>
          <a:p>
            <a:pPr algn="ctr">
              <a:lnSpc>
                <a:spcPts val="2640"/>
              </a:lnSpc>
            </a:pPr>
            <a:r>
              <a:rPr lang="en-US" sz="2000" b="true">
                <a:solidFill>
                  <a:srgbClr val="FFFFFF"/>
                </a:solidFill>
                <a:latin typeface="Montserrat Bold"/>
                <a:ea typeface="Montserrat Bold"/>
                <a:cs typeface="Montserrat Bold"/>
                <a:sym typeface="Montserrat Bold"/>
              </a:rPr>
              <a:t>Oscar Bustamante</a:t>
            </a:r>
          </a:p>
        </p:txBody>
      </p:sp>
      <p:sp>
        <p:nvSpPr>
          <p:cNvPr name="TextBox 23" id="23"/>
          <p:cNvSpPr txBox="true"/>
          <p:nvPr/>
        </p:nvSpPr>
        <p:spPr>
          <a:xfrm rot="0">
            <a:off x="12344400" y="4095750"/>
            <a:ext cx="5074920" cy="933450"/>
          </a:xfrm>
          <a:prstGeom prst="rect">
            <a:avLst/>
          </a:prstGeom>
        </p:spPr>
        <p:txBody>
          <a:bodyPr anchor="t" rtlCol="false" tIns="0" lIns="0" bIns="0" rIns="0">
            <a:spAutoFit/>
          </a:bodyPr>
          <a:lstStyle/>
          <a:p>
            <a:pPr algn="ctr">
              <a:lnSpc>
                <a:spcPts val="2111"/>
              </a:lnSpc>
            </a:pPr>
            <a:r>
              <a:rPr lang="en-US" sz="1599">
                <a:solidFill>
                  <a:srgbClr val="C9D2F0"/>
                </a:solidFill>
                <a:latin typeface="Montserrat"/>
                <a:ea typeface="Montserrat"/>
                <a:cs typeface="Montserrat"/>
                <a:sym typeface="Montserrat"/>
              </a:rPr>
              <a:t>Suscripciones y pagos</a:t>
            </a:r>
          </a:p>
        </p:txBody>
      </p:sp>
      <p:grpSp>
        <p:nvGrpSpPr>
          <p:cNvPr name="Group 24" id="24"/>
          <p:cNvGrpSpPr/>
          <p:nvPr/>
        </p:nvGrpSpPr>
        <p:grpSpPr>
          <a:xfrm rot="0">
            <a:off x="731520" y="5623560"/>
            <a:ext cx="6949440" cy="4206240"/>
            <a:chOff x="0" y="0"/>
            <a:chExt cx="9265920" cy="5608320"/>
          </a:xfrm>
        </p:grpSpPr>
        <p:sp>
          <p:nvSpPr>
            <p:cNvPr name="Freeform 25" id="25"/>
            <p:cNvSpPr/>
            <p:nvPr/>
          </p:nvSpPr>
          <p:spPr>
            <a:xfrm flipH="false" flipV="false" rot="0">
              <a:off x="0" y="0"/>
              <a:ext cx="9265920" cy="5608320"/>
            </a:xfrm>
            <a:custGeom>
              <a:avLst/>
              <a:gdLst/>
              <a:ahLst/>
              <a:cxnLst/>
              <a:rect r="r" b="b" t="t" l="l"/>
              <a:pathLst>
                <a:path h="5608320" w="9265920">
                  <a:moveTo>
                    <a:pt x="0" y="672973"/>
                  </a:moveTo>
                  <a:cubicBezTo>
                    <a:pt x="0" y="301371"/>
                    <a:pt x="301371" y="0"/>
                    <a:pt x="672973" y="0"/>
                  </a:cubicBezTo>
                  <a:lnTo>
                    <a:pt x="8592947" y="0"/>
                  </a:lnTo>
                  <a:cubicBezTo>
                    <a:pt x="8964676" y="0"/>
                    <a:pt x="9265920" y="301371"/>
                    <a:pt x="9265920" y="672973"/>
                  </a:cubicBezTo>
                  <a:lnTo>
                    <a:pt x="9265920" y="4935347"/>
                  </a:lnTo>
                  <a:cubicBezTo>
                    <a:pt x="9265920" y="5307076"/>
                    <a:pt x="8964549" y="5608320"/>
                    <a:pt x="8592947" y="5608320"/>
                  </a:cubicBezTo>
                  <a:lnTo>
                    <a:pt x="672973" y="5608320"/>
                  </a:lnTo>
                  <a:cubicBezTo>
                    <a:pt x="301371" y="5608320"/>
                    <a:pt x="0" y="5306949"/>
                    <a:pt x="0" y="4935347"/>
                  </a:cubicBezTo>
                  <a:close/>
                </a:path>
              </a:pathLst>
            </a:custGeom>
            <a:solidFill>
              <a:srgbClr val="15193A"/>
            </a:solidFill>
          </p:spPr>
        </p:sp>
      </p:grpSp>
      <p:grpSp>
        <p:nvGrpSpPr>
          <p:cNvPr name="Group 26" id="26"/>
          <p:cNvGrpSpPr/>
          <p:nvPr/>
        </p:nvGrpSpPr>
        <p:grpSpPr>
          <a:xfrm rot="0">
            <a:off x="1051560" y="5623560"/>
            <a:ext cx="6355080" cy="4206240"/>
            <a:chOff x="0" y="0"/>
            <a:chExt cx="8473440" cy="5608320"/>
          </a:xfrm>
        </p:grpSpPr>
        <p:sp>
          <p:nvSpPr>
            <p:cNvPr name="Freeform 27" id="27"/>
            <p:cNvSpPr/>
            <p:nvPr/>
          </p:nvSpPr>
          <p:spPr>
            <a:xfrm flipH="false" flipV="false" rot="0">
              <a:off x="0" y="0"/>
              <a:ext cx="8473440" cy="5608320"/>
            </a:xfrm>
            <a:custGeom>
              <a:avLst/>
              <a:gdLst/>
              <a:ahLst/>
              <a:cxnLst/>
              <a:rect r="r" b="b" t="t" l="l"/>
              <a:pathLst>
                <a:path h="5608320" w="8473440">
                  <a:moveTo>
                    <a:pt x="0" y="0"/>
                  </a:moveTo>
                  <a:lnTo>
                    <a:pt x="8473440" y="0"/>
                  </a:lnTo>
                  <a:lnTo>
                    <a:pt x="8473440" y="5608320"/>
                  </a:lnTo>
                  <a:lnTo>
                    <a:pt x="0" y="5608320"/>
                  </a:lnTo>
                  <a:close/>
                </a:path>
              </a:pathLst>
            </a:custGeom>
            <a:blipFill>
              <a:blip r:embed="rId4">
                <a:alphaModFix amt="0"/>
              </a:blip>
              <a:stretch>
                <a:fillRect l="-34920" t="0" r="-34920" b="0"/>
              </a:stretch>
            </a:blipFill>
          </p:spPr>
        </p:sp>
        <p:sp>
          <p:nvSpPr>
            <p:cNvPr name="TextBox 28" id="28"/>
            <p:cNvSpPr txBox="true"/>
            <p:nvPr/>
          </p:nvSpPr>
          <p:spPr>
            <a:xfrm>
              <a:off x="0" y="-47625"/>
              <a:ext cx="8473440" cy="5655945"/>
            </a:xfrm>
            <a:prstGeom prst="rect">
              <a:avLst/>
            </a:prstGeom>
          </p:spPr>
          <p:txBody>
            <a:bodyPr anchor="ctr" rtlCol="false" tIns="0" lIns="0" bIns="0" rIns="0"/>
            <a:lstStyle/>
            <a:p>
              <a:pPr algn="l">
                <a:lnSpc>
                  <a:spcPts val="2735"/>
                </a:lnSpc>
              </a:pPr>
              <a:r>
                <a:rPr lang="en-US" sz="1899" b="true">
                  <a:solidFill>
                    <a:srgbClr val="FFFFFF"/>
                  </a:solidFill>
                  <a:latin typeface="Montserrat Bold"/>
                  <a:ea typeface="Montserrat Bold"/>
                  <a:cs typeface="Montserrat Bold"/>
                  <a:sym typeface="Montserrat Bold"/>
                </a:rPr>
                <a:t>Commits desde una sola cuenta</a:t>
              </a:r>
            </a:p>
            <a:p>
              <a:pPr algn="l">
                <a:lnSpc>
                  <a:spcPts val="2232"/>
                </a:lnSpc>
              </a:pPr>
              <a:r>
                <a:rPr lang="en-US" sz="1550">
                  <a:solidFill>
                    <a:srgbClr val="FFFFFF"/>
                  </a:solidFill>
                  <a:latin typeface="Montserrat"/>
                  <a:ea typeface="Montserrat"/>
                  <a:cs typeface="Montserrat"/>
                  <a:sym typeface="Montserrat"/>
                </a:rPr>
                <a:t>Todos los commits del código se subieron desde la cuenta </a:t>
              </a:r>
              <a:r>
                <a:rPr lang="en-US" sz="1550" b="true">
                  <a:solidFill>
                    <a:srgbClr val="FFFFFF"/>
                  </a:solidFill>
                  <a:latin typeface="Montserrat Bold"/>
                  <a:ea typeface="Montserrat Bold"/>
                  <a:cs typeface="Montserrat Bold"/>
                  <a:sym typeface="Montserrat Bold"/>
                </a:rPr>
                <a:t>Dntex2</a:t>
              </a:r>
              <a:r>
                <a:rPr lang="en-US" sz="1550">
                  <a:solidFill>
                    <a:srgbClr val="FFFFFF"/>
                  </a:solidFill>
                  <a:latin typeface="Montserrat"/>
                  <a:ea typeface="Montserrat"/>
                  <a:cs typeface="Montserrat"/>
                  <a:sym typeface="Montserrat"/>
                </a:rPr>
                <a:t>: 18 commits y 0 pull requests. Por eso GitHub muestra un solo autor, aunque el trabajo se repartió por módulo.</a:t>
              </a:r>
            </a:p>
            <a:p>
              <a:pPr algn="l">
                <a:lnSpc>
                  <a:spcPts val="2232"/>
                </a:lnSpc>
              </a:pPr>
              <a:r>
                <a:rPr lang="en-US" sz="1550">
                  <a:solidFill>
                    <a:srgbClr val="FFFFFF"/>
                  </a:solidFill>
                  <a:latin typeface="Montserrat"/>
                  <a:ea typeface="Montserrat"/>
                  <a:cs typeface="Montserrat"/>
                  <a:sym typeface="Montserrat"/>
                </a:rPr>
                <a:t>En el repositorio de documentación, según GitHub: </a:t>
              </a:r>
              <a:r>
                <a:rPr lang="en-US" sz="1550" b="true">
                  <a:solidFill>
                    <a:srgbClr val="FFFFFF"/>
                  </a:solidFill>
                  <a:latin typeface="Montserrat Bold"/>
                  <a:ea typeface="Montserrat Bold"/>
                  <a:cs typeface="Montserrat Bold"/>
                  <a:sym typeface="Montserrat Bold"/>
                </a:rPr>
                <a:t>Dntex2 16 commits y oscar-bust 12.</a:t>
              </a:r>
            </a:p>
          </p:txBody>
        </p:sp>
      </p:grpSp>
      <p:grpSp>
        <p:nvGrpSpPr>
          <p:cNvPr name="Group 29" id="29"/>
          <p:cNvGrpSpPr/>
          <p:nvPr/>
        </p:nvGrpSpPr>
        <p:grpSpPr>
          <a:xfrm rot="0">
            <a:off x="8092440" y="5623560"/>
            <a:ext cx="9509760" cy="3948360"/>
            <a:chOff x="0" y="0"/>
            <a:chExt cx="12679680" cy="5264480"/>
          </a:xfrm>
        </p:grpSpPr>
        <p:sp>
          <p:nvSpPr>
            <p:cNvPr name="Freeform 30" id="30" descr="github_commits.png"/>
            <p:cNvSpPr/>
            <p:nvPr/>
          </p:nvSpPr>
          <p:spPr>
            <a:xfrm flipH="false" flipV="false" rot="0">
              <a:off x="0" y="0"/>
              <a:ext cx="12679680" cy="5264531"/>
            </a:xfrm>
            <a:custGeom>
              <a:avLst/>
              <a:gdLst/>
              <a:ahLst/>
              <a:cxnLst/>
              <a:rect r="r" b="b" t="t" l="l"/>
              <a:pathLst>
                <a:path h="5264531" w="12679680">
                  <a:moveTo>
                    <a:pt x="0" y="0"/>
                  </a:moveTo>
                  <a:lnTo>
                    <a:pt x="12679680" y="0"/>
                  </a:lnTo>
                  <a:lnTo>
                    <a:pt x="12679680" y="5264531"/>
                  </a:lnTo>
                  <a:lnTo>
                    <a:pt x="0" y="5264531"/>
                  </a:lnTo>
                  <a:lnTo>
                    <a:pt x="0" y="0"/>
                  </a:lnTo>
                  <a:close/>
                </a:path>
              </a:pathLst>
            </a:custGeom>
            <a:blipFill>
              <a:blip r:embed="rId5"/>
              <a:stretch>
                <a:fillRect l="0" t="0" r="0" b="0"/>
              </a:stretch>
            </a:blipFill>
          </p:spPr>
        </p:sp>
      </p:grpSp>
      <p:sp>
        <p:nvSpPr>
          <p:cNvPr name="TextBox 31" id="31"/>
          <p:cNvSpPr txBox="true"/>
          <p:nvPr/>
        </p:nvSpPr>
        <p:spPr>
          <a:xfrm rot="0">
            <a:off x="8092440" y="9626022"/>
            <a:ext cx="9509760" cy="293370"/>
          </a:xfrm>
          <a:prstGeom prst="rect">
            <a:avLst/>
          </a:prstGeom>
        </p:spPr>
        <p:txBody>
          <a:bodyPr anchor="t" rtlCol="false" tIns="0" lIns="0" bIns="0" rIns="0">
            <a:spAutoFit/>
          </a:bodyPr>
          <a:lstStyle/>
          <a:p>
            <a:pPr algn="ctr">
              <a:lnSpc>
                <a:spcPts val="1319"/>
              </a:lnSpc>
            </a:pPr>
            <a:r>
              <a:rPr lang="en-US" sz="999">
                <a:solidFill>
                  <a:srgbClr val="C9D2F0"/>
                </a:solidFill>
                <a:latin typeface="Montserrat"/>
                <a:ea typeface="Montserrat"/>
                <a:cs typeface="Montserrat"/>
                <a:sym typeface="Montserrat"/>
              </a:rPr>
              <a:t>GitHub · Commits de main: el filtro por autor solo lista a Dntex2 (los 18 commits)</a:t>
            </a:r>
          </a:p>
        </p:txBody>
      </p:sp>
    </p:spTree>
  </p:cSld>
  <p:clrMapOvr>
    <a:masterClrMapping/>
  </p:clrMapOvr>
</p:sld>
</file>

<file path=ppt/slides/slide1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24384000" cy="13716000"/>
          </a:xfrm>
        </p:grpSpPr>
        <p:sp>
          <p:nvSpPr>
            <p:cNvPr name="Freeform 3" id="3" descr="fondo46_60.jpg"/>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lnTo>
                    <a:pt x="0" y="0"/>
                  </a:lnTo>
                  <a:close/>
                </a:path>
              </a:pathLst>
            </a:custGeom>
            <a:blipFill>
              <a:blip r:embed="rId2"/>
              <a:stretch>
                <a:fillRect l="0" t="-666" r="0" b="-666"/>
              </a:stretch>
            </a:blipFill>
          </p:spPr>
        </p:sp>
      </p:grpSp>
      <p:sp>
        <p:nvSpPr>
          <p:cNvPr name="TextBox 4" id="4"/>
          <p:cNvSpPr txBox="true"/>
          <p:nvPr/>
        </p:nvSpPr>
        <p:spPr>
          <a:xfrm rot="0">
            <a:off x="914400" y="355473"/>
            <a:ext cx="16459200" cy="760095"/>
          </a:xfrm>
          <a:prstGeom prst="rect">
            <a:avLst/>
          </a:prstGeom>
        </p:spPr>
        <p:txBody>
          <a:bodyPr anchor="t" rtlCol="false" tIns="0" lIns="0" bIns="0" rIns="0">
            <a:spAutoFit/>
          </a:bodyPr>
          <a:lstStyle/>
          <a:p>
            <a:pPr algn="ctr">
              <a:lnSpc>
                <a:spcPts val="3960"/>
              </a:lnSpc>
            </a:pPr>
            <a:r>
              <a:rPr lang="en-US" sz="3000">
                <a:solidFill>
                  <a:srgbClr val="FFFFFF"/>
                </a:solidFill>
                <a:latin typeface="Montserrat Light"/>
                <a:ea typeface="Montserrat Light"/>
                <a:cs typeface="Montserrat Light"/>
                <a:sym typeface="Montserrat Light"/>
              </a:rPr>
              <a:t>RIESGOS Y PLAN</a:t>
            </a:r>
          </a:p>
        </p:txBody>
      </p:sp>
      <p:sp>
        <p:nvSpPr>
          <p:cNvPr name="TextBox 5" id="5"/>
          <p:cNvSpPr txBox="true"/>
          <p:nvPr/>
        </p:nvSpPr>
        <p:spPr>
          <a:xfrm rot="0">
            <a:off x="914400" y="912495"/>
            <a:ext cx="16459200" cy="1144905"/>
          </a:xfrm>
          <a:prstGeom prst="rect">
            <a:avLst/>
          </a:prstGeom>
        </p:spPr>
        <p:txBody>
          <a:bodyPr anchor="t" rtlCol="false" tIns="0" lIns="0" bIns="0" rIns="0">
            <a:spAutoFit/>
          </a:bodyPr>
          <a:lstStyle/>
          <a:p>
            <a:pPr algn="ctr">
              <a:lnSpc>
                <a:spcPts val="6863"/>
              </a:lnSpc>
            </a:pPr>
            <a:r>
              <a:rPr lang="en-US" sz="5199" b="true">
                <a:solidFill>
                  <a:srgbClr val="FFFFFF"/>
                </a:solidFill>
                <a:latin typeface="Montserrat Bold"/>
                <a:ea typeface="Montserrat Bold"/>
                <a:cs typeface="Montserrat Bold"/>
                <a:sym typeface="Montserrat Bold"/>
              </a:rPr>
              <a:t>AL INFORME FINAL</a:t>
            </a:r>
          </a:p>
        </p:txBody>
      </p:sp>
      <p:grpSp>
        <p:nvGrpSpPr>
          <p:cNvPr name="Group 6" id="6"/>
          <p:cNvGrpSpPr/>
          <p:nvPr/>
        </p:nvGrpSpPr>
        <p:grpSpPr>
          <a:xfrm rot="0">
            <a:off x="731520" y="2468880"/>
            <a:ext cx="822960" cy="822960"/>
            <a:chOff x="0" y="0"/>
            <a:chExt cx="1097280" cy="1097280"/>
          </a:xfrm>
        </p:grpSpPr>
        <p:sp>
          <p:nvSpPr>
            <p:cNvPr name="Freeform 7" id="7" descr="image6.png"/>
            <p:cNvSpPr/>
            <p:nvPr/>
          </p:nvSpPr>
          <p:spPr>
            <a:xfrm flipH="false" flipV="false" rot="0">
              <a:off x="0" y="0"/>
              <a:ext cx="1097280" cy="1097280"/>
            </a:xfrm>
            <a:custGeom>
              <a:avLst/>
              <a:gdLst/>
              <a:ahLst/>
              <a:cxnLst/>
              <a:rect r="r" b="b" t="t" l="l"/>
              <a:pathLst>
                <a:path h="1097280" w="1097280">
                  <a:moveTo>
                    <a:pt x="0" y="0"/>
                  </a:moveTo>
                  <a:lnTo>
                    <a:pt x="1097280" y="0"/>
                  </a:lnTo>
                  <a:lnTo>
                    <a:pt x="1097280" y="1097280"/>
                  </a:lnTo>
                  <a:lnTo>
                    <a:pt x="0" y="1097280"/>
                  </a:lnTo>
                  <a:lnTo>
                    <a:pt x="0" y="0"/>
                  </a:lnTo>
                  <a:close/>
                </a:path>
              </a:pathLst>
            </a:custGeom>
            <a:blipFill>
              <a:blip r:embed="rId3"/>
              <a:stretch>
                <a:fillRect l="0" t="0" r="0" b="0"/>
              </a:stretch>
            </a:blipFill>
          </p:spPr>
        </p:sp>
      </p:grpSp>
      <p:grpSp>
        <p:nvGrpSpPr>
          <p:cNvPr name="Group 8" id="8"/>
          <p:cNvGrpSpPr/>
          <p:nvPr/>
        </p:nvGrpSpPr>
        <p:grpSpPr>
          <a:xfrm rot="0">
            <a:off x="731520" y="2468880"/>
            <a:ext cx="822960" cy="822960"/>
            <a:chOff x="0" y="0"/>
            <a:chExt cx="1097280" cy="1097280"/>
          </a:xfrm>
        </p:grpSpPr>
        <p:sp>
          <p:nvSpPr>
            <p:cNvPr name="Freeform 9" id="9"/>
            <p:cNvSpPr/>
            <p:nvPr/>
          </p:nvSpPr>
          <p:spPr>
            <a:xfrm flipH="false" flipV="false" rot="0">
              <a:off x="0" y="0"/>
              <a:ext cx="1097280" cy="1097280"/>
            </a:xfrm>
            <a:custGeom>
              <a:avLst/>
              <a:gdLst/>
              <a:ahLst/>
              <a:cxnLst/>
              <a:rect r="r" b="b" t="t" l="l"/>
              <a:pathLst>
                <a:path h="1097280" w="1097280">
                  <a:moveTo>
                    <a:pt x="0" y="0"/>
                  </a:moveTo>
                  <a:lnTo>
                    <a:pt x="1097280" y="0"/>
                  </a:lnTo>
                  <a:lnTo>
                    <a:pt x="1097280" y="1097280"/>
                  </a:lnTo>
                  <a:lnTo>
                    <a:pt x="0" y="1097280"/>
                  </a:lnTo>
                  <a:close/>
                </a:path>
              </a:pathLst>
            </a:custGeom>
            <a:blipFill>
              <a:blip r:embed="rId4">
                <a:alphaModFix amt="0"/>
              </a:blip>
              <a:stretch>
                <a:fillRect l="-78303" t="0" r="-78303" b="0"/>
              </a:stretch>
            </a:blipFill>
          </p:spPr>
        </p:sp>
        <p:sp>
          <p:nvSpPr>
            <p:cNvPr name="TextBox 10" id="10"/>
            <p:cNvSpPr txBox="true"/>
            <p:nvPr/>
          </p:nvSpPr>
          <p:spPr>
            <a:xfrm>
              <a:off x="0" y="-28575"/>
              <a:ext cx="1097280" cy="1125855"/>
            </a:xfrm>
            <a:prstGeom prst="rect">
              <a:avLst/>
            </a:prstGeom>
          </p:spPr>
          <p:txBody>
            <a:bodyPr anchor="ctr" rtlCol="false" tIns="0" lIns="0" bIns="0" rIns="0"/>
            <a:lstStyle/>
            <a:p>
              <a:pPr algn="ctr">
                <a:lnSpc>
                  <a:spcPts val="3432"/>
                </a:lnSpc>
              </a:pPr>
              <a:r>
                <a:rPr lang="en-US" sz="2600" b="true">
                  <a:solidFill>
                    <a:srgbClr val="FFFFFF"/>
                  </a:solidFill>
                  <a:latin typeface="Montserrat Bold"/>
                  <a:ea typeface="Montserrat Bold"/>
                  <a:cs typeface="Montserrat Bold"/>
                  <a:sym typeface="Montserrat Bold"/>
                </a:rPr>
                <a:t>1</a:t>
              </a:r>
            </a:p>
          </p:txBody>
        </p:sp>
      </p:grpSp>
      <p:grpSp>
        <p:nvGrpSpPr>
          <p:cNvPr name="Group 11" id="11"/>
          <p:cNvGrpSpPr/>
          <p:nvPr/>
        </p:nvGrpSpPr>
        <p:grpSpPr>
          <a:xfrm rot="0">
            <a:off x="1737360" y="2468880"/>
            <a:ext cx="4480560" cy="822960"/>
            <a:chOff x="0" y="0"/>
            <a:chExt cx="5974080" cy="1097280"/>
          </a:xfrm>
        </p:grpSpPr>
        <p:sp>
          <p:nvSpPr>
            <p:cNvPr name="Freeform 12" id="12"/>
            <p:cNvSpPr/>
            <p:nvPr/>
          </p:nvSpPr>
          <p:spPr>
            <a:xfrm flipH="false" flipV="false" rot="0">
              <a:off x="0" y="0"/>
              <a:ext cx="5974080" cy="1097280"/>
            </a:xfrm>
            <a:custGeom>
              <a:avLst/>
              <a:gdLst/>
              <a:ahLst/>
              <a:cxnLst/>
              <a:rect r="r" b="b" t="t" l="l"/>
              <a:pathLst>
                <a:path h="1097280" w="5974080">
                  <a:moveTo>
                    <a:pt x="0" y="0"/>
                  </a:moveTo>
                  <a:lnTo>
                    <a:pt x="5974080" y="0"/>
                  </a:lnTo>
                  <a:lnTo>
                    <a:pt x="5974080" y="1097280"/>
                  </a:lnTo>
                  <a:lnTo>
                    <a:pt x="0" y="1097280"/>
                  </a:lnTo>
                  <a:close/>
                </a:path>
              </a:pathLst>
            </a:custGeom>
            <a:blipFill>
              <a:blip r:embed="rId4">
                <a:alphaModFix amt="0"/>
              </a:blip>
              <a:stretch>
                <a:fillRect l="0" t="-56085" r="0" b="-56085"/>
              </a:stretch>
            </a:blipFill>
          </p:spPr>
        </p:sp>
        <p:sp>
          <p:nvSpPr>
            <p:cNvPr name="TextBox 13" id="13"/>
            <p:cNvSpPr txBox="true"/>
            <p:nvPr/>
          </p:nvSpPr>
          <p:spPr>
            <a:xfrm>
              <a:off x="0" y="-19050"/>
              <a:ext cx="5974080" cy="1116330"/>
            </a:xfrm>
            <a:prstGeom prst="rect">
              <a:avLst/>
            </a:prstGeom>
          </p:spPr>
          <p:txBody>
            <a:bodyPr anchor="ctr" rtlCol="false" tIns="0" lIns="0" bIns="0" rIns="0"/>
            <a:lstStyle/>
            <a:p>
              <a:pPr algn="l">
                <a:lnSpc>
                  <a:spcPts val="2111"/>
                </a:lnSpc>
              </a:pPr>
              <a:r>
                <a:rPr lang="en-US" sz="1599" b="true">
                  <a:solidFill>
                    <a:srgbClr val="FFFFFF"/>
                  </a:solidFill>
                  <a:latin typeface="Montserrat Bold"/>
                  <a:ea typeface="Montserrat Bold"/>
                  <a:cs typeface="Montserrat Bold"/>
                  <a:sym typeface="Montserrat Bold"/>
                </a:rPr>
                <a:t>Sin credenciales de una pasarela de pago real</a:t>
              </a:r>
            </a:p>
          </p:txBody>
        </p:sp>
      </p:grpSp>
      <p:grpSp>
        <p:nvGrpSpPr>
          <p:cNvPr name="Group 14" id="14"/>
          <p:cNvGrpSpPr/>
          <p:nvPr/>
        </p:nvGrpSpPr>
        <p:grpSpPr>
          <a:xfrm rot="0">
            <a:off x="731520" y="3520440"/>
            <a:ext cx="5440680" cy="2240280"/>
            <a:chOff x="0" y="0"/>
            <a:chExt cx="7254240" cy="2987040"/>
          </a:xfrm>
        </p:grpSpPr>
        <p:sp>
          <p:nvSpPr>
            <p:cNvPr name="Freeform 15" id="15"/>
            <p:cNvSpPr/>
            <p:nvPr/>
          </p:nvSpPr>
          <p:spPr>
            <a:xfrm flipH="false" flipV="false" rot="0">
              <a:off x="0" y="0"/>
              <a:ext cx="7254239" cy="2987040"/>
            </a:xfrm>
            <a:custGeom>
              <a:avLst/>
              <a:gdLst/>
              <a:ahLst/>
              <a:cxnLst/>
              <a:rect r="r" b="b" t="t" l="l"/>
              <a:pathLst>
                <a:path h="2987040" w="7254239">
                  <a:moveTo>
                    <a:pt x="0" y="358394"/>
                  </a:moveTo>
                  <a:cubicBezTo>
                    <a:pt x="0" y="160528"/>
                    <a:pt x="160528" y="0"/>
                    <a:pt x="358394" y="0"/>
                  </a:cubicBezTo>
                  <a:lnTo>
                    <a:pt x="6895846" y="0"/>
                  </a:lnTo>
                  <a:cubicBezTo>
                    <a:pt x="7093839" y="0"/>
                    <a:pt x="7254239" y="160528"/>
                    <a:pt x="7254239" y="358394"/>
                  </a:cubicBezTo>
                  <a:lnTo>
                    <a:pt x="7254239" y="2628646"/>
                  </a:lnTo>
                  <a:cubicBezTo>
                    <a:pt x="7254239" y="2826639"/>
                    <a:pt x="7093712" y="2987040"/>
                    <a:pt x="6895846" y="2987040"/>
                  </a:cubicBezTo>
                  <a:lnTo>
                    <a:pt x="358394" y="2987040"/>
                  </a:lnTo>
                  <a:cubicBezTo>
                    <a:pt x="160528" y="2987040"/>
                    <a:pt x="0" y="2826512"/>
                    <a:pt x="0" y="2628646"/>
                  </a:cubicBezTo>
                  <a:close/>
                </a:path>
              </a:pathLst>
            </a:custGeom>
            <a:solidFill>
              <a:srgbClr val="15193A"/>
            </a:solidFill>
          </p:spPr>
        </p:sp>
      </p:grpSp>
      <p:sp>
        <p:nvSpPr>
          <p:cNvPr name="TextBox 16" id="16"/>
          <p:cNvSpPr txBox="true"/>
          <p:nvPr/>
        </p:nvSpPr>
        <p:spPr>
          <a:xfrm rot="0">
            <a:off x="1051560" y="3674745"/>
            <a:ext cx="4800600" cy="2040255"/>
          </a:xfrm>
          <a:prstGeom prst="rect">
            <a:avLst/>
          </a:prstGeom>
        </p:spPr>
        <p:txBody>
          <a:bodyPr anchor="t" rtlCol="false" tIns="0" lIns="0" bIns="0" rIns="0">
            <a:spAutoFit/>
          </a:bodyPr>
          <a:lstStyle/>
          <a:p>
            <a:pPr algn="l">
              <a:lnSpc>
                <a:spcPts val="1982"/>
              </a:lnSpc>
            </a:pPr>
            <a:r>
              <a:rPr lang="en-US" sz="1400" b="true">
                <a:solidFill>
                  <a:srgbClr val="C9D2F0"/>
                </a:solidFill>
                <a:latin typeface="Montserrat Bold"/>
                <a:ea typeface="Montserrat Bold"/>
                <a:cs typeface="Montserrat Bold"/>
                <a:sym typeface="Montserrat Bold"/>
              </a:rPr>
              <a:t>Mitigación</a:t>
            </a:r>
          </a:p>
          <a:p>
            <a:pPr algn="l">
              <a:lnSpc>
                <a:spcPts val="2336"/>
              </a:lnSpc>
            </a:pPr>
            <a:r>
              <a:rPr lang="en-US" sz="1650">
                <a:solidFill>
                  <a:srgbClr val="FFFFFF"/>
                </a:solidFill>
                <a:latin typeface="Montserrat"/>
                <a:ea typeface="Montserrat"/>
                <a:cs typeface="Montserrat"/>
                <a:sym typeface="Montserrat"/>
              </a:rPr>
              <a:t>Pasarela simulada que concilia por el mismo proceso; integrarla solo cambia el proveedor.</a:t>
            </a:r>
          </a:p>
        </p:txBody>
      </p:sp>
      <p:grpSp>
        <p:nvGrpSpPr>
          <p:cNvPr name="Group 17" id="17"/>
          <p:cNvGrpSpPr/>
          <p:nvPr/>
        </p:nvGrpSpPr>
        <p:grpSpPr>
          <a:xfrm rot="0">
            <a:off x="6446520" y="2468880"/>
            <a:ext cx="822960" cy="822960"/>
            <a:chOff x="0" y="0"/>
            <a:chExt cx="1097280" cy="1097280"/>
          </a:xfrm>
        </p:grpSpPr>
        <p:sp>
          <p:nvSpPr>
            <p:cNvPr name="Freeform 18" id="18" descr="image6.png"/>
            <p:cNvSpPr/>
            <p:nvPr/>
          </p:nvSpPr>
          <p:spPr>
            <a:xfrm flipH="false" flipV="false" rot="0">
              <a:off x="0" y="0"/>
              <a:ext cx="1097280" cy="1097280"/>
            </a:xfrm>
            <a:custGeom>
              <a:avLst/>
              <a:gdLst/>
              <a:ahLst/>
              <a:cxnLst/>
              <a:rect r="r" b="b" t="t" l="l"/>
              <a:pathLst>
                <a:path h="1097280" w="1097280">
                  <a:moveTo>
                    <a:pt x="0" y="0"/>
                  </a:moveTo>
                  <a:lnTo>
                    <a:pt x="1097280" y="0"/>
                  </a:lnTo>
                  <a:lnTo>
                    <a:pt x="1097280" y="1097280"/>
                  </a:lnTo>
                  <a:lnTo>
                    <a:pt x="0" y="1097280"/>
                  </a:lnTo>
                  <a:lnTo>
                    <a:pt x="0" y="0"/>
                  </a:lnTo>
                  <a:close/>
                </a:path>
              </a:pathLst>
            </a:custGeom>
            <a:blipFill>
              <a:blip r:embed="rId3"/>
              <a:stretch>
                <a:fillRect l="0" t="0" r="0" b="0"/>
              </a:stretch>
            </a:blipFill>
          </p:spPr>
        </p:sp>
      </p:grpSp>
      <p:grpSp>
        <p:nvGrpSpPr>
          <p:cNvPr name="Group 19" id="19"/>
          <p:cNvGrpSpPr/>
          <p:nvPr/>
        </p:nvGrpSpPr>
        <p:grpSpPr>
          <a:xfrm rot="0">
            <a:off x="6446520" y="2468880"/>
            <a:ext cx="822960" cy="822960"/>
            <a:chOff x="0" y="0"/>
            <a:chExt cx="1097280" cy="1097280"/>
          </a:xfrm>
        </p:grpSpPr>
        <p:sp>
          <p:nvSpPr>
            <p:cNvPr name="Freeform 20" id="20"/>
            <p:cNvSpPr/>
            <p:nvPr/>
          </p:nvSpPr>
          <p:spPr>
            <a:xfrm flipH="false" flipV="false" rot="0">
              <a:off x="0" y="0"/>
              <a:ext cx="1097280" cy="1097280"/>
            </a:xfrm>
            <a:custGeom>
              <a:avLst/>
              <a:gdLst/>
              <a:ahLst/>
              <a:cxnLst/>
              <a:rect r="r" b="b" t="t" l="l"/>
              <a:pathLst>
                <a:path h="1097280" w="1097280">
                  <a:moveTo>
                    <a:pt x="0" y="0"/>
                  </a:moveTo>
                  <a:lnTo>
                    <a:pt x="1097280" y="0"/>
                  </a:lnTo>
                  <a:lnTo>
                    <a:pt x="1097280" y="1097280"/>
                  </a:lnTo>
                  <a:lnTo>
                    <a:pt x="0" y="1097280"/>
                  </a:lnTo>
                  <a:close/>
                </a:path>
              </a:pathLst>
            </a:custGeom>
            <a:blipFill>
              <a:blip r:embed="rId4">
                <a:alphaModFix amt="0"/>
              </a:blip>
              <a:stretch>
                <a:fillRect l="-78303" t="0" r="-78303" b="0"/>
              </a:stretch>
            </a:blipFill>
          </p:spPr>
        </p:sp>
        <p:sp>
          <p:nvSpPr>
            <p:cNvPr name="TextBox 21" id="21"/>
            <p:cNvSpPr txBox="true"/>
            <p:nvPr/>
          </p:nvSpPr>
          <p:spPr>
            <a:xfrm>
              <a:off x="0" y="-28575"/>
              <a:ext cx="1097280" cy="1125855"/>
            </a:xfrm>
            <a:prstGeom prst="rect">
              <a:avLst/>
            </a:prstGeom>
          </p:spPr>
          <p:txBody>
            <a:bodyPr anchor="ctr" rtlCol="false" tIns="0" lIns="0" bIns="0" rIns="0"/>
            <a:lstStyle/>
            <a:p>
              <a:pPr algn="ctr">
                <a:lnSpc>
                  <a:spcPts val="3432"/>
                </a:lnSpc>
              </a:pPr>
              <a:r>
                <a:rPr lang="en-US" sz="2600" b="true">
                  <a:solidFill>
                    <a:srgbClr val="FFFFFF"/>
                  </a:solidFill>
                  <a:latin typeface="Montserrat Bold"/>
                  <a:ea typeface="Montserrat Bold"/>
                  <a:cs typeface="Montserrat Bold"/>
                  <a:sym typeface="Montserrat Bold"/>
                </a:rPr>
                <a:t>2</a:t>
              </a:r>
            </a:p>
          </p:txBody>
        </p:sp>
      </p:grpSp>
      <p:grpSp>
        <p:nvGrpSpPr>
          <p:cNvPr name="Group 22" id="22"/>
          <p:cNvGrpSpPr/>
          <p:nvPr/>
        </p:nvGrpSpPr>
        <p:grpSpPr>
          <a:xfrm rot="0">
            <a:off x="7452360" y="2468880"/>
            <a:ext cx="4480560" cy="822960"/>
            <a:chOff x="0" y="0"/>
            <a:chExt cx="5974080" cy="1097280"/>
          </a:xfrm>
        </p:grpSpPr>
        <p:sp>
          <p:nvSpPr>
            <p:cNvPr name="Freeform 23" id="23"/>
            <p:cNvSpPr/>
            <p:nvPr/>
          </p:nvSpPr>
          <p:spPr>
            <a:xfrm flipH="false" flipV="false" rot="0">
              <a:off x="0" y="0"/>
              <a:ext cx="5974080" cy="1097280"/>
            </a:xfrm>
            <a:custGeom>
              <a:avLst/>
              <a:gdLst/>
              <a:ahLst/>
              <a:cxnLst/>
              <a:rect r="r" b="b" t="t" l="l"/>
              <a:pathLst>
                <a:path h="1097280" w="5974080">
                  <a:moveTo>
                    <a:pt x="0" y="0"/>
                  </a:moveTo>
                  <a:lnTo>
                    <a:pt x="5974080" y="0"/>
                  </a:lnTo>
                  <a:lnTo>
                    <a:pt x="5974080" y="1097280"/>
                  </a:lnTo>
                  <a:lnTo>
                    <a:pt x="0" y="1097280"/>
                  </a:lnTo>
                  <a:close/>
                </a:path>
              </a:pathLst>
            </a:custGeom>
            <a:blipFill>
              <a:blip r:embed="rId4">
                <a:alphaModFix amt="0"/>
              </a:blip>
              <a:stretch>
                <a:fillRect l="0" t="-56085" r="0" b="-56085"/>
              </a:stretch>
            </a:blipFill>
          </p:spPr>
        </p:sp>
        <p:sp>
          <p:nvSpPr>
            <p:cNvPr name="TextBox 24" id="24"/>
            <p:cNvSpPr txBox="true"/>
            <p:nvPr/>
          </p:nvSpPr>
          <p:spPr>
            <a:xfrm>
              <a:off x="0" y="-19050"/>
              <a:ext cx="5974080" cy="1116330"/>
            </a:xfrm>
            <a:prstGeom prst="rect">
              <a:avLst/>
            </a:prstGeom>
          </p:spPr>
          <p:txBody>
            <a:bodyPr anchor="ctr" rtlCol="false" tIns="0" lIns="0" bIns="0" rIns="0"/>
            <a:lstStyle/>
            <a:p>
              <a:pPr algn="l">
                <a:lnSpc>
                  <a:spcPts val="2111"/>
                </a:lnSpc>
              </a:pPr>
              <a:r>
                <a:rPr lang="en-US" sz="1599" b="true">
                  <a:solidFill>
                    <a:srgbClr val="FFFFFF"/>
                  </a:solidFill>
                  <a:latin typeface="Montserrat Bold"/>
                  <a:ea typeface="Montserrat Bold"/>
                  <a:cs typeface="Montserrat Bold"/>
                  <a:sym typeface="Montserrat Bold"/>
                </a:rPr>
                <a:t>Crédito y restricciones de Azure for Students</a:t>
              </a:r>
            </a:p>
          </p:txBody>
        </p:sp>
      </p:grpSp>
      <p:grpSp>
        <p:nvGrpSpPr>
          <p:cNvPr name="Group 25" id="25"/>
          <p:cNvGrpSpPr/>
          <p:nvPr/>
        </p:nvGrpSpPr>
        <p:grpSpPr>
          <a:xfrm rot="0">
            <a:off x="6446520" y="3520440"/>
            <a:ext cx="5440680" cy="2240280"/>
            <a:chOff x="0" y="0"/>
            <a:chExt cx="7254240" cy="2987040"/>
          </a:xfrm>
        </p:grpSpPr>
        <p:sp>
          <p:nvSpPr>
            <p:cNvPr name="Freeform 26" id="26"/>
            <p:cNvSpPr/>
            <p:nvPr/>
          </p:nvSpPr>
          <p:spPr>
            <a:xfrm flipH="false" flipV="false" rot="0">
              <a:off x="0" y="0"/>
              <a:ext cx="7254239" cy="2987040"/>
            </a:xfrm>
            <a:custGeom>
              <a:avLst/>
              <a:gdLst/>
              <a:ahLst/>
              <a:cxnLst/>
              <a:rect r="r" b="b" t="t" l="l"/>
              <a:pathLst>
                <a:path h="2987040" w="7254239">
                  <a:moveTo>
                    <a:pt x="0" y="358394"/>
                  </a:moveTo>
                  <a:cubicBezTo>
                    <a:pt x="0" y="160528"/>
                    <a:pt x="160528" y="0"/>
                    <a:pt x="358394" y="0"/>
                  </a:cubicBezTo>
                  <a:lnTo>
                    <a:pt x="6895846" y="0"/>
                  </a:lnTo>
                  <a:cubicBezTo>
                    <a:pt x="7093839" y="0"/>
                    <a:pt x="7254239" y="160528"/>
                    <a:pt x="7254239" y="358394"/>
                  </a:cubicBezTo>
                  <a:lnTo>
                    <a:pt x="7254239" y="2628646"/>
                  </a:lnTo>
                  <a:cubicBezTo>
                    <a:pt x="7254239" y="2826639"/>
                    <a:pt x="7093712" y="2987040"/>
                    <a:pt x="6895846" y="2987040"/>
                  </a:cubicBezTo>
                  <a:lnTo>
                    <a:pt x="358394" y="2987040"/>
                  </a:lnTo>
                  <a:cubicBezTo>
                    <a:pt x="160528" y="2987040"/>
                    <a:pt x="0" y="2826512"/>
                    <a:pt x="0" y="2628646"/>
                  </a:cubicBezTo>
                  <a:close/>
                </a:path>
              </a:pathLst>
            </a:custGeom>
            <a:solidFill>
              <a:srgbClr val="15193A"/>
            </a:solidFill>
          </p:spPr>
        </p:sp>
      </p:grpSp>
      <p:sp>
        <p:nvSpPr>
          <p:cNvPr name="TextBox 27" id="27"/>
          <p:cNvSpPr txBox="true"/>
          <p:nvPr/>
        </p:nvSpPr>
        <p:spPr>
          <a:xfrm rot="0">
            <a:off x="6766560" y="3674745"/>
            <a:ext cx="4800600" cy="2040255"/>
          </a:xfrm>
          <a:prstGeom prst="rect">
            <a:avLst/>
          </a:prstGeom>
        </p:spPr>
        <p:txBody>
          <a:bodyPr anchor="t" rtlCol="false" tIns="0" lIns="0" bIns="0" rIns="0">
            <a:spAutoFit/>
          </a:bodyPr>
          <a:lstStyle/>
          <a:p>
            <a:pPr algn="l">
              <a:lnSpc>
                <a:spcPts val="1982"/>
              </a:lnSpc>
            </a:pPr>
            <a:r>
              <a:rPr lang="en-US" sz="1400" b="true">
                <a:solidFill>
                  <a:srgbClr val="C9D2F0"/>
                </a:solidFill>
                <a:latin typeface="Montserrat Bold"/>
                <a:ea typeface="Montserrat Bold"/>
                <a:cs typeface="Montserrat Bold"/>
                <a:sym typeface="Montserrat Bold"/>
              </a:rPr>
              <a:t>Mitigación</a:t>
            </a:r>
          </a:p>
          <a:p>
            <a:pPr algn="l">
              <a:lnSpc>
                <a:spcPts val="2336"/>
              </a:lnSpc>
            </a:pPr>
            <a:r>
              <a:rPr lang="en-US" sz="1650">
                <a:solidFill>
                  <a:srgbClr val="FFFFFF"/>
                </a:solidFill>
                <a:latin typeface="Montserrat"/>
                <a:ea typeface="Montserrat"/>
                <a:cs typeface="Montserrat"/>
                <a:sym typeface="Montserrat"/>
              </a:rPr>
              <a:t>Infraestructura recreable con scripts (app/infra/azure), apagada entre demos y Ngrok como respaldo.</a:t>
            </a:r>
          </a:p>
        </p:txBody>
      </p:sp>
      <p:grpSp>
        <p:nvGrpSpPr>
          <p:cNvPr name="Group 28" id="28"/>
          <p:cNvGrpSpPr/>
          <p:nvPr/>
        </p:nvGrpSpPr>
        <p:grpSpPr>
          <a:xfrm rot="0">
            <a:off x="12161520" y="2468880"/>
            <a:ext cx="822960" cy="822960"/>
            <a:chOff x="0" y="0"/>
            <a:chExt cx="1097280" cy="1097280"/>
          </a:xfrm>
        </p:grpSpPr>
        <p:sp>
          <p:nvSpPr>
            <p:cNvPr name="Freeform 29" id="29" descr="image6.png"/>
            <p:cNvSpPr/>
            <p:nvPr/>
          </p:nvSpPr>
          <p:spPr>
            <a:xfrm flipH="false" flipV="false" rot="0">
              <a:off x="0" y="0"/>
              <a:ext cx="1097280" cy="1097280"/>
            </a:xfrm>
            <a:custGeom>
              <a:avLst/>
              <a:gdLst/>
              <a:ahLst/>
              <a:cxnLst/>
              <a:rect r="r" b="b" t="t" l="l"/>
              <a:pathLst>
                <a:path h="1097280" w="1097280">
                  <a:moveTo>
                    <a:pt x="0" y="0"/>
                  </a:moveTo>
                  <a:lnTo>
                    <a:pt x="1097280" y="0"/>
                  </a:lnTo>
                  <a:lnTo>
                    <a:pt x="1097280" y="1097280"/>
                  </a:lnTo>
                  <a:lnTo>
                    <a:pt x="0" y="1097280"/>
                  </a:lnTo>
                  <a:lnTo>
                    <a:pt x="0" y="0"/>
                  </a:lnTo>
                  <a:close/>
                </a:path>
              </a:pathLst>
            </a:custGeom>
            <a:blipFill>
              <a:blip r:embed="rId3"/>
              <a:stretch>
                <a:fillRect l="0" t="0" r="0" b="0"/>
              </a:stretch>
            </a:blipFill>
          </p:spPr>
        </p:sp>
      </p:grpSp>
      <p:grpSp>
        <p:nvGrpSpPr>
          <p:cNvPr name="Group 30" id="30"/>
          <p:cNvGrpSpPr/>
          <p:nvPr/>
        </p:nvGrpSpPr>
        <p:grpSpPr>
          <a:xfrm rot="0">
            <a:off x="12161520" y="2468880"/>
            <a:ext cx="822960" cy="822960"/>
            <a:chOff x="0" y="0"/>
            <a:chExt cx="1097280" cy="1097280"/>
          </a:xfrm>
        </p:grpSpPr>
        <p:sp>
          <p:nvSpPr>
            <p:cNvPr name="Freeform 31" id="31"/>
            <p:cNvSpPr/>
            <p:nvPr/>
          </p:nvSpPr>
          <p:spPr>
            <a:xfrm flipH="false" flipV="false" rot="0">
              <a:off x="0" y="0"/>
              <a:ext cx="1097280" cy="1097280"/>
            </a:xfrm>
            <a:custGeom>
              <a:avLst/>
              <a:gdLst/>
              <a:ahLst/>
              <a:cxnLst/>
              <a:rect r="r" b="b" t="t" l="l"/>
              <a:pathLst>
                <a:path h="1097280" w="1097280">
                  <a:moveTo>
                    <a:pt x="0" y="0"/>
                  </a:moveTo>
                  <a:lnTo>
                    <a:pt x="1097280" y="0"/>
                  </a:lnTo>
                  <a:lnTo>
                    <a:pt x="1097280" y="1097280"/>
                  </a:lnTo>
                  <a:lnTo>
                    <a:pt x="0" y="1097280"/>
                  </a:lnTo>
                  <a:close/>
                </a:path>
              </a:pathLst>
            </a:custGeom>
            <a:blipFill>
              <a:blip r:embed="rId4">
                <a:alphaModFix amt="0"/>
              </a:blip>
              <a:stretch>
                <a:fillRect l="-78303" t="0" r="-78303" b="0"/>
              </a:stretch>
            </a:blipFill>
          </p:spPr>
        </p:sp>
        <p:sp>
          <p:nvSpPr>
            <p:cNvPr name="TextBox 32" id="32"/>
            <p:cNvSpPr txBox="true"/>
            <p:nvPr/>
          </p:nvSpPr>
          <p:spPr>
            <a:xfrm>
              <a:off x="0" y="-28575"/>
              <a:ext cx="1097280" cy="1125855"/>
            </a:xfrm>
            <a:prstGeom prst="rect">
              <a:avLst/>
            </a:prstGeom>
          </p:spPr>
          <p:txBody>
            <a:bodyPr anchor="ctr" rtlCol="false" tIns="0" lIns="0" bIns="0" rIns="0"/>
            <a:lstStyle/>
            <a:p>
              <a:pPr algn="ctr">
                <a:lnSpc>
                  <a:spcPts val="3432"/>
                </a:lnSpc>
              </a:pPr>
              <a:r>
                <a:rPr lang="en-US" sz="2600" b="true">
                  <a:solidFill>
                    <a:srgbClr val="FFFFFF"/>
                  </a:solidFill>
                  <a:latin typeface="Montserrat Bold"/>
                  <a:ea typeface="Montserrat Bold"/>
                  <a:cs typeface="Montserrat Bold"/>
                  <a:sym typeface="Montserrat Bold"/>
                </a:rPr>
                <a:t>3</a:t>
              </a:r>
            </a:p>
          </p:txBody>
        </p:sp>
      </p:grpSp>
      <p:grpSp>
        <p:nvGrpSpPr>
          <p:cNvPr name="Group 33" id="33"/>
          <p:cNvGrpSpPr/>
          <p:nvPr/>
        </p:nvGrpSpPr>
        <p:grpSpPr>
          <a:xfrm rot="0">
            <a:off x="13167360" y="2468880"/>
            <a:ext cx="4480560" cy="822960"/>
            <a:chOff x="0" y="0"/>
            <a:chExt cx="5974080" cy="1097280"/>
          </a:xfrm>
        </p:grpSpPr>
        <p:sp>
          <p:nvSpPr>
            <p:cNvPr name="Freeform 34" id="34"/>
            <p:cNvSpPr/>
            <p:nvPr/>
          </p:nvSpPr>
          <p:spPr>
            <a:xfrm flipH="false" flipV="false" rot="0">
              <a:off x="0" y="0"/>
              <a:ext cx="5974080" cy="1097280"/>
            </a:xfrm>
            <a:custGeom>
              <a:avLst/>
              <a:gdLst/>
              <a:ahLst/>
              <a:cxnLst/>
              <a:rect r="r" b="b" t="t" l="l"/>
              <a:pathLst>
                <a:path h="1097280" w="5974080">
                  <a:moveTo>
                    <a:pt x="0" y="0"/>
                  </a:moveTo>
                  <a:lnTo>
                    <a:pt x="5974080" y="0"/>
                  </a:lnTo>
                  <a:lnTo>
                    <a:pt x="5974080" y="1097280"/>
                  </a:lnTo>
                  <a:lnTo>
                    <a:pt x="0" y="1097280"/>
                  </a:lnTo>
                  <a:close/>
                </a:path>
              </a:pathLst>
            </a:custGeom>
            <a:blipFill>
              <a:blip r:embed="rId4">
                <a:alphaModFix amt="0"/>
              </a:blip>
              <a:stretch>
                <a:fillRect l="0" t="-56085" r="0" b="-56085"/>
              </a:stretch>
            </a:blipFill>
          </p:spPr>
        </p:sp>
        <p:sp>
          <p:nvSpPr>
            <p:cNvPr name="TextBox 35" id="35"/>
            <p:cNvSpPr txBox="true"/>
            <p:nvPr/>
          </p:nvSpPr>
          <p:spPr>
            <a:xfrm>
              <a:off x="0" y="-19050"/>
              <a:ext cx="5974080" cy="1116330"/>
            </a:xfrm>
            <a:prstGeom prst="rect">
              <a:avLst/>
            </a:prstGeom>
          </p:spPr>
          <p:txBody>
            <a:bodyPr anchor="ctr" rtlCol="false" tIns="0" lIns="0" bIns="0" rIns="0"/>
            <a:lstStyle/>
            <a:p>
              <a:pPr algn="l">
                <a:lnSpc>
                  <a:spcPts val="2111"/>
                </a:lnSpc>
              </a:pPr>
              <a:r>
                <a:rPr lang="en-US" sz="1599" b="true">
                  <a:solidFill>
                    <a:srgbClr val="FFFFFF"/>
                  </a:solidFill>
                  <a:latin typeface="Montserrat Bold"/>
                  <a:ea typeface="Montserrat Bold"/>
                  <a:cs typeface="Montserrat Bold"/>
                  <a:sym typeface="Montserrat Bold"/>
                </a:rPr>
                <a:t>Poco tiempo de Jean y Oscar (jornada laboral)</a:t>
              </a:r>
            </a:p>
          </p:txBody>
        </p:sp>
      </p:grpSp>
      <p:grpSp>
        <p:nvGrpSpPr>
          <p:cNvPr name="Group 36" id="36"/>
          <p:cNvGrpSpPr/>
          <p:nvPr/>
        </p:nvGrpSpPr>
        <p:grpSpPr>
          <a:xfrm rot="0">
            <a:off x="12161520" y="3520440"/>
            <a:ext cx="5440680" cy="2240280"/>
            <a:chOff x="0" y="0"/>
            <a:chExt cx="7254240" cy="2987040"/>
          </a:xfrm>
        </p:grpSpPr>
        <p:sp>
          <p:nvSpPr>
            <p:cNvPr name="Freeform 37" id="37"/>
            <p:cNvSpPr/>
            <p:nvPr/>
          </p:nvSpPr>
          <p:spPr>
            <a:xfrm flipH="false" flipV="false" rot="0">
              <a:off x="0" y="0"/>
              <a:ext cx="7254239" cy="2987040"/>
            </a:xfrm>
            <a:custGeom>
              <a:avLst/>
              <a:gdLst/>
              <a:ahLst/>
              <a:cxnLst/>
              <a:rect r="r" b="b" t="t" l="l"/>
              <a:pathLst>
                <a:path h="2987040" w="7254239">
                  <a:moveTo>
                    <a:pt x="0" y="358394"/>
                  </a:moveTo>
                  <a:cubicBezTo>
                    <a:pt x="0" y="160528"/>
                    <a:pt x="160528" y="0"/>
                    <a:pt x="358394" y="0"/>
                  </a:cubicBezTo>
                  <a:lnTo>
                    <a:pt x="6895846" y="0"/>
                  </a:lnTo>
                  <a:cubicBezTo>
                    <a:pt x="7093839" y="0"/>
                    <a:pt x="7254239" y="160528"/>
                    <a:pt x="7254239" y="358394"/>
                  </a:cubicBezTo>
                  <a:lnTo>
                    <a:pt x="7254239" y="2628646"/>
                  </a:lnTo>
                  <a:cubicBezTo>
                    <a:pt x="7254239" y="2826639"/>
                    <a:pt x="7093712" y="2987040"/>
                    <a:pt x="6895846" y="2987040"/>
                  </a:cubicBezTo>
                  <a:lnTo>
                    <a:pt x="358394" y="2987040"/>
                  </a:lnTo>
                  <a:cubicBezTo>
                    <a:pt x="160528" y="2987040"/>
                    <a:pt x="0" y="2826512"/>
                    <a:pt x="0" y="2628646"/>
                  </a:cubicBezTo>
                  <a:close/>
                </a:path>
              </a:pathLst>
            </a:custGeom>
            <a:solidFill>
              <a:srgbClr val="15193A"/>
            </a:solidFill>
          </p:spPr>
        </p:sp>
      </p:grpSp>
      <p:sp>
        <p:nvSpPr>
          <p:cNvPr name="TextBox 38" id="38"/>
          <p:cNvSpPr txBox="true"/>
          <p:nvPr/>
        </p:nvSpPr>
        <p:spPr>
          <a:xfrm rot="0">
            <a:off x="12481560" y="3674745"/>
            <a:ext cx="4800600" cy="2040255"/>
          </a:xfrm>
          <a:prstGeom prst="rect">
            <a:avLst/>
          </a:prstGeom>
        </p:spPr>
        <p:txBody>
          <a:bodyPr anchor="t" rtlCol="false" tIns="0" lIns="0" bIns="0" rIns="0">
            <a:spAutoFit/>
          </a:bodyPr>
          <a:lstStyle/>
          <a:p>
            <a:pPr algn="l">
              <a:lnSpc>
                <a:spcPts val="1982"/>
              </a:lnSpc>
            </a:pPr>
            <a:r>
              <a:rPr lang="en-US" sz="1400" b="true">
                <a:solidFill>
                  <a:srgbClr val="C9D2F0"/>
                </a:solidFill>
                <a:latin typeface="Montserrat Bold"/>
                <a:ea typeface="Montserrat Bold"/>
                <a:cs typeface="Montserrat Bold"/>
                <a:sym typeface="Montserrat Bold"/>
              </a:rPr>
              <a:t>Mitigación</a:t>
            </a:r>
          </a:p>
          <a:p>
            <a:pPr algn="l">
              <a:lnSpc>
                <a:spcPts val="2336"/>
              </a:lnSpc>
            </a:pPr>
            <a:r>
              <a:rPr lang="en-US" sz="1650">
                <a:solidFill>
                  <a:srgbClr val="FFFFFF"/>
                </a:solidFill>
                <a:latin typeface="Montserrat"/>
                <a:ea typeface="Montserrat"/>
                <a:cs typeface="Montserrat"/>
                <a:sym typeface="Montserrat"/>
              </a:rPr>
              <a:t>Apoyo transversal de David y seguimiento semanal para reasignar tareas.</a:t>
            </a:r>
          </a:p>
        </p:txBody>
      </p:sp>
      <p:sp>
        <p:nvSpPr>
          <p:cNvPr name="TextBox 39" id="39"/>
          <p:cNvSpPr txBox="true"/>
          <p:nvPr/>
        </p:nvSpPr>
        <p:spPr>
          <a:xfrm rot="0">
            <a:off x="731520" y="6244590"/>
            <a:ext cx="16824960" cy="476250"/>
          </a:xfrm>
          <a:prstGeom prst="rect">
            <a:avLst/>
          </a:prstGeom>
        </p:spPr>
        <p:txBody>
          <a:bodyPr anchor="t" rtlCol="false" tIns="0" lIns="0" bIns="0" rIns="0">
            <a:spAutoFit/>
          </a:bodyPr>
          <a:lstStyle/>
          <a:p>
            <a:pPr algn="l">
              <a:lnSpc>
                <a:spcPts val="2640"/>
              </a:lnSpc>
            </a:pPr>
            <a:r>
              <a:rPr lang="en-US" sz="2000" b="true">
                <a:solidFill>
                  <a:srgbClr val="FFFFFF"/>
                </a:solidFill>
                <a:latin typeface="Montserrat Medium"/>
                <a:ea typeface="Montserrat Medium"/>
                <a:cs typeface="Montserrat Medium"/>
                <a:sym typeface="Montserrat Medium"/>
              </a:rPr>
              <a:t>Comprometido para la semana 15</a:t>
            </a:r>
          </a:p>
        </p:txBody>
      </p:sp>
      <p:sp>
        <p:nvSpPr>
          <p:cNvPr name="AutoShape 40" id="40"/>
          <p:cNvSpPr/>
          <p:nvPr/>
        </p:nvSpPr>
        <p:spPr>
          <a:xfrm rot="7860">
            <a:off x="803891" y="7163753"/>
            <a:ext cx="16680228" cy="0"/>
          </a:xfrm>
          <a:prstGeom prst="line">
            <a:avLst/>
          </a:prstGeom>
          <a:ln cap="rnd" w="28575">
            <a:solidFill>
              <a:srgbClr val="2B41B5"/>
            </a:solidFill>
            <a:prstDash val="solid"/>
            <a:headEnd type="none" len="sm" w="sm"/>
            <a:tailEnd type="triangle" len="med" w="lg"/>
          </a:ln>
        </p:spPr>
      </p:sp>
      <p:grpSp>
        <p:nvGrpSpPr>
          <p:cNvPr name="Group 41" id="41"/>
          <p:cNvGrpSpPr/>
          <p:nvPr/>
        </p:nvGrpSpPr>
        <p:grpSpPr>
          <a:xfrm rot="0">
            <a:off x="868680" y="7040880"/>
            <a:ext cx="274320" cy="274320"/>
            <a:chOff x="0" y="0"/>
            <a:chExt cx="365760" cy="365760"/>
          </a:xfrm>
        </p:grpSpPr>
        <p:sp>
          <p:nvSpPr>
            <p:cNvPr name="Freeform 42" id="42"/>
            <p:cNvSpPr/>
            <p:nvPr/>
          </p:nvSpPr>
          <p:spPr>
            <a:xfrm flipH="false" flipV="false" rot="0">
              <a:off x="0" y="0"/>
              <a:ext cx="365760" cy="365760"/>
            </a:xfrm>
            <a:custGeom>
              <a:avLst/>
              <a:gdLst/>
              <a:ahLst/>
              <a:cxnLst/>
              <a:rect r="r" b="b" t="t" l="l"/>
              <a:pathLst>
                <a:path h="365760" w="365760">
                  <a:moveTo>
                    <a:pt x="0" y="182880"/>
                  </a:moveTo>
                  <a:cubicBezTo>
                    <a:pt x="0" y="81915"/>
                    <a:pt x="81915" y="0"/>
                    <a:pt x="182880" y="0"/>
                  </a:cubicBezTo>
                  <a:cubicBezTo>
                    <a:pt x="283845" y="0"/>
                    <a:pt x="365760" y="81915"/>
                    <a:pt x="365760" y="182880"/>
                  </a:cubicBezTo>
                  <a:cubicBezTo>
                    <a:pt x="365760" y="283845"/>
                    <a:pt x="283845" y="365760"/>
                    <a:pt x="182880" y="365760"/>
                  </a:cubicBezTo>
                  <a:cubicBezTo>
                    <a:pt x="81915" y="365760"/>
                    <a:pt x="0" y="283845"/>
                    <a:pt x="0" y="182880"/>
                  </a:cubicBezTo>
                  <a:close/>
                </a:path>
              </a:pathLst>
            </a:custGeom>
            <a:solidFill>
              <a:srgbClr val="2B41B5"/>
            </a:solidFill>
          </p:spPr>
        </p:sp>
      </p:grpSp>
      <p:sp>
        <p:nvSpPr>
          <p:cNvPr name="TextBox 43" id="43"/>
          <p:cNvSpPr txBox="true"/>
          <p:nvPr/>
        </p:nvSpPr>
        <p:spPr>
          <a:xfrm rot="0">
            <a:off x="731520" y="7479030"/>
            <a:ext cx="5440680" cy="476250"/>
          </a:xfrm>
          <a:prstGeom prst="rect">
            <a:avLst/>
          </a:prstGeom>
        </p:spPr>
        <p:txBody>
          <a:bodyPr anchor="t" rtlCol="false" tIns="0" lIns="0" bIns="0" rIns="0">
            <a:spAutoFit/>
          </a:bodyPr>
          <a:lstStyle/>
          <a:p>
            <a:pPr algn="l">
              <a:lnSpc>
                <a:spcPts val="2244"/>
              </a:lnSpc>
            </a:pPr>
            <a:r>
              <a:rPr lang="en-US" sz="1700" b="true">
                <a:solidFill>
                  <a:srgbClr val="FFFFFF"/>
                </a:solidFill>
                <a:latin typeface="Montserrat Bold"/>
                <a:ea typeface="Montserrat Bold"/>
                <a:cs typeface="Montserrat Bold"/>
                <a:sym typeface="Montserrat Bold"/>
              </a:rPr>
              <a:t>H3 · semana 11</a:t>
            </a:r>
          </a:p>
        </p:txBody>
      </p:sp>
      <p:sp>
        <p:nvSpPr>
          <p:cNvPr name="TextBox 44" id="44"/>
          <p:cNvSpPr txBox="true"/>
          <p:nvPr/>
        </p:nvSpPr>
        <p:spPr>
          <a:xfrm rot="0">
            <a:off x="731520" y="7972425"/>
            <a:ext cx="5440680" cy="1857375"/>
          </a:xfrm>
          <a:prstGeom prst="rect">
            <a:avLst/>
          </a:prstGeom>
        </p:spPr>
        <p:txBody>
          <a:bodyPr anchor="t" rtlCol="false" tIns="0" lIns="0" bIns="0" rIns="0">
            <a:spAutoFit/>
          </a:bodyPr>
          <a:lstStyle/>
          <a:p>
            <a:pPr algn="l">
              <a:lnSpc>
                <a:spcPts val="2207"/>
              </a:lnSpc>
            </a:pPr>
            <a:r>
              <a:rPr lang="en-US" sz="1599">
                <a:solidFill>
                  <a:srgbClr val="C9D2F0"/>
                </a:solidFill>
                <a:latin typeface="Montserrat"/>
                <a:ea typeface="Montserrat"/>
                <a:cs typeface="Montserrat"/>
                <a:sym typeface="Montserrat"/>
              </a:rPr>
              <a:t>Plataforma completa en Docker y desplegada en la nube (backend en Azure, frontend en Vercel).</a:t>
            </a:r>
          </a:p>
        </p:txBody>
      </p:sp>
      <p:grpSp>
        <p:nvGrpSpPr>
          <p:cNvPr name="Group 45" id="45"/>
          <p:cNvGrpSpPr/>
          <p:nvPr/>
        </p:nvGrpSpPr>
        <p:grpSpPr>
          <a:xfrm rot="0">
            <a:off x="6583680" y="7040880"/>
            <a:ext cx="274320" cy="274320"/>
            <a:chOff x="0" y="0"/>
            <a:chExt cx="365760" cy="365760"/>
          </a:xfrm>
        </p:grpSpPr>
        <p:sp>
          <p:nvSpPr>
            <p:cNvPr name="Freeform 46" id="46"/>
            <p:cNvSpPr/>
            <p:nvPr/>
          </p:nvSpPr>
          <p:spPr>
            <a:xfrm flipH="false" flipV="false" rot="0">
              <a:off x="0" y="0"/>
              <a:ext cx="365760" cy="365760"/>
            </a:xfrm>
            <a:custGeom>
              <a:avLst/>
              <a:gdLst/>
              <a:ahLst/>
              <a:cxnLst/>
              <a:rect r="r" b="b" t="t" l="l"/>
              <a:pathLst>
                <a:path h="365760" w="365760">
                  <a:moveTo>
                    <a:pt x="0" y="182880"/>
                  </a:moveTo>
                  <a:cubicBezTo>
                    <a:pt x="0" y="81915"/>
                    <a:pt x="81915" y="0"/>
                    <a:pt x="182880" y="0"/>
                  </a:cubicBezTo>
                  <a:cubicBezTo>
                    <a:pt x="283845" y="0"/>
                    <a:pt x="365760" y="81915"/>
                    <a:pt x="365760" y="182880"/>
                  </a:cubicBezTo>
                  <a:cubicBezTo>
                    <a:pt x="365760" y="283845"/>
                    <a:pt x="283845" y="365760"/>
                    <a:pt x="182880" y="365760"/>
                  </a:cubicBezTo>
                  <a:cubicBezTo>
                    <a:pt x="81915" y="365760"/>
                    <a:pt x="0" y="283845"/>
                    <a:pt x="0" y="182880"/>
                  </a:cubicBezTo>
                  <a:close/>
                </a:path>
              </a:pathLst>
            </a:custGeom>
            <a:solidFill>
              <a:srgbClr val="2B41B5"/>
            </a:solidFill>
          </p:spPr>
        </p:sp>
      </p:grpSp>
      <p:sp>
        <p:nvSpPr>
          <p:cNvPr name="TextBox 47" id="47"/>
          <p:cNvSpPr txBox="true"/>
          <p:nvPr/>
        </p:nvSpPr>
        <p:spPr>
          <a:xfrm rot="0">
            <a:off x="6446520" y="7479030"/>
            <a:ext cx="5440680" cy="476250"/>
          </a:xfrm>
          <a:prstGeom prst="rect">
            <a:avLst/>
          </a:prstGeom>
        </p:spPr>
        <p:txBody>
          <a:bodyPr anchor="t" rtlCol="false" tIns="0" lIns="0" bIns="0" rIns="0">
            <a:spAutoFit/>
          </a:bodyPr>
          <a:lstStyle/>
          <a:p>
            <a:pPr algn="l">
              <a:lnSpc>
                <a:spcPts val="2244"/>
              </a:lnSpc>
            </a:pPr>
            <a:r>
              <a:rPr lang="en-US" sz="1700" b="true">
                <a:solidFill>
                  <a:srgbClr val="FFFFFF"/>
                </a:solidFill>
                <a:latin typeface="Montserrat Bold"/>
                <a:ea typeface="Montserrat Bold"/>
                <a:cs typeface="Montserrat Bold"/>
                <a:sym typeface="Montserrat Bold"/>
              </a:rPr>
              <a:t>H4 · semana 13</a:t>
            </a:r>
          </a:p>
        </p:txBody>
      </p:sp>
      <p:sp>
        <p:nvSpPr>
          <p:cNvPr name="TextBox 48" id="48"/>
          <p:cNvSpPr txBox="true"/>
          <p:nvPr/>
        </p:nvSpPr>
        <p:spPr>
          <a:xfrm rot="0">
            <a:off x="6446520" y="7972425"/>
            <a:ext cx="5440680" cy="1857375"/>
          </a:xfrm>
          <a:prstGeom prst="rect">
            <a:avLst/>
          </a:prstGeom>
        </p:spPr>
        <p:txBody>
          <a:bodyPr anchor="t" rtlCol="false" tIns="0" lIns="0" bIns="0" rIns="0">
            <a:spAutoFit/>
          </a:bodyPr>
          <a:lstStyle/>
          <a:p>
            <a:pPr algn="l">
              <a:lnSpc>
                <a:spcPts val="2207"/>
              </a:lnSpc>
            </a:pPr>
            <a:r>
              <a:rPr lang="en-US" sz="1599">
                <a:solidFill>
                  <a:srgbClr val="C9D2F0"/>
                </a:solidFill>
                <a:latin typeface="Montserrat"/>
                <a:ea typeface="Montserrat"/>
                <a:cs typeface="Montserrat"/>
                <a:sym typeface="Montserrat"/>
              </a:rPr>
              <a:t>Sistema integrado y probado de punta a punta; brechas del MVP cerradas (planes, correo, PDF de facturas, catálogos y pasarela).</a:t>
            </a:r>
          </a:p>
        </p:txBody>
      </p:sp>
      <p:grpSp>
        <p:nvGrpSpPr>
          <p:cNvPr name="Group 49" id="49"/>
          <p:cNvGrpSpPr/>
          <p:nvPr/>
        </p:nvGrpSpPr>
        <p:grpSpPr>
          <a:xfrm rot="0">
            <a:off x="12298680" y="7040880"/>
            <a:ext cx="274320" cy="274320"/>
            <a:chOff x="0" y="0"/>
            <a:chExt cx="365760" cy="365760"/>
          </a:xfrm>
        </p:grpSpPr>
        <p:sp>
          <p:nvSpPr>
            <p:cNvPr name="Freeform 50" id="50"/>
            <p:cNvSpPr/>
            <p:nvPr/>
          </p:nvSpPr>
          <p:spPr>
            <a:xfrm flipH="false" flipV="false" rot="0">
              <a:off x="0" y="0"/>
              <a:ext cx="365760" cy="365760"/>
            </a:xfrm>
            <a:custGeom>
              <a:avLst/>
              <a:gdLst/>
              <a:ahLst/>
              <a:cxnLst/>
              <a:rect r="r" b="b" t="t" l="l"/>
              <a:pathLst>
                <a:path h="365760" w="365760">
                  <a:moveTo>
                    <a:pt x="0" y="182880"/>
                  </a:moveTo>
                  <a:cubicBezTo>
                    <a:pt x="0" y="81915"/>
                    <a:pt x="81915" y="0"/>
                    <a:pt x="182880" y="0"/>
                  </a:cubicBezTo>
                  <a:cubicBezTo>
                    <a:pt x="283845" y="0"/>
                    <a:pt x="365760" y="81915"/>
                    <a:pt x="365760" y="182880"/>
                  </a:cubicBezTo>
                  <a:cubicBezTo>
                    <a:pt x="365760" y="283845"/>
                    <a:pt x="283845" y="365760"/>
                    <a:pt x="182880" y="365760"/>
                  </a:cubicBezTo>
                  <a:cubicBezTo>
                    <a:pt x="81915" y="365760"/>
                    <a:pt x="0" y="283845"/>
                    <a:pt x="0" y="182880"/>
                  </a:cubicBezTo>
                  <a:close/>
                </a:path>
              </a:pathLst>
            </a:custGeom>
            <a:solidFill>
              <a:srgbClr val="2B41B5"/>
            </a:solidFill>
          </p:spPr>
        </p:sp>
      </p:grpSp>
      <p:sp>
        <p:nvSpPr>
          <p:cNvPr name="TextBox 51" id="51"/>
          <p:cNvSpPr txBox="true"/>
          <p:nvPr/>
        </p:nvSpPr>
        <p:spPr>
          <a:xfrm rot="0">
            <a:off x="12161520" y="7479030"/>
            <a:ext cx="5440680" cy="476250"/>
          </a:xfrm>
          <a:prstGeom prst="rect">
            <a:avLst/>
          </a:prstGeom>
        </p:spPr>
        <p:txBody>
          <a:bodyPr anchor="t" rtlCol="false" tIns="0" lIns="0" bIns="0" rIns="0">
            <a:spAutoFit/>
          </a:bodyPr>
          <a:lstStyle/>
          <a:p>
            <a:pPr algn="l">
              <a:lnSpc>
                <a:spcPts val="2244"/>
              </a:lnSpc>
            </a:pPr>
            <a:r>
              <a:rPr lang="en-US" sz="1700" b="true">
                <a:solidFill>
                  <a:srgbClr val="FFFFFF"/>
                </a:solidFill>
                <a:latin typeface="Montserrat Bold"/>
                <a:ea typeface="Montserrat Bold"/>
                <a:cs typeface="Montserrat Bold"/>
                <a:sym typeface="Montserrat Bold"/>
              </a:rPr>
              <a:t>H5 · semana 15</a:t>
            </a:r>
          </a:p>
        </p:txBody>
      </p:sp>
      <p:sp>
        <p:nvSpPr>
          <p:cNvPr name="TextBox 52" id="52"/>
          <p:cNvSpPr txBox="true"/>
          <p:nvPr/>
        </p:nvSpPr>
        <p:spPr>
          <a:xfrm rot="0">
            <a:off x="12161520" y="7972425"/>
            <a:ext cx="5440680" cy="1857375"/>
          </a:xfrm>
          <a:prstGeom prst="rect">
            <a:avLst/>
          </a:prstGeom>
        </p:spPr>
        <p:txBody>
          <a:bodyPr anchor="t" rtlCol="false" tIns="0" lIns="0" bIns="0" rIns="0">
            <a:spAutoFit/>
          </a:bodyPr>
          <a:lstStyle/>
          <a:p>
            <a:pPr algn="l">
              <a:lnSpc>
                <a:spcPts val="2207"/>
              </a:lnSpc>
            </a:pPr>
            <a:r>
              <a:rPr lang="en-US" sz="1599">
                <a:solidFill>
                  <a:srgbClr val="C9D2F0"/>
                </a:solidFill>
                <a:latin typeface="Montserrat"/>
                <a:ea typeface="Montserrat"/>
                <a:cs typeface="Montserrat"/>
                <a:sym typeface="Montserrat"/>
              </a:rPr>
              <a:t>Proyecto documentado: manuales de usuario, administrador y desarrollo, diagrama de la base, endpoints e informe final.</a:t>
            </a:r>
          </a:p>
        </p:txBody>
      </p:sp>
    </p:spTree>
  </p:cSld>
  <p:clrMapOvr>
    <a:masterClrMapping/>
  </p:clrMapOvr>
</p:sld>
</file>

<file path=ppt/slides/slide1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24384000" cy="13716000"/>
          </a:xfrm>
        </p:grpSpPr>
        <p:sp>
          <p:nvSpPr>
            <p:cNvPr name="Freeform 3" id="3" descr="fondo46_85.jpg"/>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lnTo>
                    <a:pt x="0" y="0"/>
                  </a:lnTo>
                  <a:close/>
                </a:path>
              </a:pathLst>
            </a:custGeom>
            <a:blipFill>
              <a:blip r:embed="rId2"/>
              <a:stretch>
                <a:fillRect l="0" t="-666" r="0" b="-666"/>
              </a:stretch>
            </a:blipFill>
          </p:spPr>
        </p:sp>
      </p:grpSp>
      <p:sp>
        <p:nvSpPr>
          <p:cNvPr name="TextBox 4" id="4"/>
          <p:cNvSpPr txBox="true"/>
          <p:nvPr/>
        </p:nvSpPr>
        <p:spPr>
          <a:xfrm rot="0">
            <a:off x="914400" y="355473"/>
            <a:ext cx="16459200" cy="760095"/>
          </a:xfrm>
          <a:prstGeom prst="rect">
            <a:avLst/>
          </a:prstGeom>
        </p:spPr>
        <p:txBody>
          <a:bodyPr anchor="t" rtlCol="false" tIns="0" lIns="0" bIns="0" rIns="0">
            <a:spAutoFit/>
          </a:bodyPr>
          <a:lstStyle/>
          <a:p>
            <a:pPr algn="ctr">
              <a:lnSpc>
                <a:spcPts val="3960"/>
              </a:lnSpc>
            </a:pPr>
            <a:r>
              <a:rPr lang="en-US" sz="3000">
                <a:solidFill>
                  <a:srgbClr val="FFFFFF"/>
                </a:solidFill>
                <a:latin typeface="Montserrat Light"/>
                <a:ea typeface="Montserrat Light"/>
                <a:cs typeface="Montserrat Light"/>
                <a:sym typeface="Montserrat Light"/>
              </a:rPr>
              <a:t>INDIVIDUAL</a:t>
            </a:r>
          </a:p>
        </p:txBody>
      </p:sp>
      <p:sp>
        <p:nvSpPr>
          <p:cNvPr name="TextBox 5" id="5"/>
          <p:cNvSpPr txBox="true"/>
          <p:nvPr/>
        </p:nvSpPr>
        <p:spPr>
          <a:xfrm rot="0">
            <a:off x="914400" y="912495"/>
            <a:ext cx="16459200" cy="1144905"/>
          </a:xfrm>
          <a:prstGeom prst="rect">
            <a:avLst/>
          </a:prstGeom>
        </p:spPr>
        <p:txBody>
          <a:bodyPr anchor="t" rtlCol="false" tIns="0" lIns="0" bIns="0" rIns="0">
            <a:spAutoFit/>
          </a:bodyPr>
          <a:lstStyle/>
          <a:p>
            <a:pPr algn="ctr">
              <a:lnSpc>
                <a:spcPts val="6863"/>
              </a:lnSpc>
            </a:pPr>
            <a:r>
              <a:rPr lang="en-US" sz="5199" b="true">
                <a:solidFill>
                  <a:srgbClr val="FFFFFF"/>
                </a:solidFill>
                <a:latin typeface="Montserrat Bold"/>
                <a:ea typeface="Montserrat Bold"/>
                <a:cs typeface="Montserrat Bold"/>
                <a:sym typeface="Montserrat Bold"/>
              </a:rPr>
              <a:t>CONCLUSIONS</a:t>
            </a:r>
          </a:p>
        </p:txBody>
      </p:sp>
      <p:grpSp>
        <p:nvGrpSpPr>
          <p:cNvPr name="Group 6" id="6"/>
          <p:cNvGrpSpPr/>
          <p:nvPr/>
        </p:nvGrpSpPr>
        <p:grpSpPr>
          <a:xfrm rot="0">
            <a:off x="822960" y="2606040"/>
            <a:ext cx="1188720" cy="1188720"/>
            <a:chOff x="0" y="0"/>
            <a:chExt cx="1584960" cy="1584960"/>
          </a:xfrm>
        </p:grpSpPr>
        <p:sp>
          <p:nvSpPr>
            <p:cNvPr name="Freeform 7" id="7" descr="image48.png"/>
            <p:cNvSpPr/>
            <p:nvPr/>
          </p:nvSpPr>
          <p:spPr>
            <a:xfrm flipH="false" flipV="false" rot="0">
              <a:off x="0" y="0"/>
              <a:ext cx="1584960" cy="1584960"/>
            </a:xfrm>
            <a:custGeom>
              <a:avLst/>
              <a:gdLst/>
              <a:ahLst/>
              <a:cxnLst/>
              <a:rect r="r" b="b" t="t" l="l"/>
              <a:pathLst>
                <a:path h="1584960" w="1584960">
                  <a:moveTo>
                    <a:pt x="0" y="0"/>
                  </a:moveTo>
                  <a:lnTo>
                    <a:pt x="1584960" y="0"/>
                  </a:lnTo>
                  <a:lnTo>
                    <a:pt x="1584960" y="1584960"/>
                  </a:lnTo>
                  <a:lnTo>
                    <a:pt x="0" y="1584960"/>
                  </a:lnTo>
                  <a:lnTo>
                    <a:pt x="0" y="0"/>
                  </a:lnTo>
                  <a:close/>
                </a:path>
              </a:pathLst>
            </a:custGeom>
            <a:blipFill>
              <a:blip r:embed="rId3"/>
              <a:stretch>
                <a:fillRect l="0" t="0" r="0" b="0"/>
              </a:stretch>
            </a:blipFill>
          </p:spPr>
        </p:sp>
      </p:grpSp>
      <p:sp>
        <p:nvSpPr>
          <p:cNvPr name="TextBox 8" id="8"/>
          <p:cNvSpPr txBox="true"/>
          <p:nvPr/>
        </p:nvSpPr>
        <p:spPr>
          <a:xfrm rot="0">
            <a:off x="2331720" y="2440305"/>
            <a:ext cx="11521440" cy="2314575"/>
          </a:xfrm>
          <a:prstGeom prst="rect">
            <a:avLst/>
          </a:prstGeom>
        </p:spPr>
        <p:txBody>
          <a:bodyPr anchor="t" rtlCol="false" tIns="0" lIns="0" bIns="0" rIns="0">
            <a:spAutoFit/>
          </a:bodyPr>
          <a:lstStyle/>
          <a:p>
            <a:pPr algn="l">
              <a:lnSpc>
                <a:spcPts val="2207"/>
              </a:lnSpc>
            </a:pPr>
            <a:r>
              <a:rPr lang="en-US" sz="1599" b="true">
                <a:solidFill>
                  <a:srgbClr val="FFFFFF"/>
                </a:solidFill>
                <a:latin typeface="Montserrat Bold"/>
                <a:ea typeface="Montserrat Bold"/>
                <a:cs typeface="Montserrat Bold"/>
                <a:sym typeface="Montserrat Bold"/>
              </a:rPr>
              <a:t>David Martinez</a:t>
            </a:r>
            <a:r>
              <a:rPr lang="en-US" sz="1599">
                <a:solidFill>
                  <a:srgbClr val="C9D2F0"/>
                </a:solidFill>
                <a:latin typeface="Montserrat"/>
                <a:ea typeface="Montserrat"/>
                <a:cs typeface="Montserrat"/>
                <a:sym typeface="Montserrat"/>
              </a:rPr>
              <a:t>  ·  Data model, integration and deployment</a:t>
            </a:r>
          </a:p>
          <a:p>
            <a:pPr algn="l">
              <a:lnSpc>
                <a:spcPts val="2483"/>
              </a:lnSpc>
            </a:pPr>
            <a:r>
              <a:rPr lang="en-US" sz="1800">
                <a:solidFill>
                  <a:srgbClr val="FFFFFF"/>
                </a:solidFill>
                <a:latin typeface="Montserrat"/>
                <a:ea typeface="Montserrat"/>
                <a:cs typeface="Montserrat"/>
                <a:sym typeface="Montserrat"/>
              </a:rPr>
              <a:t>Working on the data model and integration, I learned that a project grows on solid foundations. Agreeing early on how the data is organized saved us many problems later.</a:t>
            </a:r>
          </a:p>
        </p:txBody>
      </p:sp>
      <p:grpSp>
        <p:nvGrpSpPr>
          <p:cNvPr name="Group 9" id="9"/>
          <p:cNvGrpSpPr/>
          <p:nvPr/>
        </p:nvGrpSpPr>
        <p:grpSpPr>
          <a:xfrm rot="0">
            <a:off x="822960" y="5029200"/>
            <a:ext cx="1188720" cy="1188720"/>
            <a:chOff x="0" y="0"/>
            <a:chExt cx="1584960" cy="1584960"/>
          </a:xfrm>
        </p:grpSpPr>
        <p:sp>
          <p:nvSpPr>
            <p:cNvPr name="Freeform 10" id="10" descr="image48.png"/>
            <p:cNvSpPr/>
            <p:nvPr/>
          </p:nvSpPr>
          <p:spPr>
            <a:xfrm flipH="false" flipV="false" rot="0">
              <a:off x="0" y="0"/>
              <a:ext cx="1584960" cy="1584960"/>
            </a:xfrm>
            <a:custGeom>
              <a:avLst/>
              <a:gdLst/>
              <a:ahLst/>
              <a:cxnLst/>
              <a:rect r="r" b="b" t="t" l="l"/>
              <a:pathLst>
                <a:path h="1584960" w="1584960">
                  <a:moveTo>
                    <a:pt x="0" y="0"/>
                  </a:moveTo>
                  <a:lnTo>
                    <a:pt x="1584960" y="0"/>
                  </a:lnTo>
                  <a:lnTo>
                    <a:pt x="1584960" y="1584960"/>
                  </a:lnTo>
                  <a:lnTo>
                    <a:pt x="0" y="1584960"/>
                  </a:lnTo>
                  <a:lnTo>
                    <a:pt x="0" y="0"/>
                  </a:lnTo>
                  <a:close/>
                </a:path>
              </a:pathLst>
            </a:custGeom>
            <a:blipFill>
              <a:blip r:embed="rId3"/>
              <a:stretch>
                <a:fillRect l="0" t="0" r="0" b="0"/>
              </a:stretch>
            </a:blipFill>
          </p:spPr>
        </p:sp>
      </p:grpSp>
      <p:sp>
        <p:nvSpPr>
          <p:cNvPr name="TextBox 11" id="11"/>
          <p:cNvSpPr txBox="true"/>
          <p:nvPr/>
        </p:nvSpPr>
        <p:spPr>
          <a:xfrm rot="0">
            <a:off x="2331720" y="4863465"/>
            <a:ext cx="11521440" cy="2314575"/>
          </a:xfrm>
          <a:prstGeom prst="rect">
            <a:avLst/>
          </a:prstGeom>
        </p:spPr>
        <p:txBody>
          <a:bodyPr anchor="t" rtlCol="false" tIns="0" lIns="0" bIns="0" rIns="0">
            <a:spAutoFit/>
          </a:bodyPr>
          <a:lstStyle/>
          <a:p>
            <a:pPr algn="l">
              <a:lnSpc>
                <a:spcPts val="2207"/>
              </a:lnSpc>
            </a:pPr>
            <a:r>
              <a:rPr lang="en-US" sz="1599" b="true">
                <a:solidFill>
                  <a:srgbClr val="FFFFFF"/>
                </a:solidFill>
                <a:latin typeface="Montserrat Bold"/>
                <a:ea typeface="Montserrat Bold"/>
                <a:cs typeface="Montserrat Bold"/>
                <a:sym typeface="Montserrat Bold"/>
              </a:rPr>
              <a:t>Jean Arriagada</a:t>
            </a:r>
            <a:r>
              <a:rPr lang="en-US" sz="1599">
                <a:solidFill>
                  <a:srgbClr val="C9D2F0"/>
                </a:solidFill>
                <a:latin typeface="Montserrat"/>
                <a:ea typeface="Montserrat"/>
                <a:cs typeface="Montserrat"/>
                <a:sym typeface="Montserrat"/>
              </a:rPr>
              <a:t>  ·  Administration module</a:t>
            </a:r>
          </a:p>
          <a:p>
            <a:pPr algn="l">
              <a:lnSpc>
                <a:spcPts val="2483"/>
              </a:lnSpc>
            </a:pPr>
            <a:r>
              <a:rPr lang="en-US" sz="1800">
                <a:solidFill>
                  <a:srgbClr val="FFFFFF"/>
                </a:solidFill>
                <a:latin typeface="Montserrat"/>
                <a:ea typeface="Montserrat"/>
                <a:cs typeface="Montserrat"/>
                <a:sym typeface="Montserrat"/>
              </a:rPr>
              <a:t>Building the admin console taught me to see the platform through the eyes of the people who manage it. Clear information and respect for each company's data matter more than extra screens.</a:t>
            </a:r>
          </a:p>
        </p:txBody>
      </p:sp>
      <p:grpSp>
        <p:nvGrpSpPr>
          <p:cNvPr name="Group 12" id="12"/>
          <p:cNvGrpSpPr/>
          <p:nvPr/>
        </p:nvGrpSpPr>
        <p:grpSpPr>
          <a:xfrm rot="0">
            <a:off x="822960" y="7452360"/>
            <a:ext cx="1188720" cy="1188720"/>
            <a:chOff x="0" y="0"/>
            <a:chExt cx="1584960" cy="1584960"/>
          </a:xfrm>
        </p:grpSpPr>
        <p:sp>
          <p:nvSpPr>
            <p:cNvPr name="Freeform 13" id="13" descr="image48.png"/>
            <p:cNvSpPr/>
            <p:nvPr/>
          </p:nvSpPr>
          <p:spPr>
            <a:xfrm flipH="false" flipV="false" rot="0">
              <a:off x="0" y="0"/>
              <a:ext cx="1584960" cy="1584960"/>
            </a:xfrm>
            <a:custGeom>
              <a:avLst/>
              <a:gdLst/>
              <a:ahLst/>
              <a:cxnLst/>
              <a:rect r="r" b="b" t="t" l="l"/>
              <a:pathLst>
                <a:path h="1584960" w="1584960">
                  <a:moveTo>
                    <a:pt x="0" y="0"/>
                  </a:moveTo>
                  <a:lnTo>
                    <a:pt x="1584960" y="0"/>
                  </a:lnTo>
                  <a:lnTo>
                    <a:pt x="1584960" y="1584960"/>
                  </a:lnTo>
                  <a:lnTo>
                    <a:pt x="0" y="1584960"/>
                  </a:lnTo>
                  <a:lnTo>
                    <a:pt x="0" y="0"/>
                  </a:lnTo>
                  <a:close/>
                </a:path>
              </a:pathLst>
            </a:custGeom>
            <a:blipFill>
              <a:blip r:embed="rId3"/>
              <a:stretch>
                <a:fillRect l="0" t="0" r="0" b="0"/>
              </a:stretch>
            </a:blipFill>
          </p:spPr>
        </p:sp>
      </p:grpSp>
      <p:sp>
        <p:nvSpPr>
          <p:cNvPr name="TextBox 14" id="14"/>
          <p:cNvSpPr txBox="true"/>
          <p:nvPr/>
        </p:nvSpPr>
        <p:spPr>
          <a:xfrm rot="0">
            <a:off x="2331720" y="7286625"/>
            <a:ext cx="11521440" cy="2314575"/>
          </a:xfrm>
          <a:prstGeom prst="rect">
            <a:avLst/>
          </a:prstGeom>
        </p:spPr>
        <p:txBody>
          <a:bodyPr anchor="t" rtlCol="false" tIns="0" lIns="0" bIns="0" rIns="0">
            <a:spAutoFit/>
          </a:bodyPr>
          <a:lstStyle/>
          <a:p>
            <a:pPr algn="l">
              <a:lnSpc>
                <a:spcPts val="2207"/>
              </a:lnSpc>
            </a:pPr>
            <a:r>
              <a:rPr lang="en-US" sz="1599" b="true">
                <a:solidFill>
                  <a:srgbClr val="FFFFFF"/>
                </a:solidFill>
                <a:latin typeface="Montserrat Bold"/>
                <a:ea typeface="Montserrat Bold"/>
                <a:cs typeface="Montserrat Bold"/>
                <a:sym typeface="Montserrat Bold"/>
              </a:rPr>
              <a:t>Oscar Bustamante</a:t>
            </a:r>
            <a:r>
              <a:rPr lang="en-US" sz="1599">
                <a:solidFill>
                  <a:srgbClr val="C9D2F0"/>
                </a:solidFill>
                <a:latin typeface="Montserrat"/>
                <a:ea typeface="Montserrat"/>
                <a:cs typeface="Montserrat"/>
                <a:sym typeface="Montserrat"/>
              </a:rPr>
              <a:t>  ·  Subscriptions and payments</a:t>
            </a:r>
          </a:p>
          <a:p>
            <a:pPr algn="l">
              <a:lnSpc>
                <a:spcPts val="2483"/>
              </a:lnSpc>
            </a:pPr>
            <a:r>
              <a:rPr lang="en-US" sz="1800">
                <a:solidFill>
                  <a:srgbClr val="FFFFFF"/>
                </a:solidFill>
                <a:latin typeface="Montserrat"/>
                <a:ea typeface="Montserrat"/>
                <a:cs typeface="Montserrat"/>
                <a:sym typeface="Montserrat"/>
              </a:rPr>
              <a:t>Working on subscriptions and payments showed me that every business rule affects real customers. Thinking about fair warnings and grace periods made me design with the user in mind.</a:t>
            </a:r>
          </a:p>
        </p:txBody>
      </p:sp>
    </p:spTree>
  </p:cSld>
  <p:clrMapOvr>
    <a:masterClrMapping/>
  </p:clrMapOvr>
</p:sld>
</file>

<file path=ppt/slides/slide1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24384000" cy="13716000"/>
          </a:xfrm>
        </p:grpSpPr>
        <p:sp>
          <p:nvSpPr>
            <p:cNvPr name="Freeform 3" id="3" descr="fondo37_55.jpg"/>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lnTo>
                    <a:pt x="0" y="0"/>
                  </a:lnTo>
                  <a:close/>
                </a:path>
              </a:pathLst>
            </a:custGeom>
            <a:blipFill>
              <a:blip r:embed="rId2"/>
              <a:stretch>
                <a:fillRect l="0" t="-666" r="0" b="-666"/>
              </a:stretch>
            </a:blipFill>
          </p:spPr>
        </p:sp>
      </p:grpSp>
      <p:sp>
        <p:nvSpPr>
          <p:cNvPr name="TextBox 4" id="4"/>
          <p:cNvSpPr txBox="true"/>
          <p:nvPr/>
        </p:nvSpPr>
        <p:spPr>
          <a:xfrm rot="0">
            <a:off x="914400" y="1906905"/>
            <a:ext cx="16459200" cy="1933575"/>
          </a:xfrm>
          <a:prstGeom prst="rect">
            <a:avLst/>
          </a:prstGeom>
        </p:spPr>
        <p:txBody>
          <a:bodyPr anchor="t" rtlCol="false" tIns="0" lIns="0" bIns="0" rIns="0">
            <a:spAutoFit/>
          </a:bodyPr>
          <a:lstStyle/>
          <a:p>
            <a:pPr algn="ctr">
              <a:lnSpc>
                <a:spcPts val="12672"/>
              </a:lnSpc>
            </a:pPr>
            <a:r>
              <a:rPr lang="en-US" sz="9600" b="true">
                <a:solidFill>
                  <a:srgbClr val="FFFFFF"/>
                </a:solidFill>
                <a:latin typeface="Montserrat Bold"/>
                <a:ea typeface="Montserrat Bold"/>
                <a:cs typeface="Montserrat Bold"/>
                <a:sym typeface="Montserrat Bold"/>
              </a:rPr>
              <a:t>¿PREGUNTAS?</a:t>
            </a:r>
          </a:p>
        </p:txBody>
      </p:sp>
      <p:sp>
        <p:nvSpPr>
          <p:cNvPr name="TextBox 5" id="5"/>
          <p:cNvSpPr txBox="true"/>
          <p:nvPr/>
        </p:nvSpPr>
        <p:spPr>
          <a:xfrm rot="0">
            <a:off x="914400" y="3903345"/>
            <a:ext cx="16459200" cy="760095"/>
          </a:xfrm>
          <a:prstGeom prst="rect">
            <a:avLst/>
          </a:prstGeom>
        </p:spPr>
        <p:txBody>
          <a:bodyPr anchor="t" rtlCol="false" tIns="0" lIns="0" bIns="0" rIns="0">
            <a:spAutoFit/>
          </a:bodyPr>
          <a:lstStyle/>
          <a:p>
            <a:pPr algn="ctr">
              <a:lnSpc>
                <a:spcPts val="3960"/>
              </a:lnSpc>
            </a:pPr>
            <a:r>
              <a:rPr lang="en-US" sz="3000">
                <a:solidFill>
                  <a:srgbClr val="FFFFFF"/>
                </a:solidFill>
                <a:latin typeface="Montserrat Light"/>
                <a:ea typeface="Montserrat Light"/>
                <a:cs typeface="Montserrat Light"/>
                <a:sym typeface="Montserrat Light"/>
              </a:rPr>
              <a:t>GRACIAS</a:t>
            </a:r>
          </a:p>
        </p:txBody>
      </p:sp>
      <p:grpSp>
        <p:nvGrpSpPr>
          <p:cNvPr name="Group 6" id="6"/>
          <p:cNvGrpSpPr/>
          <p:nvPr/>
        </p:nvGrpSpPr>
        <p:grpSpPr>
          <a:xfrm rot="0">
            <a:off x="2743200" y="5120640"/>
            <a:ext cx="12801600" cy="3246120"/>
            <a:chOff x="0" y="0"/>
            <a:chExt cx="17068800" cy="4328160"/>
          </a:xfrm>
        </p:grpSpPr>
        <p:sp>
          <p:nvSpPr>
            <p:cNvPr name="Freeform 7" id="7"/>
            <p:cNvSpPr/>
            <p:nvPr/>
          </p:nvSpPr>
          <p:spPr>
            <a:xfrm flipH="false" flipV="false" rot="0">
              <a:off x="0" y="0"/>
              <a:ext cx="17068800" cy="4328160"/>
            </a:xfrm>
            <a:custGeom>
              <a:avLst/>
              <a:gdLst/>
              <a:ahLst/>
              <a:cxnLst/>
              <a:rect r="r" b="b" t="t" l="l"/>
              <a:pathLst>
                <a:path h="4328160" w="17068800">
                  <a:moveTo>
                    <a:pt x="0" y="519430"/>
                  </a:moveTo>
                  <a:cubicBezTo>
                    <a:pt x="0" y="232537"/>
                    <a:pt x="232537" y="0"/>
                    <a:pt x="519430" y="0"/>
                  </a:cubicBezTo>
                  <a:lnTo>
                    <a:pt x="16549370" y="0"/>
                  </a:lnTo>
                  <a:cubicBezTo>
                    <a:pt x="16836262" y="0"/>
                    <a:pt x="17068800" y="232537"/>
                    <a:pt x="17068800" y="519430"/>
                  </a:cubicBezTo>
                  <a:lnTo>
                    <a:pt x="17068800" y="3808730"/>
                  </a:lnTo>
                  <a:cubicBezTo>
                    <a:pt x="17068800" y="4095623"/>
                    <a:pt x="16836262" y="4328160"/>
                    <a:pt x="16549370" y="4328160"/>
                  </a:cubicBezTo>
                  <a:lnTo>
                    <a:pt x="519430" y="4328160"/>
                  </a:lnTo>
                  <a:cubicBezTo>
                    <a:pt x="232537" y="4328160"/>
                    <a:pt x="0" y="4095623"/>
                    <a:pt x="0" y="3808730"/>
                  </a:cubicBezTo>
                  <a:close/>
                </a:path>
              </a:pathLst>
            </a:custGeom>
            <a:solidFill>
              <a:srgbClr val="15193A"/>
            </a:solidFill>
          </p:spPr>
        </p:sp>
      </p:grpSp>
      <p:grpSp>
        <p:nvGrpSpPr>
          <p:cNvPr name="Group 8" id="8"/>
          <p:cNvGrpSpPr/>
          <p:nvPr/>
        </p:nvGrpSpPr>
        <p:grpSpPr>
          <a:xfrm rot="0">
            <a:off x="3200400" y="5607910"/>
            <a:ext cx="11887200" cy="2271589"/>
            <a:chOff x="0" y="0"/>
            <a:chExt cx="15849600" cy="3028785"/>
          </a:xfrm>
        </p:grpSpPr>
        <p:sp>
          <p:nvSpPr>
            <p:cNvPr name="Freeform 9" id="9"/>
            <p:cNvSpPr/>
            <p:nvPr/>
          </p:nvSpPr>
          <p:spPr>
            <a:xfrm flipH="false" flipV="false" rot="0">
              <a:off x="0" y="0"/>
              <a:ext cx="15849600" cy="3028779"/>
            </a:xfrm>
            <a:custGeom>
              <a:avLst/>
              <a:gdLst/>
              <a:ahLst/>
              <a:cxnLst/>
              <a:rect r="r" b="b" t="t" l="l"/>
              <a:pathLst>
                <a:path h="3028779" w="15849600">
                  <a:moveTo>
                    <a:pt x="0" y="0"/>
                  </a:moveTo>
                  <a:lnTo>
                    <a:pt x="15849600" y="0"/>
                  </a:lnTo>
                  <a:lnTo>
                    <a:pt x="15849600" y="3028779"/>
                  </a:lnTo>
                  <a:lnTo>
                    <a:pt x="0" y="3028779"/>
                  </a:lnTo>
                  <a:close/>
                </a:path>
              </a:pathLst>
            </a:custGeom>
            <a:blipFill>
              <a:blip r:embed="rId3">
                <a:alphaModFix amt="0"/>
              </a:blip>
              <a:stretch>
                <a:fillRect l="0" t="-51965" r="0" b="-51965"/>
              </a:stretch>
            </a:blipFill>
          </p:spPr>
        </p:sp>
        <p:sp>
          <p:nvSpPr>
            <p:cNvPr name="TextBox 10" id="10"/>
            <p:cNvSpPr txBox="true"/>
            <p:nvPr/>
          </p:nvSpPr>
          <p:spPr>
            <a:xfrm>
              <a:off x="0" y="-38100"/>
              <a:ext cx="15849600" cy="3066885"/>
            </a:xfrm>
            <a:prstGeom prst="rect">
              <a:avLst/>
            </a:prstGeom>
          </p:spPr>
          <p:txBody>
            <a:bodyPr anchor="ctr" rtlCol="false" tIns="0" lIns="0" bIns="0" rIns="0"/>
            <a:lstStyle/>
            <a:p>
              <a:pPr algn="ctr">
                <a:lnSpc>
                  <a:spcPts val="2592"/>
                </a:lnSpc>
              </a:pPr>
              <a:r>
                <a:rPr lang="en-US" sz="1800" b="true">
                  <a:solidFill>
                    <a:srgbClr val="FFFFFF"/>
                  </a:solidFill>
                  <a:latin typeface="Montserrat Bold"/>
                  <a:ea typeface="Montserrat Bold"/>
                  <a:cs typeface="Montserrat Bold"/>
                  <a:sym typeface="Montserrat Bold"/>
                </a:rPr>
                <a:t>Repositorio</a:t>
              </a:r>
            </a:p>
            <a:p>
              <a:pPr algn="ctr">
                <a:lnSpc>
                  <a:spcPts val="2735"/>
                </a:lnSpc>
              </a:pPr>
              <a:r>
                <a:rPr lang="en-US" sz="1899">
                  <a:solidFill>
                    <a:srgbClr val="FFFFFF"/>
                  </a:solidFill>
                  <a:latin typeface="Montserrat"/>
                  <a:ea typeface="Montserrat"/>
                  <a:cs typeface="Montserrat"/>
                  <a:sym typeface="Montserrat"/>
                </a:rPr>
                <a:t>github.com/Dntex2/proyecto-capstone-acredittia-administracion</a:t>
              </a:r>
            </a:p>
            <a:p>
              <a:pPr algn="ctr">
                <a:lnSpc>
                  <a:spcPts val="2592"/>
                </a:lnSpc>
              </a:pPr>
              <a:r>
                <a:rPr lang="en-US" sz="1800" b="true">
                  <a:solidFill>
                    <a:srgbClr val="FFFFFF"/>
                  </a:solidFill>
                  <a:latin typeface="Montserrat Bold"/>
                  <a:ea typeface="Montserrat Bold"/>
                  <a:cs typeface="Montserrat Bold"/>
                  <a:sym typeface="Montserrat Bold"/>
                </a:rPr>
                <a:t>Contacto</a:t>
              </a:r>
            </a:p>
            <a:p>
              <a:pPr algn="ctr">
                <a:lnSpc>
                  <a:spcPts val="2735"/>
                </a:lnSpc>
              </a:pPr>
              <a:r>
                <a:rPr lang="en-US" sz="1899">
                  <a:solidFill>
                    <a:srgbClr val="FFFFFF"/>
                  </a:solidFill>
                  <a:latin typeface="Montserrat"/>
                  <a:ea typeface="Montserrat"/>
                  <a:cs typeface="Montserrat"/>
                  <a:sym typeface="Montserrat"/>
                </a:rPr>
                <a:t>David Martinez · da.martinezr@duocuc.cl</a:t>
              </a:r>
            </a:p>
            <a:p>
              <a:pPr algn="ctr">
                <a:lnSpc>
                  <a:spcPts val="2735"/>
                </a:lnSpc>
              </a:pPr>
              <a:r>
                <a:rPr lang="en-US" sz="1899">
                  <a:solidFill>
                    <a:srgbClr val="FFFFFF"/>
                  </a:solidFill>
                  <a:latin typeface="Montserrat"/>
                  <a:ea typeface="Montserrat"/>
                  <a:cs typeface="Montserrat"/>
                  <a:sym typeface="Montserrat"/>
                </a:rPr>
                <a:t>Jean Arriagada · jea.arriagada@duocuc.cl</a:t>
              </a:r>
            </a:p>
            <a:p>
              <a:pPr algn="ctr">
                <a:lnSpc>
                  <a:spcPts val="2735"/>
                </a:lnSpc>
              </a:pPr>
              <a:r>
                <a:rPr lang="en-US" sz="1899">
                  <a:solidFill>
                    <a:srgbClr val="FFFFFF"/>
                  </a:solidFill>
                  <a:latin typeface="Montserrat"/>
                  <a:ea typeface="Montserrat"/>
                  <a:cs typeface="Montserrat"/>
                  <a:sym typeface="Montserrat"/>
                </a:rPr>
                <a:t>Oscar Bustamante · Osca.Bustamante@duocuc.cl</a:t>
              </a:r>
            </a:p>
          </p:txBody>
        </p:sp>
      </p:gr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DAHYCJDrb6o</dc:identifier>
  <dcterms:modified xsi:type="dcterms:W3CDTF">2011-08-01T06:04:30Z</dcterms:modified>
  <cp:revision>1</cp:revision>
  <dc:title>Presentacion Fase 2 Acredittia.pptx</dc:title>
</cp:coreProperties>
</file>